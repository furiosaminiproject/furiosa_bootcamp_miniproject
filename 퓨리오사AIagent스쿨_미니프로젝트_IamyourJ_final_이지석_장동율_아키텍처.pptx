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28"/>
  </p:notesMasterIdLst>
  <p:sldIdLst>
    <p:sldId id="256" r:id="rId2"/>
    <p:sldId id="269" r:id="rId3"/>
    <p:sldId id="257" r:id="rId4"/>
    <p:sldId id="260" r:id="rId5"/>
    <p:sldId id="263" r:id="rId6"/>
    <p:sldId id="270" r:id="rId7"/>
    <p:sldId id="265" r:id="rId8"/>
    <p:sldId id="273" r:id="rId9"/>
    <p:sldId id="277" r:id="rId10"/>
    <p:sldId id="287" r:id="rId11"/>
    <p:sldId id="295" r:id="rId12"/>
    <p:sldId id="294" r:id="rId13"/>
    <p:sldId id="282" r:id="rId14"/>
    <p:sldId id="289" r:id="rId15"/>
    <p:sldId id="290" r:id="rId16"/>
    <p:sldId id="275" r:id="rId17"/>
    <p:sldId id="291" r:id="rId18"/>
    <p:sldId id="292" r:id="rId19"/>
    <p:sldId id="279" r:id="rId20"/>
    <p:sldId id="278" r:id="rId21"/>
    <p:sldId id="280" r:id="rId22"/>
    <p:sldId id="296" r:id="rId23"/>
    <p:sldId id="297" r:id="rId24"/>
    <p:sldId id="298" r:id="rId25"/>
    <p:sldId id="300" r:id="rId26"/>
    <p:sldId id="301" r:id="rId27"/>
  </p:sldIdLst>
  <p:sldSz cx="12192000" cy="6858000"/>
  <p:notesSz cx="6858000" cy="9144000"/>
  <p:embeddedFontLst>
    <p:embeddedFont>
      <p:font typeface="HY견고딕" panose="02030600000101010101" pitchFamily="18" charset="-127"/>
      <p:regular r:id="rId29"/>
    </p:embeddedFont>
    <p:embeddedFont>
      <p:font typeface="맑은 고딕" panose="020B0503020000020004" pitchFamily="50" charset="-127"/>
      <p:regular r:id="rId30"/>
      <p:bold r:id="rId31"/>
    </p:embeddedFont>
    <p:embeddedFont>
      <p:font typeface="ADLaM Display" panose="02010000000000000000" pitchFamily="2" charset="0"/>
      <p:regular r:id="rId32"/>
    </p:embeddedFont>
    <p:embeddedFont>
      <p:font typeface="Bauhaus 93" panose="04030905020B02020C02" pitchFamily="82" charset="0"/>
      <p:regular r:id="rId33"/>
    </p:embeddedFont>
    <p:embeddedFont>
      <p:font typeface="Cambria Math" panose="02040503050406030204" pitchFamily="18" charset="0"/>
      <p:regular r:id="rId34"/>
    </p:embeddedFont>
    <p:embeddedFont>
      <p:font typeface="Open Sans" panose="020B0606030504020204" pitchFamily="34" charset="0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3097E0D-41E1-4BC5-86B9-EB7C636EF6A4}">
          <p14:sldIdLst>
            <p14:sldId id="256"/>
            <p14:sldId id="269"/>
            <p14:sldId id="257"/>
            <p14:sldId id="260"/>
            <p14:sldId id="263"/>
            <p14:sldId id="270"/>
            <p14:sldId id="265"/>
            <p14:sldId id="273"/>
            <p14:sldId id="277"/>
            <p14:sldId id="287"/>
            <p14:sldId id="295"/>
            <p14:sldId id="294"/>
            <p14:sldId id="282"/>
            <p14:sldId id="289"/>
            <p14:sldId id="290"/>
            <p14:sldId id="275"/>
            <p14:sldId id="291"/>
            <p14:sldId id="292"/>
            <p14:sldId id="279"/>
            <p14:sldId id="278"/>
          </p14:sldIdLst>
        </p14:section>
        <p14:section name="Appendix" id="{277C2D98-1DEE-4BD0-9CF6-A62114A1FC50}">
          <p14:sldIdLst>
            <p14:sldId id="280"/>
            <p14:sldId id="296"/>
            <p14:sldId id="297"/>
            <p14:sldId id="298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5B4A"/>
    <a:srgbClr val="DDF8F2"/>
    <a:srgbClr val="B6F0E4"/>
    <a:srgbClr val="26A688"/>
    <a:srgbClr val="0000FF"/>
    <a:srgbClr val="FF0000"/>
    <a:srgbClr val="A2ECDC"/>
    <a:srgbClr val="333F7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22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A0638-F96D-4C55-8462-7CE2977104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B51FA-7463-4620-8B56-7877D21A1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72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B51FA-7463-4620-8B56-7877D21A139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020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F8813-D3AB-FA0B-1A89-5235001C8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7CEA0D-2EC6-CBB5-CF1E-7B3DF79C0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DA720C-95B7-4CF1-E682-B0481224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9EF01-2F1F-4ABA-BABE-7C565B389FC8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006EED-0B9F-AAFA-F38E-F54CCF1B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69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289B0-FA40-F0AC-A3A8-D8E8C4041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660BFB-F983-ECDF-C1FE-309347523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2780D0-FAD1-6E4E-FE34-9CB93DD5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6B410-27F1-458A-BA09-14EEE976B0F4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2AEBE6-D994-4905-3741-4F671E29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DC4630-C1C8-5EA3-4595-5A7A2BCF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fld id="{3D78870C-833C-4B8E-BE64-E1698E29E2B8}" type="slidenum">
              <a:rPr lang="ko-KR" altLang="en-US" smtClean="0"/>
              <a:pPr/>
              <a:t>‹#›</a:t>
            </a:fld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2224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7CC18-845F-F11C-9870-2126C7C6C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FF2C66-1D64-B425-5EA2-1C1FDFD88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7E3ED4-0A1C-A520-E26A-A2EB7DEB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60-550B-4323-94F5-8562D26A27AB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E09334-A87F-C1AB-E163-A812C0BA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5218DB-DB7A-C5D9-2942-21BB92B6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68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305C5-8E5F-84A8-5368-45CA47FF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F12309-0F53-2317-DCD1-234DA1645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B3723D-8BB3-52A6-8632-FBE12D30C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48441D-380C-A5EA-E574-569276BE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F33FF-CE8C-4873-B616-B4F75BDBD746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5D73A4-3E7B-C3D6-C6F8-A064F5A48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E293A7-77F5-AF02-26EC-173945B5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0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55B39-7A27-1D0D-2A24-3A522852E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558D8F-9B10-D7A2-CA62-14AA40306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B5C3E7-6BC1-6202-9D00-812611E73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54B5D8-F6E9-5BAE-BB87-C9137E3E7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035C46-5D94-E649-71F9-81675FF37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4A31CC-333C-8CA0-7D9F-BA7B6F2A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51E-3A4C-490E-85AA-6C4D9F06A19D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37A7D-EC01-0CD6-A0C2-9C4C5E81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291DEA-71C0-E862-73F8-6E0C1A4C4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361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08037-5717-AF02-2D82-B3610822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59AAFE-DEC8-A37D-1E67-28A9A41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748-5C61-4C6E-973F-D400DFF4C84A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E40A96-C07F-8B15-C852-232EECF3C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22A48F-E463-3A68-8889-BE10E4A7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03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00F9E5-2784-9952-D71E-C15489E2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5AFF-9E8E-4FB5-8E53-0D5E86579CC5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FB9414-87AC-7867-D9EE-1226021D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8AAD62-BA80-D65A-2E90-826894DA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97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A0047-CF14-4A36-4513-B89533615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80CE1A-689A-4922-1722-62AB75C5E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0EF902-ECF1-CBD8-04B1-63535A2FC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FC0655-F15D-8D17-091E-6174048B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579D-684B-4A90-8EE6-4DED10FD9EB1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A5C550-F5C7-C586-CE92-C09D0249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17E8E8-6C52-4E48-5A73-B7226FD9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041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AD439-60CC-B88B-71C2-2D71FFE8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A6CC64-9E9E-F768-CEA4-103DA3DAB50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E326A7-FC4D-0889-6905-7F4489D42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9E5E18-4EBE-40A4-2568-31418F681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4BAD-654B-41E6-A513-9C4824EC2A7C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046D00-D2AC-4977-E246-7C3F7EEE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5EDEBF-7995-3D02-FA90-753F5EF6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17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96E36-DF6D-90F0-D724-8F6C7CC4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91B868-FB12-0226-99D3-632A7472F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E7F18-920D-77EF-4A73-243C75A3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2FA3F-3708-402D-8D50-942164143D38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BAEC2A-9F0C-BCC2-5E08-394E01598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30145A-93AA-A906-0A11-52E0C2B4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50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CFD30B-6789-6116-B570-F93DD31AD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D2A89C-C1FF-0067-F04E-1B678B496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1D5B87-4EA1-0EC1-BA28-F0100B23B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52D67-4417-4E72-8176-95414A03B943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644650-A8B2-2D5E-ECD1-ACFC5ABA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D9EC0D-A3A6-0CB5-C1DE-4989ED30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9233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D970C0-901F-5F85-73E7-8BF68A44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668F71-7CC4-2C21-65A1-78D97C122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195634-34DB-7E3D-0C93-2A2468796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CFFEF-3CC1-4F94-B70F-B5FD1152F6BD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0FD2BC-A13B-DA88-7B2B-1B4A6EED2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554604-7354-0FB8-5028-5B5066D98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18256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8870C-833C-4B8E-BE64-E1698E29E2B8}" type="slidenum">
              <a:rPr lang="ko-KR" altLang="en-US" smtClean="0"/>
              <a:pPr/>
              <a:t>‹#›</a:t>
            </a:fld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00626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8210F2B-5E9A-928E-FA29-BF1EB83BC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D174B2-75F1-81BF-4A63-BA10822DA7F5}"/>
              </a:ext>
            </a:extLst>
          </p:cNvPr>
          <p:cNvSpPr txBox="1"/>
          <p:nvPr/>
        </p:nvSpPr>
        <p:spPr>
          <a:xfrm>
            <a:off x="1392221" y="3922816"/>
            <a:ext cx="54954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0" b="1" dirty="0">
                <a:solidFill>
                  <a:srgbClr val="333F70"/>
                </a:solidFill>
                <a:latin typeface="Bauhaus 93" panose="04030905020B02020C02" pitchFamily="82" charset="0"/>
                <a:ea typeface="STHupo" panose="020B0503020204020204" pitchFamily="2" charset="-122"/>
                <a:cs typeface="ADLaM Display" panose="020F0502020204030204" pitchFamily="2" charset="0"/>
              </a:rPr>
              <a:t>I am  your  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D3C683-F468-4508-47A1-3A8A99F69FB8}"/>
              </a:ext>
            </a:extLst>
          </p:cNvPr>
          <p:cNvSpPr txBox="1"/>
          <p:nvPr/>
        </p:nvSpPr>
        <p:spPr>
          <a:xfrm>
            <a:off x="1959572" y="5211619"/>
            <a:ext cx="492810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ko-KR" b="1" dirty="0">
                <a:solidFill>
                  <a:srgbClr val="333F70"/>
                </a:solidFill>
                <a:effectLst/>
              </a:rPr>
              <a:t>여행 계획 자동화 및 관리</a:t>
            </a:r>
            <a:r>
              <a:rPr lang="en-US" altLang="ko-KR" b="1" dirty="0">
                <a:solidFill>
                  <a:srgbClr val="333F70"/>
                </a:solidFill>
                <a:effectLst/>
              </a:rPr>
              <a:t> </a:t>
            </a:r>
            <a:r>
              <a:rPr lang="ko-KR" altLang="en-US" b="1" dirty="0">
                <a:solidFill>
                  <a:srgbClr val="333F70"/>
                </a:solidFill>
                <a:effectLst/>
              </a:rPr>
              <a:t>서비스</a:t>
            </a:r>
            <a:endParaRPr lang="ko-KR" altLang="ko-KR" b="1" dirty="0">
              <a:solidFill>
                <a:srgbClr val="333F7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B70CF3-D9F3-ED75-7645-4491A3850DF0}"/>
              </a:ext>
            </a:extLst>
          </p:cNvPr>
          <p:cNvSpPr txBox="1"/>
          <p:nvPr/>
        </p:nvSpPr>
        <p:spPr>
          <a:xfrm>
            <a:off x="166255" y="73891"/>
            <a:ext cx="4230254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err="1">
                <a:solidFill>
                  <a:srgbClr val="333F70"/>
                </a:solidFill>
                <a:effectLst/>
              </a:rPr>
              <a:t>퓨리오사</a:t>
            </a:r>
            <a:r>
              <a:rPr lang="ko-KR" altLang="en-US" sz="1600" b="1" dirty="0">
                <a:solidFill>
                  <a:srgbClr val="333F70"/>
                </a:solidFill>
                <a:effectLst/>
              </a:rPr>
              <a:t> </a:t>
            </a:r>
            <a:r>
              <a:rPr lang="en-US" altLang="ko-KR" sz="1600" b="1" dirty="0">
                <a:solidFill>
                  <a:srgbClr val="333F70"/>
                </a:solidFill>
                <a:effectLst/>
              </a:rPr>
              <a:t>AI </a:t>
            </a:r>
            <a:r>
              <a:rPr lang="ko-KR" altLang="en-US" sz="1600" b="1" dirty="0">
                <a:solidFill>
                  <a:srgbClr val="333F70"/>
                </a:solidFill>
                <a:effectLst/>
              </a:rPr>
              <a:t>에이전트 스쿨 미니 프로젝트</a:t>
            </a:r>
            <a:endParaRPr lang="ko-KR" altLang="ko-KR" sz="1600" b="1" dirty="0">
              <a:solidFill>
                <a:srgbClr val="333F7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F7DB4-A080-5A00-554C-38174E6C10AE}"/>
              </a:ext>
            </a:extLst>
          </p:cNvPr>
          <p:cNvSpPr txBox="1"/>
          <p:nvPr/>
        </p:nvSpPr>
        <p:spPr>
          <a:xfrm>
            <a:off x="1959572" y="5678565"/>
            <a:ext cx="492810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200" b="1" dirty="0" err="1">
                <a:solidFill>
                  <a:srgbClr val="333F70"/>
                </a:solidFill>
                <a:effectLst/>
              </a:rPr>
              <a:t>이지석</a:t>
            </a:r>
            <a:r>
              <a:rPr lang="en-US" altLang="ko-KR" sz="1200" dirty="0">
                <a:solidFill>
                  <a:srgbClr val="333F70"/>
                </a:solidFill>
                <a:effectLst/>
              </a:rPr>
              <a:t>, </a:t>
            </a:r>
            <a:r>
              <a:rPr lang="ko-KR" altLang="en-US" sz="1200" dirty="0" err="1" b="1">
                <a:solidFill>
                  <a:srgbClr val="333F70"/>
                </a:solidFill>
                <a:effectLst/>
              </a:rPr>
              <a:t>장동율</a:t>
            </a:r>
            <a:endParaRPr lang="ko-KR" altLang="ko-KR" sz="1200" dirty="0">
              <a:solidFill>
                <a:srgbClr val="333F7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174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7F0D38-CD4B-97F7-1AB5-299909EE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pPr/>
              <a:t>1</a:t>
            </a:fld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6BAB4-97EE-2CB0-4DE8-49B56FACEC89}"/>
              </a:ext>
            </a:extLst>
          </p:cNvPr>
          <p:cNvSpPr txBox="1"/>
          <p:nvPr/>
        </p:nvSpPr>
        <p:spPr>
          <a:xfrm>
            <a:off x="321231" y="208112"/>
            <a:ext cx="2743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Contents</a:t>
            </a:r>
            <a:endParaRPr lang="en-US" altLang="ko-KR" sz="4000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1DA3C-4614-3C45-D2EE-663939C556ED}"/>
              </a:ext>
            </a:extLst>
          </p:cNvPr>
          <p:cNvSpPr txBox="1"/>
          <p:nvPr/>
        </p:nvSpPr>
        <p:spPr>
          <a:xfrm>
            <a:off x="286327" y="1947660"/>
            <a:ext cx="34913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26A688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01</a:t>
            </a:r>
          </a:p>
          <a:p>
            <a:pPr algn="ctr"/>
            <a:r>
              <a:rPr lang="en-US" altLang="ko-KR" sz="2800" b="1" dirty="0">
                <a:solidFill>
                  <a:srgbClr val="155B4A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Introduction</a:t>
            </a:r>
            <a:endParaRPr lang="en-US" altLang="ko-KR" sz="2800" b="1" dirty="0">
              <a:solidFill>
                <a:srgbClr val="155B4A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B32B5-6BCB-65D1-DDFB-F8AC98706C69}"/>
              </a:ext>
            </a:extLst>
          </p:cNvPr>
          <p:cNvSpPr txBox="1"/>
          <p:nvPr/>
        </p:nvSpPr>
        <p:spPr>
          <a:xfrm>
            <a:off x="4598685" y="1947660"/>
            <a:ext cx="2994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26A688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02</a:t>
            </a:r>
          </a:p>
          <a:p>
            <a:pPr algn="ctr"/>
            <a:r>
              <a:rPr lang="en-US" altLang="ko-KR" sz="2800" b="1" dirty="0">
                <a:solidFill>
                  <a:srgbClr val="155B4A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Project</a:t>
            </a:r>
            <a:endParaRPr lang="en-US" altLang="ko-KR" sz="2800" b="1" dirty="0">
              <a:solidFill>
                <a:srgbClr val="155B4A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0402FA-C3A2-23F2-DB2B-E4C6516A0FB5}"/>
              </a:ext>
            </a:extLst>
          </p:cNvPr>
          <p:cNvSpPr txBox="1"/>
          <p:nvPr/>
        </p:nvSpPr>
        <p:spPr>
          <a:xfrm>
            <a:off x="8845747" y="1947660"/>
            <a:ext cx="26285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26A688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03</a:t>
            </a:r>
          </a:p>
          <a:p>
            <a:pPr algn="ctr"/>
            <a:r>
              <a:rPr lang="en-US" altLang="ko-KR" sz="2800" b="1" dirty="0">
                <a:solidFill>
                  <a:srgbClr val="155B4A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Conclusion</a:t>
            </a:r>
            <a:endParaRPr lang="en-US" altLang="ko-KR" sz="2800" b="1" dirty="0">
              <a:solidFill>
                <a:srgbClr val="155B4A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B33CD9-D6F9-C159-4ACD-0CBAC2985171}"/>
              </a:ext>
            </a:extLst>
          </p:cNvPr>
          <p:cNvSpPr txBox="1"/>
          <p:nvPr/>
        </p:nvSpPr>
        <p:spPr>
          <a:xfrm>
            <a:off x="4378034" y="3380773"/>
            <a:ext cx="3435930" cy="234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Architecture overview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FrontEnd</a:t>
            </a:r>
            <a:endParaRPr lang="en-US" altLang="ko-KR" sz="2000" b="1" dirty="0">
              <a:latin typeface="+mj-lt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DataBase</a:t>
            </a:r>
            <a:endParaRPr lang="en-US" altLang="ko-KR" sz="2000" b="1" dirty="0">
              <a:latin typeface="+mj-lt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BackEnd</a:t>
            </a:r>
            <a:endParaRPr lang="en-US" altLang="ko-KR" sz="2000" b="1" dirty="0">
              <a:latin typeface="+mj-lt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CI/CD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D9A0FE-F994-C6BB-E967-38FA388D938A}"/>
              </a:ext>
            </a:extLst>
          </p:cNvPr>
          <p:cNvSpPr txBox="1"/>
          <p:nvPr/>
        </p:nvSpPr>
        <p:spPr>
          <a:xfrm>
            <a:off x="8543636" y="3380773"/>
            <a:ext cx="3232727" cy="966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Model</a:t>
            </a: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performance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Future work</a:t>
            </a:r>
            <a:endParaRPr lang="en-US" altLang="ko-KR"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B94356-5C0E-7C96-CFA9-A4ADDC0A1D5D}"/>
              </a:ext>
            </a:extLst>
          </p:cNvPr>
          <p:cNvSpPr txBox="1"/>
          <p:nvPr/>
        </p:nvSpPr>
        <p:spPr>
          <a:xfrm>
            <a:off x="693751" y="3380773"/>
            <a:ext cx="267649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맑은 고딕" panose="020B0503020000020004" pitchFamily="50" charset="-127"/>
                <a:cs typeface="Open Sans" panose="020B0606030504020204" pitchFamily="34" charset="0"/>
              </a:rPr>
              <a:t>서비스 개발 배경</a:t>
            </a:r>
            <a:endParaRPr lang="en-US" altLang="ko-KR" sz="2000" b="1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4E14E2B-BEDA-BEB3-D13B-88609F45A180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857CDDD-3DFE-C35B-8F0D-64FE8651F9D0}"/>
              </a:ext>
            </a:extLst>
          </p:cNvPr>
          <p:cNvCxnSpPr>
            <a:cxnSpLocks/>
          </p:cNvCxnSpPr>
          <p:nvPr/>
        </p:nvCxnSpPr>
        <p:spPr>
          <a:xfrm>
            <a:off x="4064000" y="2011849"/>
            <a:ext cx="0" cy="825727"/>
          </a:xfrm>
          <a:prstGeom prst="line">
            <a:avLst/>
          </a:prstGeom>
          <a:ln>
            <a:solidFill>
              <a:srgbClr val="26A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E11A777-4C83-AD04-3327-E286E8AC2255}"/>
              </a:ext>
            </a:extLst>
          </p:cNvPr>
          <p:cNvCxnSpPr>
            <a:cxnSpLocks/>
          </p:cNvCxnSpPr>
          <p:nvPr/>
        </p:nvCxnSpPr>
        <p:spPr>
          <a:xfrm>
            <a:off x="8128000" y="2011849"/>
            <a:ext cx="0" cy="825727"/>
          </a:xfrm>
          <a:prstGeom prst="line">
            <a:avLst/>
          </a:prstGeom>
          <a:ln>
            <a:solidFill>
              <a:srgbClr val="26A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86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59780F9-E79A-85A8-7B37-047E94B3E939}"/>
              </a:ext>
            </a:extLst>
          </p:cNvPr>
          <p:cNvSpPr/>
          <p:nvPr/>
        </p:nvSpPr>
        <p:spPr>
          <a:xfrm>
            <a:off x="9133147" y="1124956"/>
            <a:ext cx="2458488" cy="4009020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  <a:cs typeface="Open Sans" panose="020B060603050402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D9781B4-B6B6-D319-9F35-0F2D56E8492E}"/>
              </a:ext>
            </a:extLst>
          </p:cNvPr>
          <p:cNvSpPr/>
          <p:nvPr/>
        </p:nvSpPr>
        <p:spPr>
          <a:xfrm>
            <a:off x="5923512" y="1124957"/>
            <a:ext cx="2458488" cy="4009019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8729F-8B78-9555-DF3F-A1DB04F91D96}"/>
              </a:ext>
            </a:extLst>
          </p:cNvPr>
          <p:cNvSpPr txBox="1"/>
          <p:nvPr/>
        </p:nvSpPr>
        <p:spPr>
          <a:xfrm>
            <a:off x="5946937" y="256560"/>
            <a:ext cx="549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333F70"/>
                </a:solidFill>
                <a:latin typeface="+mj-ea"/>
                <a:ea typeface="+mj-ea"/>
                <a:cs typeface="Open Sans" panose="020B0606030504020204" pitchFamily="34" charset="0"/>
              </a:rPr>
              <a:t>여행 준비의 고질적 문제</a:t>
            </a:r>
            <a:endParaRPr lang="en-US" altLang="ko-KR" sz="3600" b="1" dirty="0">
              <a:solidFill>
                <a:srgbClr val="333F70"/>
              </a:solidFill>
              <a:latin typeface="+mj-ea"/>
              <a:ea typeface="+mj-ea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23A4D9-895E-821F-D372-6A20C0975F11}"/>
              </a:ext>
            </a:extLst>
          </p:cNvPr>
          <p:cNvSpPr txBox="1"/>
          <p:nvPr/>
        </p:nvSpPr>
        <p:spPr>
          <a:xfrm>
            <a:off x="6360160" y="3136191"/>
            <a:ext cx="1585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정보 과잉</a:t>
            </a:r>
            <a:endParaRPr lang="en-US" altLang="ko-KR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buNone/>
            </a:pP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선택의 피로</a:t>
            </a:r>
            <a:endParaRPr lang="ko-KR" altLang="ko-KR" b="1" dirty="0">
              <a:solidFill>
                <a:srgbClr val="333F70"/>
              </a:solidFill>
              <a:latin typeface="+mj-lt"/>
              <a:cs typeface="Open Sans" panose="020B0606030504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7A5C84-096A-8BBE-5814-51D44BD98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756" y="1027943"/>
            <a:ext cx="2160000" cy="216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51FF87-B5FB-4C6B-BEE1-BA33D52E3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391" y="1027943"/>
            <a:ext cx="2160000" cy="2160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C6C73FF-CDC3-D89F-E246-191D2600E8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756" y="5306584"/>
            <a:ext cx="1208983" cy="12089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A39CEFB-52F5-C54C-09ED-A2C873F4F70A}"/>
              </a:ext>
            </a:extLst>
          </p:cNvPr>
          <p:cNvSpPr txBox="1"/>
          <p:nvPr/>
        </p:nvSpPr>
        <p:spPr>
          <a:xfrm>
            <a:off x="9390841" y="3274690"/>
            <a:ext cx="194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맥락 이해 부족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9743D5-80F7-4BC0-A9CF-0E711BEA048B}"/>
              </a:ext>
            </a:extLst>
          </p:cNvPr>
          <p:cNvSpPr txBox="1"/>
          <p:nvPr/>
        </p:nvSpPr>
        <p:spPr>
          <a:xfrm>
            <a:off x="7585407" y="5779242"/>
            <a:ext cx="3748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핵심 정보</a:t>
            </a:r>
            <a:r>
              <a:rPr lang="ko-KR" altLang="en-US" sz="1600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를</a:t>
            </a:r>
            <a:r>
              <a:rPr lang="ko-KR" altLang="ko-KR" sz="1600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 요약하고 개인화된 제안을 </a:t>
            </a:r>
            <a:endParaRPr lang="en-US" altLang="ko-KR" sz="1600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None/>
            </a:pPr>
            <a:r>
              <a:rPr lang="ko-KR" altLang="ko-KR" sz="1600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자동 생성하여 의사결정 비용을 낮</a:t>
            </a:r>
            <a:r>
              <a:rPr lang="ko-KR" altLang="en-US" sz="1600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춤</a:t>
            </a:r>
            <a:endParaRPr lang="ko-KR" altLang="ko-KR" sz="1600" dirty="0">
              <a:solidFill>
                <a:srgbClr val="333F70"/>
              </a:solidFill>
              <a:latin typeface="+mj-lt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FFFE6F-7BB4-4AA8-3B8C-45D8B703F326}"/>
              </a:ext>
            </a:extLst>
          </p:cNvPr>
          <p:cNvSpPr txBox="1"/>
          <p:nvPr/>
        </p:nvSpPr>
        <p:spPr>
          <a:xfrm>
            <a:off x="6084614" y="3965043"/>
            <a:ext cx="2136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매일 쏟아지는 </a:t>
            </a:r>
            <a:endParaRPr lang="en-US" altLang="ko-KR" sz="1200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None/>
            </a:pP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수천 건의 </a:t>
            </a:r>
            <a:r>
              <a:rPr lang="ko-KR" altLang="en-US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관련 정보</a:t>
            </a:r>
            <a:r>
              <a:rPr lang="en-US" altLang="ko-KR" sz="1200" b="1" dirty="0">
                <a:solidFill>
                  <a:srgbClr val="333F7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buNone/>
            </a:pPr>
            <a:endParaRPr lang="ko-KR" altLang="ko-KR" sz="400" b="1" dirty="0">
              <a:solidFill>
                <a:srgbClr val="333F70"/>
              </a:solidFill>
              <a:latin typeface="+mj-lt"/>
              <a:cs typeface="Open Sans" panose="020B0606030504020204" pitchFamily="34" charset="0"/>
            </a:endParaRPr>
          </a:p>
          <a:p>
            <a:pPr>
              <a:buNone/>
            </a:pP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복합</a:t>
            </a:r>
            <a:r>
              <a:rPr lang="ko-KR" altLang="en-US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적인</a:t>
            </a: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 변수로 </a:t>
            </a:r>
            <a:endParaRPr lang="en-US" altLang="ko-KR" sz="1200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None/>
            </a:pP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결정을 내리기 </a:t>
            </a:r>
            <a:r>
              <a:rPr lang="ko-KR" altLang="en-US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어려움</a:t>
            </a: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10C039-DCD0-E5AB-6D4E-B946C5C1D778}"/>
              </a:ext>
            </a:extLst>
          </p:cNvPr>
          <p:cNvSpPr txBox="1"/>
          <p:nvPr/>
        </p:nvSpPr>
        <p:spPr>
          <a:xfrm>
            <a:off x="9294991" y="3965043"/>
            <a:ext cx="213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buNone/>
              <a:defRPr sz="1200"/>
            </a:lvl1pPr>
          </a:lstStyle>
          <a:p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사용자 의도</a:t>
            </a: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와 맥락</a:t>
            </a:r>
            <a:endParaRPr lang="en-US" altLang="ko-KR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(</a:t>
            </a: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여행 테마</a:t>
            </a:r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, 예산</a:t>
            </a:r>
            <a:r>
              <a:rPr lang="en-US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 </a:t>
            </a: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등</a:t>
            </a:r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)</a:t>
            </a: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을</a:t>
            </a:r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 </a:t>
            </a:r>
            <a:endParaRPr lang="en-US" altLang="ko-KR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반영하는 서비스</a:t>
            </a: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의 부재</a:t>
            </a:r>
            <a:r>
              <a:rPr lang="en-US" altLang="ko-KR" b="1" dirty="0">
                <a:solidFill>
                  <a:srgbClr val="333F7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ko-KR" altLang="ko-KR" b="1" dirty="0">
              <a:solidFill>
                <a:srgbClr val="333F70"/>
              </a:solidFill>
              <a:latin typeface="+mj-lt"/>
              <a:cs typeface="Open Sans" panose="020B0606030504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C11FDE-B1AE-3672-F122-150AFD8F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>
                <a:latin typeface="+mj-lt"/>
              </a:rPr>
              <a:t>2</a:t>
            </a:fld>
            <a:endParaRPr lang="ko-KR" altLang="en-US" dirty="0">
              <a:latin typeface="+mj-lt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ADF80F3-EEAC-5F69-16EC-4EEAF56B61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6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86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6C5188B-A6D8-460F-F2FD-FCA43063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780944-5AFB-F3A4-1F05-ECCF6347E3EF}"/>
              </a:ext>
            </a:extLst>
          </p:cNvPr>
          <p:cNvSpPr txBox="1"/>
          <p:nvPr/>
        </p:nvSpPr>
        <p:spPr>
          <a:xfrm>
            <a:off x="321231" y="208112"/>
            <a:ext cx="5691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Architecture overview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DCCB827-80A7-C1EC-CC3F-49273DA3DC72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그림 96">
            <a:extLst>
              <a:ext uri="{FF2B5EF4-FFF2-40B4-BE49-F238E27FC236}">
                <a16:creationId xmlns:a16="http://schemas.microsoft.com/office/drawing/2014/main" id="{F02D6AC1-AFBB-56CD-2EF0-B8684CD7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6" y="1963607"/>
            <a:ext cx="11886614" cy="414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F28B-C53A-FAF9-EA06-7EF44DBC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CB03F31B-686B-1F61-7064-355CBDB56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10" y="1441475"/>
            <a:ext cx="5857004" cy="42484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33BB7D-45AD-73F2-1554-AA01ED54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E8C115-F982-E098-EA73-E6CFE2FAA6F9}"/>
              </a:ext>
            </a:extLst>
          </p:cNvPr>
          <p:cNvSpPr/>
          <p:nvPr/>
        </p:nvSpPr>
        <p:spPr>
          <a:xfrm>
            <a:off x="5693689" y="1441475"/>
            <a:ext cx="530225" cy="320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8460474-C993-7EF1-4E94-CBB732BB9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3" t="1578" r="3843" b="6758"/>
          <a:stretch>
            <a:fillRect/>
          </a:stretch>
        </p:blipFill>
        <p:spPr>
          <a:xfrm>
            <a:off x="6435610" y="1441475"/>
            <a:ext cx="5346986" cy="3165866"/>
          </a:xfrm>
          <a:custGeom>
            <a:avLst/>
            <a:gdLst>
              <a:gd name="csX0" fmla="*/ 239187 w 8524463"/>
              <a:gd name="csY0" fmla="*/ 0 h 5047200"/>
              <a:gd name="csX1" fmla="*/ 8285276 w 8524463"/>
              <a:gd name="csY1" fmla="*/ 0 h 5047200"/>
              <a:gd name="csX2" fmla="*/ 8524463 w 8524463"/>
              <a:gd name="csY2" fmla="*/ 239187 h 5047200"/>
              <a:gd name="csX3" fmla="*/ 8524463 w 8524463"/>
              <a:gd name="csY3" fmla="*/ 4808013 h 5047200"/>
              <a:gd name="csX4" fmla="*/ 8285276 w 8524463"/>
              <a:gd name="csY4" fmla="*/ 5047200 h 5047200"/>
              <a:gd name="csX5" fmla="*/ 239187 w 8524463"/>
              <a:gd name="csY5" fmla="*/ 5047200 h 5047200"/>
              <a:gd name="csX6" fmla="*/ 0 w 8524463"/>
              <a:gd name="csY6" fmla="*/ 4808013 h 5047200"/>
              <a:gd name="csX7" fmla="*/ 0 w 8524463"/>
              <a:gd name="csY7" fmla="*/ 239187 h 5047200"/>
              <a:gd name="csX8" fmla="*/ 239187 w 8524463"/>
              <a:gd name="csY8" fmla="*/ 0 h 504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524463" h="5047200">
                <a:moveTo>
                  <a:pt x="239187" y="0"/>
                </a:moveTo>
                <a:lnTo>
                  <a:pt x="8285276" y="0"/>
                </a:lnTo>
                <a:cubicBezTo>
                  <a:pt x="8417375" y="0"/>
                  <a:pt x="8524463" y="107088"/>
                  <a:pt x="8524463" y="239187"/>
                </a:cubicBezTo>
                <a:lnTo>
                  <a:pt x="8524463" y="4808013"/>
                </a:lnTo>
                <a:cubicBezTo>
                  <a:pt x="8524463" y="4940112"/>
                  <a:pt x="8417375" y="5047200"/>
                  <a:pt x="8285276" y="5047200"/>
                </a:cubicBezTo>
                <a:lnTo>
                  <a:pt x="239187" y="5047200"/>
                </a:lnTo>
                <a:cubicBezTo>
                  <a:pt x="107088" y="5047200"/>
                  <a:pt x="0" y="4940112"/>
                  <a:pt x="0" y="4808013"/>
                </a:cubicBezTo>
                <a:lnTo>
                  <a:pt x="0" y="239187"/>
                </a:lnTo>
                <a:cubicBezTo>
                  <a:pt x="0" y="107088"/>
                  <a:pt x="107088" y="0"/>
                  <a:pt x="239187" y="0"/>
                </a:cubicBezTo>
                <a:close/>
              </a:path>
            </a:pathLst>
          </a:custGeom>
          <a:ln w="38100">
            <a:solidFill>
              <a:srgbClr val="FF0000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6007BA2-5738-C408-6C35-702D285BA160}"/>
              </a:ext>
            </a:extLst>
          </p:cNvPr>
          <p:cNvSpPr txBox="1"/>
          <p:nvPr/>
        </p:nvSpPr>
        <p:spPr>
          <a:xfrm>
            <a:off x="321231" y="208112"/>
            <a:ext cx="5691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FrontEnd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DB515AB-2FBF-59C8-3F34-EE98D18B6EAD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2E3D1C-DBD9-7278-97CD-223F04126323}"/>
              </a:ext>
            </a:extLst>
          </p:cNvPr>
          <p:cNvSpPr txBox="1"/>
          <p:nvPr/>
        </p:nvSpPr>
        <p:spPr>
          <a:xfrm>
            <a:off x="2301505" y="5721927"/>
            <a:ext cx="19878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/>
              <a:t>&lt;Main page&gt;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9F46A71-98FB-7D94-85B8-6D6F3A8460EC}"/>
              </a:ext>
            </a:extLst>
          </p:cNvPr>
          <p:cNvSpPr/>
          <p:nvPr/>
        </p:nvSpPr>
        <p:spPr>
          <a:xfrm>
            <a:off x="7924924" y="4795425"/>
            <a:ext cx="2525672" cy="515484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altLang="ko-KR" b="1" dirty="0">
                <a:solidFill>
                  <a:sysClr val="windowText" lastClr="000000"/>
                </a:solidFill>
              </a:rPr>
              <a:t>2</a:t>
            </a:r>
            <a:r>
              <a:rPr lang="ko-KR" altLang="en-US" b="1" dirty="0">
                <a:solidFill>
                  <a:sysClr val="windowText" lastClr="000000"/>
                </a:solidFill>
              </a:rPr>
              <a:t>가지 로그인 방식</a:t>
            </a:r>
            <a:endParaRPr lang="en-US" altLang="ko-KR" b="1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C387378-0CB8-1533-3D81-48A3FB657AE4}"/>
              </a:ext>
            </a:extLst>
          </p:cNvPr>
          <p:cNvSpPr/>
          <p:nvPr/>
        </p:nvSpPr>
        <p:spPr>
          <a:xfrm>
            <a:off x="6442837" y="5802739"/>
            <a:ext cx="2525672" cy="921334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b="1" dirty="0">
                <a:solidFill>
                  <a:sysClr val="windowText" lastClr="000000"/>
                </a:solidFill>
              </a:rPr>
              <a:t>이메일 주소 활용</a:t>
            </a:r>
            <a:endParaRPr lang="en-US" altLang="ko-KR" b="1" dirty="0">
              <a:solidFill>
                <a:sysClr val="windowText" lastClr="000000"/>
              </a:solidFill>
            </a:endParaRPr>
          </a:p>
          <a:p>
            <a:pPr algn="ctr">
              <a:buNone/>
            </a:pPr>
            <a:r>
              <a:rPr lang="ko-KR" altLang="en-US" b="1" dirty="0">
                <a:solidFill>
                  <a:sysClr val="windowText" lastClr="000000"/>
                </a:solidFill>
              </a:rPr>
              <a:t>일반 로그인</a:t>
            </a:r>
            <a:endParaRPr lang="en-US" altLang="ko-KR" b="1" dirty="0">
              <a:solidFill>
                <a:sysClr val="windowText" lastClr="000000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B5E1E40-CE52-DDE6-C108-B8C60A54C081}"/>
              </a:ext>
            </a:extLst>
          </p:cNvPr>
          <p:cNvSpPr/>
          <p:nvPr/>
        </p:nvSpPr>
        <p:spPr>
          <a:xfrm>
            <a:off x="9407011" y="5802739"/>
            <a:ext cx="2525672" cy="921334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b="1" dirty="0">
                <a:solidFill>
                  <a:sysClr val="windowText" lastClr="000000"/>
                </a:solidFill>
              </a:rPr>
              <a:t>구글 </a:t>
            </a:r>
            <a:r>
              <a:rPr lang="en-US" altLang="ko-KR" b="1" dirty="0">
                <a:solidFill>
                  <a:sysClr val="windowText" lastClr="000000"/>
                </a:solidFill>
              </a:rPr>
              <a:t>OAuth2.0 </a:t>
            </a:r>
            <a:r>
              <a:rPr lang="ko-KR" altLang="en-US" b="1" dirty="0">
                <a:solidFill>
                  <a:sysClr val="windowText" lastClr="000000"/>
                </a:solidFill>
              </a:rPr>
              <a:t>활용</a:t>
            </a:r>
            <a:endParaRPr lang="en-US" altLang="ko-KR" b="1" dirty="0">
              <a:solidFill>
                <a:sysClr val="windowText" lastClr="000000"/>
              </a:solidFill>
            </a:endParaRPr>
          </a:p>
          <a:p>
            <a:pPr algn="ctr">
              <a:buNone/>
            </a:pPr>
            <a:r>
              <a:rPr lang="ko-KR" altLang="en-US" b="1" dirty="0">
                <a:solidFill>
                  <a:sysClr val="windowText" lastClr="000000"/>
                </a:solidFill>
              </a:rPr>
              <a:t>소셜 로그인</a:t>
            </a:r>
            <a:endParaRPr lang="en-US" altLang="ko-KR" b="1" dirty="0">
              <a:solidFill>
                <a:sysClr val="windowText" lastClr="000000"/>
              </a:solidFill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E95A5B6B-8F3F-5068-E9BB-AD66CA839993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rot="5400000">
            <a:off x="8200802" y="4815781"/>
            <a:ext cx="491830" cy="1482087"/>
          </a:xfrm>
          <a:prstGeom prst="bentConnector3">
            <a:avLst/>
          </a:prstGeom>
          <a:ln>
            <a:solidFill>
              <a:srgbClr val="26A6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AA9496D1-F1CD-1C2F-C3A3-A06BB83EBC34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16200000" flipH="1">
            <a:off x="9682888" y="4815780"/>
            <a:ext cx="491830" cy="1482087"/>
          </a:xfrm>
          <a:prstGeom prst="bentConnector3">
            <a:avLst>
              <a:gd name="adj1" fmla="val 50000"/>
            </a:avLst>
          </a:prstGeom>
          <a:ln>
            <a:solidFill>
              <a:srgbClr val="26A6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1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766BA-671B-F639-43A6-854AC24B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F5A444D3-1586-AC40-9721-7C6F08606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73" t="11473" r="686"/>
          <a:stretch>
            <a:fillRect/>
          </a:stretch>
        </p:blipFill>
        <p:spPr>
          <a:xfrm>
            <a:off x="6065947" y="1334915"/>
            <a:ext cx="5607509" cy="3232634"/>
          </a:xfrm>
          <a:custGeom>
            <a:avLst/>
            <a:gdLst>
              <a:gd name="csX0" fmla="*/ 201778 w 5867400"/>
              <a:gd name="csY0" fmla="*/ 0 h 3382457"/>
              <a:gd name="csX1" fmla="*/ 5665622 w 5867400"/>
              <a:gd name="csY1" fmla="*/ 0 h 3382457"/>
              <a:gd name="csX2" fmla="*/ 5706271 w 5867400"/>
              <a:gd name="csY2" fmla="*/ 4098 h 3382457"/>
              <a:gd name="csX3" fmla="*/ 5867400 w 5867400"/>
              <a:gd name="csY3" fmla="*/ 201796 h 3382457"/>
              <a:gd name="csX4" fmla="*/ 5867400 w 5867400"/>
              <a:gd name="csY4" fmla="*/ 3180659 h 3382457"/>
              <a:gd name="csX5" fmla="*/ 5665602 w 5867400"/>
              <a:gd name="csY5" fmla="*/ 3382457 h 3382457"/>
              <a:gd name="csX6" fmla="*/ 201798 w 5867400"/>
              <a:gd name="csY6" fmla="*/ 3382457 h 3382457"/>
              <a:gd name="csX7" fmla="*/ 0 w 5867400"/>
              <a:gd name="csY7" fmla="*/ 3180659 h 3382457"/>
              <a:gd name="csX8" fmla="*/ 0 w 5867400"/>
              <a:gd name="csY8" fmla="*/ 201796 h 3382457"/>
              <a:gd name="csX9" fmla="*/ 161129 w 5867400"/>
              <a:gd name="csY9" fmla="*/ 4098 h 33824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867400" h="3382457">
                <a:moveTo>
                  <a:pt x="201778" y="0"/>
                </a:moveTo>
                <a:lnTo>
                  <a:pt x="5665622" y="0"/>
                </a:lnTo>
                <a:lnTo>
                  <a:pt x="5706271" y="4098"/>
                </a:lnTo>
                <a:cubicBezTo>
                  <a:pt x="5798227" y="22915"/>
                  <a:pt x="5867400" y="104277"/>
                  <a:pt x="5867400" y="201796"/>
                </a:cubicBezTo>
                <a:lnTo>
                  <a:pt x="5867400" y="3180659"/>
                </a:lnTo>
                <a:cubicBezTo>
                  <a:pt x="5867400" y="3292109"/>
                  <a:pt x="5777052" y="3382457"/>
                  <a:pt x="5665602" y="3382457"/>
                </a:cubicBezTo>
                <a:lnTo>
                  <a:pt x="201798" y="3382457"/>
                </a:lnTo>
                <a:cubicBezTo>
                  <a:pt x="90348" y="3382457"/>
                  <a:pt x="0" y="3292109"/>
                  <a:pt x="0" y="3180659"/>
                </a:cubicBezTo>
                <a:lnTo>
                  <a:pt x="0" y="201796"/>
                </a:lnTo>
                <a:cubicBezTo>
                  <a:pt x="0" y="104277"/>
                  <a:pt x="69173" y="22915"/>
                  <a:pt x="161129" y="4098"/>
                </a:cubicBezTo>
                <a:close/>
              </a:path>
            </a:pathLst>
          </a:custGeom>
          <a:ln>
            <a:solidFill>
              <a:schemeClr val="tx1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1A8BC41-BB6E-0A2C-54ED-AE14FC7A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F1A344-76C1-0D15-A388-71FD914E4A2C}"/>
              </a:ext>
            </a:extLst>
          </p:cNvPr>
          <p:cNvSpPr txBox="1"/>
          <p:nvPr/>
        </p:nvSpPr>
        <p:spPr>
          <a:xfrm>
            <a:off x="321231" y="208112"/>
            <a:ext cx="5691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FrontEnd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0A5D138-77DD-F913-AC52-6A9346140356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0168A80-17E3-7914-12B7-91804E0D29FE}"/>
              </a:ext>
            </a:extLst>
          </p:cNvPr>
          <p:cNvGrpSpPr/>
          <p:nvPr/>
        </p:nvGrpSpPr>
        <p:grpSpPr>
          <a:xfrm>
            <a:off x="518545" y="1334915"/>
            <a:ext cx="5028857" cy="5350676"/>
            <a:chOff x="372491" y="1334915"/>
            <a:chExt cx="5028857" cy="5350676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44A081A-AD3E-37E6-E165-C0519BA31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204" t="2227" r="2137" b="2021"/>
            <a:stretch>
              <a:fillRect/>
            </a:stretch>
          </p:blipFill>
          <p:spPr>
            <a:xfrm>
              <a:off x="372491" y="1334915"/>
              <a:ext cx="5028857" cy="3090026"/>
            </a:xfrm>
            <a:custGeom>
              <a:avLst/>
              <a:gdLst>
                <a:gd name="csX0" fmla="*/ 116907 w 6898484"/>
                <a:gd name="csY0" fmla="*/ 0 h 4238836"/>
                <a:gd name="csX1" fmla="*/ 6781577 w 6898484"/>
                <a:gd name="csY1" fmla="*/ 0 h 4238836"/>
                <a:gd name="csX2" fmla="*/ 6898484 w 6898484"/>
                <a:gd name="csY2" fmla="*/ 116907 h 4238836"/>
                <a:gd name="csX3" fmla="*/ 6898484 w 6898484"/>
                <a:gd name="csY3" fmla="*/ 4121929 h 4238836"/>
                <a:gd name="csX4" fmla="*/ 6781577 w 6898484"/>
                <a:gd name="csY4" fmla="*/ 4238836 h 4238836"/>
                <a:gd name="csX5" fmla="*/ 116907 w 6898484"/>
                <a:gd name="csY5" fmla="*/ 4238836 h 4238836"/>
                <a:gd name="csX6" fmla="*/ 0 w 6898484"/>
                <a:gd name="csY6" fmla="*/ 4121929 h 4238836"/>
                <a:gd name="csX7" fmla="*/ 0 w 6898484"/>
                <a:gd name="csY7" fmla="*/ 116907 h 4238836"/>
                <a:gd name="csX8" fmla="*/ 116907 w 6898484"/>
                <a:gd name="csY8" fmla="*/ 0 h 4238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898484" h="4238836">
                  <a:moveTo>
                    <a:pt x="116907" y="0"/>
                  </a:moveTo>
                  <a:lnTo>
                    <a:pt x="6781577" y="0"/>
                  </a:lnTo>
                  <a:cubicBezTo>
                    <a:pt x="6846143" y="0"/>
                    <a:pt x="6898484" y="52341"/>
                    <a:pt x="6898484" y="116907"/>
                  </a:cubicBezTo>
                  <a:lnTo>
                    <a:pt x="6898484" y="4121929"/>
                  </a:lnTo>
                  <a:cubicBezTo>
                    <a:pt x="6898484" y="4186495"/>
                    <a:pt x="6846143" y="4238836"/>
                    <a:pt x="6781577" y="4238836"/>
                  </a:cubicBezTo>
                  <a:lnTo>
                    <a:pt x="116907" y="4238836"/>
                  </a:lnTo>
                  <a:cubicBezTo>
                    <a:pt x="52341" y="4238836"/>
                    <a:pt x="0" y="4186495"/>
                    <a:pt x="0" y="4121929"/>
                  </a:cubicBezTo>
                  <a:lnTo>
                    <a:pt x="0" y="116907"/>
                  </a:lnTo>
                  <a:cubicBezTo>
                    <a:pt x="0" y="52341"/>
                    <a:pt x="52341" y="0"/>
                    <a:pt x="116907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</a:ln>
          </p:spPr>
        </p:pic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74819C6A-5899-ABE1-4B6B-F2453B966EB2}"/>
                </a:ext>
              </a:extLst>
            </p:cNvPr>
            <p:cNvSpPr/>
            <p:nvPr/>
          </p:nvSpPr>
          <p:spPr>
            <a:xfrm>
              <a:off x="837805" y="4633932"/>
              <a:ext cx="4098228" cy="921334"/>
            </a:xfrm>
            <a:prstGeom prst="roundRect">
              <a:avLst>
                <a:gd name="adj" fmla="val 7552"/>
              </a:avLst>
            </a:prstGeom>
            <a:solidFill>
              <a:srgbClr val="DDF8F2"/>
            </a:solidFill>
            <a:ln>
              <a:solidFill>
                <a:srgbClr val="A2EC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buNone/>
              </a:pPr>
              <a:r>
                <a:rPr lang="ko-KR" altLang="en-US" b="1" dirty="0">
                  <a:solidFill>
                    <a:sysClr val="windowText" lastClr="000000"/>
                  </a:solidFill>
                </a:rPr>
                <a:t>대화형 </a:t>
              </a:r>
              <a:r>
                <a:rPr lang="en-US" altLang="ko-KR" b="1" dirty="0">
                  <a:solidFill>
                    <a:sysClr val="windowText" lastClr="000000"/>
                  </a:solidFill>
                </a:rPr>
                <a:t>AI </a:t>
              </a:r>
              <a:r>
                <a:rPr lang="ko-KR" altLang="en-US" b="1" dirty="0">
                  <a:solidFill>
                    <a:sysClr val="windowText" lastClr="000000"/>
                  </a:solidFill>
                </a:rPr>
                <a:t>여행 </a:t>
              </a:r>
              <a:r>
                <a:rPr lang="ko-KR" altLang="en-US" b="1" dirty="0" err="1">
                  <a:solidFill>
                    <a:sysClr val="windowText" lastClr="000000"/>
                  </a:solidFill>
                </a:rPr>
                <a:t>플래너</a:t>
              </a:r>
              <a:endParaRPr lang="en-US" altLang="ko-KR" b="1" dirty="0">
                <a:solidFill>
                  <a:sysClr val="windowText" lastClr="000000"/>
                </a:solidFill>
              </a:endParaRPr>
            </a:p>
            <a:p>
              <a:pPr algn="ctr">
                <a:lnSpc>
                  <a:spcPct val="150000"/>
                </a:lnSpc>
                <a:buNone/>
              </a:pPr>
              <a:r>
                <a:rPr lang="en-US" altLang="ko-KR" sz="1400" dirty="0">
                  <a:solidFill>
                    <a:sysClr val="windowText" lastClr="000000"/>
                  </a:solidFill>
                </a:rPr>
                <a:t>4</a:t>
              </a:r>
              <a:r>
                <a:rPr lang="ko-KR" altLang="en-US" sz="1400" dirty="0">
                  <a:solidFill>
                    <a:sysClr val="windowText" lastClr="000000"/>
                  </a:solidFill>
                </a:rPr>
                <a:t>단계의 문답모드로 최적 코스 완성</a:t>
              </a:r>
              <a:endParaRPr lang="en-US" altLang="ko-KR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F0188AA-FE5C-0E20-6C72-6C58429120D9}"/>
                </a:ext>
              </a:extLst>
            </p:cNvPr>
            <p:cNvSpPr/>
            <p:nvPr/>
          </p:nvSpPr>
          <p:spPr>
            <a:xfrm>
              <a:off x="837805" y="5764257"/>
              <a:ext cx="4098228" cy="921334"/>
            </a:xfrm>
            <a:prstGeom prst="roundRect">
              <a:avLst>
                <a:gd name="adj" fmla="val 7552"/>
              </a:avLst>
            </a:prstGeom>
            <a:solidFill>
              <a:srgbClr val="DDF8F2"/>
            </a:solidFill>
            <a:ln>
              <a:solidFill>
                <a:srgbClr val="A2EC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buNone/>
              </a:pPr>
              <a:r>
                <a:rPr lang="ko-KR" altLang="en-US" b="1" dirty="0">
                  <a:solidFill>
                    <a:sysClr val="windowText" lastClr="000000"/>
                  </a:solidFill>
                </a:rPr>
                <a:t>대화형 </a:t>
              </a:r>
              <a:r>
                <a:rPr lang="en-US" altLang="ko-KR" b="1" dirty="0">
                  <a:solidFill>
                    <a:sysClr val="windowText" lastClr="000000"/>
                  </a:solidFill>
                </a:rPr>
                <a:t>AI </a:t>
              </a:r>
              <a:r>
                <a:rPr lang="ko-KR" altLang="en-US" b="1" dirty="0">
                  <a:solidFill>
                    <a:sysClr val="windowText" lastClr="000000"/>
                  </a:solidFill>
                </a:rPr>
                <a:t>여행 </a:t>
              </a:r>
              <a:r>
                <a:rPr lang="ko-KR" altLang="en-US" b="1" dirty="0" err="1">
                  <a:solidFill>
                    <a:sysClr val="windowText" lastClr="000000"/>
                  </a:solidFill>
                </a:rPr>
                <a:t>플래너</a:t>
              </a:r>
              <a:endParaRPr lang="en-US" altLang="ko-KR" b="1" dirty="0">
                <a:solidFill>
                  <a:sysClr val="windowText" lastClr="000000"/>
                </a:solidFill>
              </a:endParaRPr>
            </a:p>
            <a:p>
              <a:pPr algn="ctr">
                <a:lnSpc>
                  <a:spcPct val="150000"/>
                </a:lnSpc>
                <a:buNone/>
              </a:pPr>
              <a:r>
                <a:rPr lang="ko-KR" altLang="en-US" sz="1400" dirty="0">
                  <a:solidFill>
                    <a:sysClr val="windowText" lastClr="000000"/>
                  </a:solidFill>
                </a:rPr>
                <a:t>여행 정보를 입력하여 </a:t>
              </a:r>
              <a:r>
                <a:rPr lang="en-US" altLang="ko-KR" sz="1400" dirty="0">
                  <a:solidFill>
                    <a:sysClr val="windowText" lastClr="000000"/>
                  </a:solidFill>
                </a:rPr>
                <a:t>API</a:t>
              </a:r>
              <a:r>
                <a:rPr lang="ko-KR" altLang="en-US" sz="1400" dirty="0">
                  <a:solidFill>
                    <a:sysClr val="windowText" lastClr="000000"/>
                  </a:solidFill>
                </a:rPr>
                <a:t>를 통한 일정 생성</a:t>
              </a:r>
              <a:endParaRPr lang="en-US" altLang="ko-KR" sz="14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A29B932-059D-871C-5840-546BB3FFBBC4}"/>
              </a:ext>
            </a:extLst>
          </p:cNvPr>
          <p:cNvSpPr/>
          <p:nvPr/>
        </p:nvSpPr>
        <p:spPr>
          <a:xfrm>
            <a:off x="6652302" y="4956963"/>
            <a:ext cx="4434798" cy="1529927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생성된 일정도 언제든지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AI </a:t>
            </a:r>
            <a:r>
              <a:rPr lang="ko-KR" altLang="en-US" sz="2000" b="1" dirty="0">
                <a:solidFill>
                  <a:schemeClr val="tx1"/>
                </a:solidFill>
              </a:rPr>
              <a:t>일정 </a:t>
            </a:r>
            <a:r>
              <a:rPr lang="ko-KR" altLang="en-US" sz="2000" b="1" dirty="0" err="1">
                <a:solidFill>
                  <a:schemeClr val="tx1"/>
                </a:solidFill>
              </a:rPr>
              <a:t>플래너와</a:t>
            </a:r>
            <a:r>
              <a:rPr lang="ko-KR" altLang="en-US" sz="2000" b="1" dirty="0">
                <a:solidFill>
                  <a:schemeClr val="tx1"/>
                </a:solidFill>
              </a:rPr>
              <a:t> 함께 수정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38BE125-E91F-5B23-23BE-028309C067ED}"/>
              </a:ext>
            </a:extLst>
          </p:cNvPr>
          <p:cNvSpPr/>
          <p:nvPr/>
        </p:nvSpPr>
        <p:spPr>
          <a:xfrm>
            <a:off x="10071099" y="2419349"/>
            <a:ext cx="1517651" cy="2095501"/>
          </a:xfrm>
          <a:prstGeom prst="roundRect">
            <a:avLst>
              <a:gd name="adj" fmla="val 5624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21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2806-4623-1328-550C-E0D69EB9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27F71A-E4D1-2FE6-3C49-2CCA108A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A4057-0CBA-B4D9-8577-451C907CE604}"/>
              </a:ext>
            </a:extLst>
          </p:cNvPr>
          <p:cNvSpPr txBox="1"/>
          <p:nvPr/>
        </p:nvSpPr>
        <p:spPr>
          <a:xfrm>
            <a:off x="321231" y="208112"/>
            <a:ext cx="5691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DataBase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4F19AC7-C53D-FAD2-2E13-2CE3D5757477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46B5747-A0BC-B6FD-0E6E-264AC9CDC922}"/>
              </a:ext>
            </a:extLst>
          </p:cNvPr>
          <p:cNvCxnSpPr>
            <a:cxnSpLocks/>
          </p:cNvCxnSpPr>
          <p:nvPr/>
        </p:nvCxnSpPr>
        <p:spPr>
          <a:xfrm>
            <a:off x="4064000" y="1796937"/>
            <a:ext cx="0" cy="4755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12BB6FC-F084-73ED-AF05-8E9F5132078A}"/>
              </a:ext>
            </a:extLst>
          </p:cNvPr>
          <p:cNvCxnSpPr>
            <a:cxnSpLocks/>
          </p:cNvCxnSpPr>
          <p:nvPr/>
        </p:nvCxnSpPr>
        <p:spPr>
          <a:xfrm>
            <a:off x="8128000" y="1796937"/>
            <a:ext cx="0" cy="4756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C283A13-0EF1-9EE5-BB98-65F834C783D3}"/>
              </a:ext>
            </a:extLst>
          </p:cNvPr>
          <p:cNvSpPr/>
          <p:nvPr/>
        </p:nvSpPr>
        <p:spPr>
          <a:xfrm>
            <a:off x="530223" y="2114550"/>
            <a:ext cx="3003552" cy="4344306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사용자와 관련된 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데이터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이름</a:t>
            </a:r>
            <a:r>
              <a:rPr lang="en-US" altLang="ko-KR" sz="2000" b="1" dirty="0">
                <a:solidFill>
                  <a:schemeClr val="tx1"/>
                </a:solidFill>
              </a:rPr>
              <a:t>, ID, </a:t>
            </a:r>
            <a:r>
              <a:rPr lang="ko-KR" altLang="en-US" sz="2000" b="1" dirty="0">
                <a:solidFill>
                  <a:schemeClr val="tx1"/>
                </a:solidFill>
              </a:rPr>
              <a:t>비밀번호 해시</a:t>
            </a:r>
            <a:r>
              <a:rPr lang="en-US" altLang="ko-KR" sz="2000" b="1" dirty="0">
                <a:solidFill>
                  <a:schemeClr val="tx1"/>
                </a:solidFill>
              </a:rPr>
              <a:t>,</a:t>
            </a: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소셜 아이디 연동 여부</a:t>
            </a:r>
            <a:r>
              <a:rPr lang="en-US" altLang="ko-KR" sz="2000" b="1" dirty="0">
                <a:solidFill>
                  <a:schemeClr val="tx1"/>
                </a:solidFill>
              </a:rPr>
              <a:t>,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Admin </a:t>
            </a:r>
            <a:r>
              <a:rPr lang="ko-KR" altLang="en-US" sz="2000" b="1" dirty="0">
                <a:solidFill>
                  <a:schemeClr val="tx1"/>
                </a:solidFill>
              </a:rPr>
              <a:t>여부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6786552-AFE1-2835-D01E-3F273423AC20}"/>
              </a:ext>
            </a:extLst>
          </p:cNvPr>
          <p:cNvSpPr/>
          <p:nvPr/>
        </p:nvSpPr>
        <p:spPr>
          <a:xfrm>
            <a:off x="4594224" y="2114550"/>
            <a:ext cx="3003552" cy="4344306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여행지와 관련된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데이터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관광 교통 공사의 </a:t>
            </a:r>
            <a:r>
              <a:rPr lang="en-US" altLang="ko-KR" sz="2000" b="1" dirty="0">
                <a:solidFill>
                  <a:schemeClr val="tx1"/>
                </a:solidFill>
              </a:rPr>
              <a:t>API</a:t>
            </a:r>
            <a:r>
              <a:rPr lang="ko-KR" altLang="en-US" sz="2000" b="1" dirty="0">
                <a:solidFill>
                  <a:schemeClr val="tx1"/>
                </a:solidFill>
              </a:rPr>
              <a:t>로 호출한 최신 관광지 정보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44D2212-0D98-649F-981D-A9A105829776}"/>
              </a:ext>
            </a:extLst>
          </p:cNvPr>
          <p:cNvSpPr/>
          <p:nvPr/>
        </p:nvSpPr>
        <p:spPr>
          <a:xfrm>
            <a:off x="8658225" y="2114550"/>
            <a:ext cx="3003552" cy="4344306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기상 예측 모델과 관련된 데이터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지역과 예측 기상 요소에 따른 학습 가중치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F9F3054-E053-AADD-AE41-BEA00EA8176A}"/>
              </a:ext>
            </a:extLst>
          </p:cNvPr>
          <p:cNvSpPr/>
          <p:nvPr/>
        </p:nvSpPr>
        <p:spPr>
          <a:xfrm>
            <a:off x="530223" y="1418801"/>
            <a:ext cx="3003552" cy="559650"/>
          </a:xfrm>
          <a:prstGeom prst="roundRect">
            <a:avLst>
              <a:gd name="adj" fmla="val 7552"/>
            </a:avLst>
          </a:prstGeom>
          <a:solidFill>
            <a:srgbClr val="26A688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CB650E8-7F1A-BADD-9D4D-41177318FA2E}"/>
              </a:ext>
            </a:extLst>
          </p:cNvPr>
          <p:cNvSpPr/>
          <p:nvPr/>
        </p:nvSpPr>
        <p:spPr>
          <a:xfrm>
            <a:off x="4594224" y="1418801"/>
            <a:ext cx="3003552" cy="559650"/>
          </a:xfrm>
          <a:prstGeom prst="roundRect">
            <a:avLst>
              <a:gd name="adj" fmla="val 7552"/>
            </a:avLst>
          </a:prstGeom>
          <a:solidFill>
            <a:srgbClr val="26A688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Place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ED3D25E-EA0E-2A3E-E5BC-D41F4146C7A1}"/>
              </a:ext>
            </a:extLst>
          </p:cNvPr>
          <p:cNvSpPr/>
          <p:nvPr/>
        </p:nvSpPr>
        <p:spPr>
          <a:xfrm>
            <a:off x="8658225" y="1418801"/>
            <a:ext cx="3003552" cy="559650"/>
          </a:xfrm>
          <a:prstGeom prst="roundRect">
            <a:avLst>
              <a:gd name="adj" fmla="val 7552"/>
            </a:avLst>
          </a:prstGeom>
          <a:solidFill>
            <a:srgbClr val="26A688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336791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54175-568C-0F87-1EA1-0AA4C9BB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7C340D6-567E-5205-0178-78EE4B47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9FFEA-BC0E-4102-2424-946AF2DA160B}"/>
              </a:ext>
            </a:extLst>
          </p:cNvPr>
          <p:cNvSpPr txBox="1"/>
          <p:nvPr/>
        </p:nvSpPr>
        <p:spPr>
          <a:xfrm>
            <a:off x="321230" y="208112"/>
            <a:ext cx="92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0A3981"/>
                </a:solidFill>
                <a:latin typeface="Malgun Gothic"/>
              </a:defRPr>
            </a:pPr>
            <a:r>
              <a:t>BackEnd – 여행 이동 경로 최적화 &amp; 길목 명소 큐레이션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F9B5F3A-5852-F7A0-C764-E024FA929D53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lide_07_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00" y="1220000"/>
            <a:ext cx="11552000" cy="54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24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CE883-9810-8730-4968-8D004663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A63A5D-73C8-682E-91EB-FCC2135F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08346C-6E34-2E70-6C81-EAA685EAE9FF}"/>
              </a:ext>
            </a:extLst>
          </p:cNvPr>
          <p:cNvSpPr txBox="1"/>
          <p:nvPr/>
        </p:nvSpPr>
        <p:spPr>
          <a:xfrm>
            <a:off x="664358" y="1197015"/>
            <a:ext cx="3574268" cy="50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데이터 수집</a:t>
            </a:r>
            <a:endParaRPr lang="en-US" altLang="ko-KR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2192DF-4946-BD3B-34F6-634A7644C172}"/>
              </a:ext>
            </a:extLst>
          </p:cNvPr>
          <p:cNvGrpSpPr/>
          <p:nvPr/>
        </p:nvGrpSpPr>
        <p:grpSpPr>
          <a:xfrm>
            <a:off x="546597" y="1978940"/>
            <a:ext cx="1803176" cy="979584"/>
            <a:chOff x="2796768" y="2354744"/>
            <a:chExt cx="1803176" cy="979584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088C5FF-2C20-9E54-3C4B-CC49AB0D45A8}"/>
                </a:ext>
              </a:extLst>
            </p:cNvPr>
            <p:cNvSpPr/>
            <p:nvPr/>
          </p:nvSpPr>
          <p:spPr>
            <a:xfrm>
              <a:off x="2796768" y="2354744"/>
              <a:ext cx="1803176" cy="979584"/>
            </a:xfrm>
            <a:prstGeom prst="roundRect">
              <a:avLst>
                <a:gd name="adj" fmla="val 755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8888252-4FD5-7EA2-91BA-E271CA18D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6769" y="2444536"/>
              <a:ext cx="1803175" cy="8000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FA6132-45C4-73F1-06D4-4C9CD2AFBC1F}"/>
              </a:ext>
            </a:extLst>
          </p:cNvPr>
          <p:cNvSpPr txBox="1"/>
          <p:nvPr/>
        </p:nvSpPr>
        <p:spPr>
          <a:xfrm>
            <a:off x="414192" y="3066111"/>
            <a:ext cx="3824434" cy="458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기간 </a:t>
            </a:r>
            <a:r>
              <a:rPr lang="en-US" altLang="ko-KR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: 2016-01-01 ~ 2026-10-21</a:t>
            </a:r>
            <a:endParaRPr lang="en-US" altLang="ko-KR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8901A19-3031-FAEC-06D8-BD70B0AB8C83}"/>
              </a:ext>
            </a:extLst>
          </p:cNvPr>
          <p:cNvGrpSpPr/>
          <p:nvPr/>
        </p:nvGrpSpPr>
        <p:grpSpPr>
          <a:xfrm>
            <a:off x="4583544" y="2068732"/>
            <a:ext cx="7330259" cy="4606316"/>
            <a:chOff x="4672804" y="1859353"/>
            <a:chExt cx="7330259" cy="4606316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F79EBE0-D331-2ECE-5439-33AF4FC2A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2804" y="1859353"/>
              <a:ext cx="6594295" cy="3891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4A2F759-4529-BB43-D179-350C6F781B2D}"/>
                </a:ext>
              </a:extLst>
            </p:cNvPr>
            <p:cNvSpPr txBox="1"/>
            <p:nvPr/>
          </p:nvSpPr>
          <p:spPr>
            <a:xfrm>
              <a:off x="11445676" y="3512031"/>
              <a:ext cx="557387" cy="4821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HY견고딕" panose="02030600000101010101" pitchFamily="18" charset="-127"/>
                  <a:ea typeface="HY견고딕" panose="02030600000101010101" pitchFamily="18" charset="-127"/>
                  <a:cs typeface="Calibri" panose="020F0502020204030204" pitchFamily="34" charset="0"/>
                </a:rPr>
                <a:t>…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3B84F0B-BB3B-92DB-81A6-0361B206C419}"/>
                </a:ext>
              </a:extLst>
            </p:cNvPr>
            <p:cNvSpPr txBox="1"/>
            <p:nvPr/>
          </p:nvSpPr>
          <p:spPr>
            <a:xfrm rot="5400000">
              <a:off x="7932317" y="5945916"/>
              <a:ext cx="557387" cy="4821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HY견고딕" panose="02030600000101010101" pitchFamily="18" charset="-127"/>
                  <a:ea typeface="HY견고딕" panose="02030600000101010101" pitchFamily="18" charset="-127"/>
                  <a:cs typeface="Calibri" panose="020F0502020204030204" pitchFamily="34" charset="0"/>
                </a:rPr>
                <a:t>…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F1543FE-A78A-75D9-8B38-264C37188D43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903DF9B-419E-4B0D-581A-E79A5A796FE0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BCE296A-1487-8D08-FD2D-9BFD44F83EB5}"/>
              </a:ext>
            </a:extLst>
          </p:cNvPr>
          <p:cNvSpPr/>
          <p:nvPr/>
        </p:nvSpPr>
        <p:spPr>
          <a:xfrm>
            <a:off x="214129" y="4323892"/>
            <a:ext cx="4106418" cy="1900817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관측 날짜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관측지점코드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일 평균 풍속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일 평균 기온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일 평균 상대습도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전운량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(</a:t>
            </a:r>
            <a:r>
              <a: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구름량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0.5m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지중온도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	…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C1EC418-9B26-2750-E44F-6F1862CF2414}"/>
              </a:ext>
            </a:extLst>
          </p:cNvPr>
          <p:cNvSpPr/>
          <p:nvPr/>
        </p:nvSpPr>
        <p:spPr>
          <a:xfrm>
            <a:off x="296050" y="3674450"/>
            <a:ext cx="3942576" cy="559650"/>
          </a:xfrm>
          <a:prstGeom prst="roundRect">
            <a:avLst>
              <a:gd name="adj" fmla="val 7552"/>
            </a:avLst>
          </a:prstGeom>
          <a:solidFill>
            <a:srgbClr val="26A688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Attribute</a:t>
            </a:r>
          </a:p>
        </p:txBody>
      </p:sp>
    </p:spTree>
    <p:extLst>
      <p:ext uri="{BB962C8B-B14F-4D97-AF65-F5344CB8AC3E}">
        <p14:creationId xmlns:p14="http://schemas.microsoft.com/office/powerpoint/2010/main" val="2339061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A687-A2C5-ECEE-6545-42E50E49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A48DDFB6-3C60-F48F-1B4B-855F43401434}"/>
              </a:ext>
            </a:extLst>
          </p:cNvPr>
          <p:cNvSpPr/>
          <p:nvPr/>
        </p:nvSpPr>
        <p:spPr>
          <a:xfrm rot="242111">
            <a:off x="1899100" y="2632983"/>
            <a:ext cx="8359518" cy="2622248"/>
          </a:xfrm>
          <a:custGeom>
            <a:avLst/>
            <a:gdLst>
              <a:gd name="csX0" fmla="*/ 1397515 w 8359518"/>
              <a:gd name="csY0" fmla="*/ 219796 h 2622248"/>
              <a:gd name="csX1" fmla="*/ 8348849 w 8359518"/>
              <a:gd name="csY1" fmla="*/ 211639 h 2622248"/>
              <a:gd name="csX2" fmla="*/ 5301 w 8359518"/>
              <a:gd name="csY2" fmla="*/ 2438552 h 2622248"/>
              <a:gd name="csX3" fmla="*/ 7044257 w 8359518"/>
              <a:gd name="csY3" fmla="*/ 2414080 h 2622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359518" h="2622248" extrusionOk="0">
                <a:moveTo>
                  <a:pt x="1397515" y="219796"/>
                </a:moveTo>
                <a:cubicBezTo>
                  <a:pt x="4902537" y="-22635"/>
                  <a:pt x="8505269" y="-129774"/>
                  <a:pt x="8348849" y="211639"/>
                </a:cubicBezTo>
                <a:cubicBezTo>
                  <a:pt x="8183905" y="595555"/>
                  <a:pt x="145926" y="2073920"/>
                  <a:pt x="5301" y="2438552"/>
                </a:cubicBezTo>
                <a:cubicBezTo>
                  <a:pt x="-262035" y="2854359"/>
                  <a:pt x="6310469" y="2610991"/>
                  <a:pt x="7044257" y="2414080"/>
                </a:cubicBezTo>
              </a:path>
            </a:pathLst>
          </a:custGeom>
          <a:noFill/>
          <a:ln w="69850" cap="rnd">
            <a:gradFill>
              <a:gsLst>
                <a:gs pos="0">
                  <a:srgbClr val="B6F0E4"/>
                </a:gs>
                <a:gs pos="50000">
                  <a:srgbClr val="A2ECDC"/>
                </a:gs>
                <a:gs pos="100000">
                  <a:srgbClr val="26A688"/>
                </a:gs>
              </a:gsLst>
              <a:lin ang="5400000" scaled="1"/>
            </a:gradFill>
            <a:tailEnd type="triangle" w="lg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1367262 w 8178550"/>
                      <a:gd name="csY0" fmla="*/ 256652 h 3061950"/>
                      <a:gd name="csX1" fmla="*/ 8168112 w 8178550"/>
                      <a:gd name="csY1" fmla="*/ 247127 h 3061950"/>
                      <a:gd name="csX2" fmla="*/ 5187 w 8178550"/>
                      <a:gd name="csY2" fmla="*/ 2847452 h 3061950"/>
                      <a:gd name="csX3" fmla="*/ 6891762 w 8178550"/>
                      <a:gd name="csY3" fmla="*/ 2818877 h 30619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8178550" h="3061950">
                        <a:moveTo>
                          <a:pt x="1367262" y="256652"/>
                        </a:moveTo>
                        <a:cubicBezTo>
                          <a:pt x="4881193" y="35989"/>
                          <a:pt x="8395124" y="-184673"/>
                          <a:pt x="8168112" y="247127"/>
                        </a:cubicBezTo>
                        <a:cubicBezTo>
                          <a:pt x="7941100" y="678927"/>
                          <a:pt x="217912" y="2418827"/>
                          <a:pt x="5187" y="2847452"/>
                        </a:cubicBezTo>
                        <a:cubicBezTo>
                          <a:pt x="-207538" y="3276077"/>
                          <a:pt x="6188500" y="2952227"/>
                          <a:pt x="6891762" y="2818877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339DBF-6FF8-B47E-AF59-F9B5901D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792B676-D4A0-0034-5723-533AF72E275D}"/>
              </a:ext>
            </a:extLst>
          </p:cNvPr>
          <p:cNvSpPr/>
          <p:nvPr/>
        </p:nvSpPr>
        <p:spPr>
          <a:xfrm>
            <a:off x="749561" y="1983024"/>
            <a:ext cx="2564878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관측 지점별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raw data </a:t>
            </a:r>
            <a:r>
              <a:rPr lang="ko-KR" altLang="en-US" dirty="0">
                <a:solidFill>
                  <a:schemeClr val="tx1"/>
                </a:solidFill>
              </a:rPr>
              <a:t>분할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EDBBEB-5B0D-976F-6211-B3F5D5485321}"/>
              </a:ext>
            </a:extLst>
          </p:cNvPr>
          <p:cNvSpPr/>
          <p:nvPr/>
        </p:nvSpPr>
        <p:spPr>
          <a:xfrm>
            <a:off x="4813561" y="1983024"/>
            <a:ext cx="2564878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결측치</a:t>
            </a:r>
            <a:r>
              <a:rPr lang="ko-KR" altLang="en-US" dirty="0">
                <a:solidFill>
                  <a:schemeClr val="tx1"/>
                </a:solidFill>
              </a:rPr>
              <a:t> 처리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E38DF0B-BD87-E97A-3D05-3812F4A8AC2A}"/>
              </a:ext>
            </a:extLst>
          </p:cNvPr>
          <p:cNvSpPr/>
          <p:nvPr/>
        </p:nvSpPr>
        <p:spPr>
          <a:xfrm>
            <a:off x="8877561" y="1983024"/>
            <a:ext cx="2564878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3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불필요 </a:t>
            </a:r>
            <a:r>
              <a:rPr lang="en-US" altLang="ko-KR" dirty="0">
                <a:solidFill>
                  <a:schemeClr val="tx1"/>
                </a:solidFill>
              </a:rPr>
              <a:t>column </a:t>
            </a:r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1353E0B-CFFB-770C-4FEE-887549569FBC}"/>
              </a:ext>
            </a:extLst>
          </p:cNvPr>
          <p:cNvSpPr/>
          <p:nvPr/>
        </p:nvSpPr>
        <p:spPr>
          <a:xfrm>
            <a:off x="644525" y="4489132"/>
            <a:ext cx="2774950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4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파생 변수 생성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풍향 데이터 </a:t>
            </a:r>
            <a:r>
              <a:rPr lang="en-US" altLang="ko-KR" dirty="0">
                <a:solidFill>
                  <a:schemeClr val="tx1"/>
                </a:solidFill>
              </a:rPr>
              <a:t>encoding)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F779067-023C-66A1-D608-EF7D84D22254}"/>
              </a:ext>
            </a:extLst>
          </p:cNvPr>
          <p:cNvSpPr/>
          <p:nvPr/>
        </p:nvSpPr>
        <p:spPr>
          <a:xfrm>
            <a:off x="4448175" y="4489132"/>
            <a:ext cx="3295650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5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en-US" altLang="ko-KR" i="1" dirty="0">
                <a:solidFill>
                  <a:schemeClr val="tx1"/>
                </a:solidFill>
              </a:rPr>
              <a:t>Spearman’s correlation </a:t>
            </a:r>
            <a:r>
              <a:rPr lang="en-US" altLang="ko-KR" i="1" dirty="0" err="1">
                <a:solidFill>
                  <a:schemeClr val="tx1"/>
                </a:solidFill>
              </a:rPr>
              <a:t>coeff</a:t>
            </a:r>
            <a:r>
              <a:rPr lang="en-US" altLang="ko-KR" i="1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연관성 낮은 </a:t>
            </a:r>
            <a:r>
              <a:rPr lang="en-US" altLang="ko-KR" dirty="0">
                <a:solidFill>
                  <a:schemeClr val="tx1"/>
                </a:solidFill>
              </a:rPr>
              <a:t>column </a:t>
            </a:r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8DBEB80-84A8-794C-3CFE-CA048A9AD486}"/>
              </a:ext>
            </a:extLst>
          </p:cNvPr>
          <p:cNvSpPr/>
          <p:nvPr/>
        </p:nvSpPr>
        <p:spPr>
          <a:xfrm>
            <a:off x="8877561" y="4489132"/>
            <a:ext cx="2564878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6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파생변수 생성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날짜 </a:t>
            </a:r>
            <a:r>
              <a:rPr lang="en-US" altLang="ko-KR" dirty="0">
                <a:solidFill>
                  <a:schemeClr val="tx1"/>
                </a:solidFill>
              </a:rPr>
              <a:t>encoding)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15148C8-4AB9-57CC-9427-9682DD3238AC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2FB95A7-F6B1-C955-7264-CAD64AA8CE7B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79D645-1837-82BB-5C62-C8ECBEE9B050}"/>
              </a:ext>
            </a:extLst>
          </p:cNvPr>
          <p:cNvSpPr txBox="1"/>
          <p:nvPr/>
        </p:nvSpPr>
        <p:spPr>
          <a:xfrm>
            <a:off x="664358" y="1197015"/>
            <a:ext cx="3574268" cy="50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데이터 </a:t>
            </a:r>
            <a:r>
              <a:rPr lang="en-US" altLang="ko-KR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preprocessing</a:t>
            </a:r>
            <a:endParaRPr lang="en-US" altLang="ko-KR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973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E5BC6-A0F7-B6AB-81A6-B6FCD3D4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BEAAFC-76C7-8C34-C0D2-875E132D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10</a:t>
            </a:fld>
            <a:endParaRPr lang="ko-KR" altLang="en-US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9553B12-D44B-E6FB-486F-35C2E3C69B7D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6D46F7C-AF31-51AE-22EB-C62DF51F0891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043511-AEAC-3E8E-6ED7-9F8AD4C40F23}"/>
              </a:ext>
            </a:extLst>
          </p:cNvPr>
          <p:cNvSpPr txBox="1"/>
          <p:nvPr/>
        </p:nvSpPr>
        <p:spPr>
          <a:xfrm>
            <a:off x="664358" y="1197015"/>
            <a:ext cx="4563424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데이터 </a:t>
            </a:r>
            <a:r>
              <a:rPr lang="en-US" altLang="ko-KR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preprocessing </a:t>
            </a:r>
            <a:r>
              <a:rPr lang="ko-KR" altLang="en-US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예시 코드</a:t>
            </a:r>
            <a:endParaRPr lang="en-US" altLang="ko-KR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8054D44-CB27-852D-4564-24AE67B435E2}"/>
              </a:ext>
            </a:extLst>
          </p:cNvPr>
          <p:cNvGrpSpPr/>
          <p:nvPr/>
        </p:nvGrpSpPr>
        <p:grpSpPr>
          <a:xfrm>
            <a:off x="1328606" y="1861232"/>
            <a:ext cx="9534789" cy="2199817"/>
            <a:chOff x="1127894" y="1833524"/>
            <a:chExt cx="9534789" cy="2199817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2BF84AB-A136-71B5-BB7F-5C509333C2AA}"/>
                </a:ext>
              </a:extLst>
            </p:cNvPr>
            <p:cNvSpPr/>
            <p:nvPr/>
          </p:nvSpPr>
          <p:spPr>
            <a:xfrm>
              <a:off x="1127894" y="2210444"/>
              <a:ext cx="3295650" cy="1445976"/>
            </a:xfrm>
            <a:prstGeom prst="roundRect">
              <a:avLst/>
            </a:prstGeom>
            <a:solidFill>
              <a:srgbClr val="DDF8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5</a:t>
              </a:r>
              <a:r>
                <a:rPr lang="ko-KR" altLang="en-US" b="1" dirty="0">
                  <a:solidFill>
                    <a:schemeClr val="tx1"/>
                  </a:solidFill>
                </a:rPr>
                <a:t>단계</a:t>
              </a:r>
              <a:endParaRPr lang="en-US" altLang="ko-KR" b="1" dirty="0">
                <a:solidFill>
                  <a:schemeClr val="tx1"/>
                </a:solidFill>
              </a:endParaRPr>
            </a:p>
            <a:p>
              <a:pPr algn="ctr"/>
              <a:endParaRPr lang="en-US" altLang="ko-KR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i="1" dirty="0">
                  <a:solidFill>
                    <a:schemeClr val="tx1"/>
                  </a:solidFill>
                </a:rPr>
                <a:t>Spearman’s correlation </a:t>
              </a:r>
              <a:r>
                <a:rPr lang="en-US" altLang="ko-KR" i="1" dirty="0" err="1">
                  <a:solidFill>
                    <a:schemeClr val="tx1"/>
                  </a:solidFill>
                </a:rPr>
                <a:t>coeff</a:t>
              </a:r>
              <a:r>
                <a:rPr lang="en-US" altLang="ko-KR" i="1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연관성 낮은 </a:t>
              </a:r>
              <a:r>
                <a:rPr lang="en-US" altLang="ko-KR" dirty="0">
                  <a:solidFill>
                    <a:schemeClr val="tx1"/>
                  </a:solidFill>
                </a:rPr>
                <a:t>column </a:t>
              </a:r>
              <a:r>
                <a:rPr lang="ko-KR" altLang="en-US" dirty="0">
                  <a:solidFill>
                    <a:schemeClr val="tx1"/>
                  </a:solidFill>
                </a:rPr>
                <a:t>삭제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367A243-5F31-3567-6F51-244A0620B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8788" r="89947">
                          <a14:foregroundMark x1="8855" y1="39494" x2="8788" y2="4493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25" t="23030" r="7425" b="13019"/>
            <a:stretch>
              <a:fillRect/>
            </a:stretch>
          </p:blipFill>
          <p:spPr>
            <a:xfrm>
              <a:off x="5093662" y="1833524"/>
              <a:ext cx="5569021" cy="2199817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CFEFED0-2F8D-CE48-0822-49390EBB38C2}"/>
              </a:ext>
            </a:extLst>
          </p:cNvPr>
          <p:cNvGrpSpPr/>
          <p:nvPr/>
        </p:nvGrpSpPr>
        <p:grpSpPr>
          <a:xfrm>
            <a:off x="1328606" y="4270610"/>
            <a:ext cx="9534789" cy="2406979"/>
            <a:chOff x="1127894" y="4242902"/>
            <a:chExt cx="9534789" cy="240697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CA3E45EB-EAE2-39C4-8CBE-844113F07CFA}"/>
                </a:ext>
              </a:extLst>
            </p:cNvPr>
            <p:cNvSpPr/>
            <p:nvPr/>
          </p:nvSpPr>
          <p:spPr>
            <a:xfrm>
              <a:off x="1127894" y="4723403"/>
              <a:ext cx="3295650" cy="1445976"/>
            </a:xfrm>
            <a:prstGeom prst="roundRect">
              <a:avLst/>
            </a:prstGeom>
            <a:solidFill>
              <a:srgbClr val="DDF8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6</a:t>
              </a:r>
              <a:r>
                <a:rPr lang="ko-KR" altLang="en-US" b="1" dirty="0">
                  <a:solidFill>
                    <a:schemeClr val="tx1"/>
                  </a:solidFill>
                </a:rPr>
                <a:t>단계</a:t>
              </a:r>
              <a:endParaRPr lang="en-US" altLang="ko-KR" b="1" dirty="0">
                <a:solidFill>
                  <a:schemeClr val="tx1"/>
                </a:solidFill>
              </a:endParaRPr>
            </a:p>
            <a:p>
              <a:pPr algn="ctr"/>
              <a:endParaRPr lang="en-US" altLang="ko-KR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파생변수 생성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(</a:t>
              </a:r>
              <a:r>
                <a:rPr lang="ko-KR" altLang="en-US" dirty="0">
                  <a:solidFill>
                    <a:schemeClr val="tx1"/>
                  </a:solidFill>
                </a:rPr>
                <a:t>날짜 </a:t>
              </a:r>
              <a:r>
                <a:rPr lang="en-US" altLang="ko-KR" dirty="0">
                  <a:solidFill>
                    <a:schemeClr val="tx1"/>
                  </a:solidFill>
                </a:rPr>
                <a:t>encoding)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7EC695B-E387-A9C7-2542-7CCF381D4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93" t="21267" r="7216" b="13131"/>
            <a:stretch>
              <a:fillRect/>
            </a:stretch>
          </p:blipFill>
          <p:spPr>
            <a:xfrm>
              <a:off x="5093662" y="4242902"/>
              <a:ext cx="5569021" cy="2406979"/>
            </a:xfrm>
            <a:prstGeom prst="rect">
              <a:avLst/>
            </a:prstGeom>
          </p:spPr>
        </p:pic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DC51C44-34BA-B380-EAAC-DB044A06799A}"/>
              </a:ext>
            </a:extLst>
          </p:cNvPr>
          <p:cNvCxnSpPr>
            <a:cxnSpLocks/>
          </p:cNvCxnSpPr>
          <p:nvPr/>
        </p:nvCxnSpPr>
        <p:spPr>
          <a:xfrm>
            <a:off x="591127" y="4152333"/>
            <a:ext cx="1112058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41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378F2-93AE-C101-AD8D-DEFCBF5A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386669-4DBF-F31B-7138-6414E05E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11</a:t>
            </a:fld>
            <a:endParaRPr lang="ko-KR" altLang="en-US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D84CFEE-BE85-393A-D76C-979164329FE2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5BE67AB-DF98-0717-7BB6-DAC182BA3B39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0DDDA9-F52F-FEA9-AB2D-542495834C84}"/>
              </a:ext>
            </a:extLst>
          </p:cNvPr>
          <p:cNvSpPr txBox="1"/>
          <p:nvPr/>
        </p:nvSpPr>
        <p:spPr>
          <a:xfrm>
            <a:off x="664358" y="1197015"/>
            <a:ext cx="472967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Single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stage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Bi-directional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LSTM</a:t>
            </a: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712222C7-3E01-7048-CEAC-F7ADC441E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21" y="1936908"/>
            <a:ext cx="4966824" cy="4624874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01BEC4E6-B2C6-FA11-4D4D-7484B8DE9C70}"/>
              </a:ext>
            </a:extLst>
          </p:cNvPr>
          <p:cNvSpPr txBox="1"/>
          <p:nvPr/>
        </p:nvSpPr>
        <p:spPr>
          <a:xfrm>
            <a:off x="6734844" y="1778946"/>
            <a:ext cx="4803934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고정된 학습 형태</a:t>
            </a:r>
            <a:endParaRPr lang="en-US" altLang="ko-KR" sz="2000" b="1" dirty="0">
              <a:latin typeface="+mj-lt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예</a:t>
            </a: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) 2</a:t>
            </a: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주간의 기상 변수들</a:t>
            </a: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(X)</a:t>
            </a: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로 </a:t>
            </a:r>
            <a:r>
              <a:rPr lang="en-US" altLang="ko-KR" sz="2000" b="1" dirty="0">
                <a:solidFill>
                  <a:srgbClr val="FF0000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3</a:t>
            </a:r>
            <a:r>
              <a:rPr lang="ko-KR" altLang="en-US" sz="2000" b="1" dirty="0">
                <a:solidFill>
                  <a:srgbClr val="FF0000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일 뒤의 </a:t>
            </a: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일평균 기온</a:t>
            </a: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(Y)</a:t>
            </a: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을 예측해줘</a:t>
            </a:r>
            <a:endParaRPr lang="en-US" altLang="ko-KR"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8" name="화살표: 아래쪽 87">
            <a:extLst>
              <a:ext uri="{FF2B5EF4-FFF2-40B4-BE49-F238E27FC236}">
                <a16:creationId xmlns:a16="http://schemas.microsoft.com/office/drawing/2014/main" id="{71ABD9CB-3C28-4387-21FF-88D8AC042391}"/>
              </a:ext>
            </a:extLst>
          </p:cNvPr>
          <p:cNvSpPr/>
          <p:nvPr/>
        </p:nvSpPr>
        <p:spPr>
          <a:xfrm>
            <a:off x="8257309" y="3461895"/>
            <a:ext cx="1459345" cy="350982"/>
          </a:xfrm>
          <a:prstGeom prst="downArrow">
            <a:avLst/>
          </a:prstGeom>
          <a:solidFill>
            <a:srgbClr val="B6F0E4"/>
          </a:solidFill>
          <a:ln>
            <a:solidFill>
              <a:srgbClr val="26A6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0" name="그래픽 89" descr="사용자 단색으로 채워진">
            <a:extLst>
              <a:ext uri="{FF2B5EF4-FFF2-40B4-BE49-F238E27FC236}">
                <a16:creationId xmlns:a16="http://schemas.microsoft.com/office/drawing/2014/main" id="{91AF42A3-1855-932C-65B9-D47137AD1D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4917130"/>
            <a:ext cx="1644652" cy="1644652"/>
          </a:xfrm>
          <a:prstGeom prst="rect">
            <a:avLst/>
          </a:prstGeom>
        </p:spPr>
      </p:pic>
      <p:sp>
        <p:nvSpPr>
          <p:cNvPr id="91" name="생각 풍선: 구름 모양 90">
            <a:extLst>
              <a:ext uri="{FF2B5EF4-FFF2-40B4-BE49-F238E27FC236}">
                <a16:creationId xmlns:a16="http://schemas.microsoft.com/office/drawing/2014/main" id="{6BD93C14-3D6C-9C76-51BC-3A42E7ED91F0}"/>
              </a:ext>
            </a:extLst>
          </p:cNvPr>
          <p:cNvSpPr/>
          <p:nvPr/>
        </p:nvSpPr>
        <p:spPr>
          <a:xfrm>
            <a:off x="7510032" y="3997604"/>
            <a:ext cx="4221019" cy="1472582"/>
          </a:xfrm>
          <a:prstGeom prst="cloudCallout">
            <a:avLst>
              <a:gd name="adj1" fmla="val -53683"/>
              <a:gd name="adj2" fmla="val 491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나는 </a:t>
            </a:r>
            <a:r>
              <a:rPr lang="en-US" altLang="ko-KR" dirty="0">
                <a:solidFill>
                  <a:sysClr val="windowText" lastClr="000000"/>
                </a:solidFill>
              </a:rPr>
              <a:t>30</a:t>
            </a:r>
            <a:r>
              <a:rPr lang="ko-KR" altLang="en-US" dirty="0">
                <a:solidFill>
                  <a:sysClr val="windowText" lastClr="000000"/>
                </a:solidFill>
              </a:rPr>
              <a:t>일 뒤에 출발이라 </a:t>
            </a:r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r>
              <a:rPr lang="ko-KR" altLang="en-US" dirty="0">
                <a:solidFill>
                  <a:sysClr val="windowText" lastClr="000000"/>
                </a:solidFill>
              </a:rPr>
              <a:t>일 뒤의 예측 값은 필요가 없는데</a:t>
            </a:r>
            <a:r>
              <a:rPr lang="en-US" altLang="ko-KR" dirty="0">
                <a:solidFill>
                  <a:sysClr val="windowText" lastClr="000000"/>
                </a:solidFill>
              </a:rPr>
              <a:t>?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744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1673-A8AC-C28A-6C76-8E959D51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5A825-E548-DA6D-4308-E5AAC331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4EC0C5B-2B3E-DC20-12A5-F31F30A47B26}"/>
              </a:ext>
            </a:extLst>
          </p:cNvPr>
          <p:cNvGrpSpPr/>
          <p:nvPr/>
        </p:nvGrpSpPr>
        <p:grpSpPr>
          <a:xfrm>
            <a:off x="532282" y="1948873"/>
            <a:ext cx="11051237" cy="4268995"/>
            <a:chOff x="608482" y="1948873"/>
            <a:chExt cx="11051237" cy="4268995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FE19EEF-8EE8-B0B1-12A5-A623E6511C9C}"/>
                </a:ext>
              </a:extLst>
            </p:cNvPr>
            <p:cNvCxnSpPr>
              <a:cxnSpLocks/>
            </p:cNvCxnSpPr>
            <p:nvPr/>
          </p:nvCxnSpPr>
          <p:spPr>
            <a:xfrm>
              <a:off x="4967990" y="1948873"/>
              <a:ext cx="0" cy="4268995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9B2D7806-C341-A198-08D6-0325F9C9A8D6}"/>
                </a:ext>
              </a:extLst>
            </p:cNvPr>
            <p:cNvSpPr/>
            <p:nvPr/>
          </p:nvSpPr>
          <p:spPr>
            <a:xfrm>
              <a:off x="608482" y="2174786"/>
              <a:ext cx="477305" cy="315464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X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305E7D6E-F491-3741-1735-EDB782E172AE}"/>
                </a:ext>
              </a:extLst>
            </p:cNvPr>
            <p:cNvSpPr/>
            <p:nvPr/>
          </p:nvSpPr>
          <p:spPr>
            <a:xfrm>
              <a:off x="1286662" y="2183596"/>
              <a:ext cx="1826931" cy="3147812"/>
            </a:xfrm>
            <a:prstGeom prst="roundRect">
              <a:avLst/>
            </a:prstGeom>
            <a:solidFill>
              <a:srgbClr val="DDF8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Bi-directional LSTM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B416D47-B5BE-BB9F-C71E-83211B2E9141}"/>
                </a:ext>
              </a:extLst>
            </p:cNvPr>
            <p:cNvSpPr/>
            <p:nvPr/>
          </p:nvSpPr>
          <p:spPr>
            <a:xfrm>
              <a:off x="5215914" y="2183596"/>
              <a:ext cx="3819279" cy="1458935"/>
            </a:xfrm>
            <a:prstGeom prst="roundRect">
              <a:avLst/>
            </a:prstGeom>
            <a:solidFill>
              <a:srgbClr val="DDF8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Bi-directional</a:t>
              </a:r>
              <a:br>
                <a:rPr lang="en-US" altLang="ko-KR" b="1">
                  <a:solidFill>
                    <a:schemeClr val="tx1"/>
                  </a:solidFill>
                </a:rPr>
              </a:br>
              <a:r>
                <a:rPr lang="en-US" altLang="ko-KR" b="1">
                  <a:solidFill>
                    <a:schemeClr val="tx1"/>
                  </a:solidFill>
                </a:rPr>
                <a:t>LSTM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BC52569-520A-3DBE-6DAA-EF3BAE3D1F48}"/>
                </a:ext>
              </a:extLst>
            </p:cNvPr>
            <p:cNvSpPr/>
            <p:nvPr/>
          </p:nvSpPr>
          <p:spPr>
            <a:xfrm>
              <a:off x="6859009" y="3872473"/>
              <a:ext cx="2176188" cy="1458935"/>
            </a:xfrm>
            <a:prstGeom prst="roundRect">
              <a:avLst/>
            </a:prstGeom>
            <a:solidFill>
              <a:srgbClr val="A2EC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LightGBM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00BF3EE-E938-A316-46C7-FC4802ADA97A}"/>
                </a:ext>
              </a:extLst>
            </p:cNvPr>
            <p:cNvSpPr/>
            <p:nvPr/>
          </p:nvSpPr>
          <p:spPr>
            <a:xfrm>
              <a:off x="5215914" y="3872473"/>
              <a:ext cx="1430160" cy="1458935"/>
            </a:xfrm>
            <a:prstGeom prst="roundRect">
              <a:avLst/>
            </a:prstGeom>
            <a:solidFill>
              <a:srgbClr val="A2EC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Derived</a:t>
              </a:r>
              <a:br>
                <a:rPr lang="en-US" altLang="ko-KR" b="1">
                  <a:solidFill>
                    <a:schemeClr val="tx1"/>
                  </a:solidFill>
                </a:rPr>
              </a:br>
              <a:r>
                <a:rPr lang="en-US" altLang="ko-KR" b="1">
                  <a:solidFill>
                    <a:schemeClr val="tx1"/>
                  </a:solidFill>
                </a:rPr>
                <a:t>Feature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8F7EBB3C-BA3B-85AB-ECCD-28C17E73768A}"/>
                </a:ext>
              </a:extLst>
            </p:cNvPr>
            <p:cNvSpPr/>
            <p:nvPr/>
          </p:nvSpPr>
          <p:spPr>
            <a:xfrm>
              <a:off x="9375029" y="2183596"/>
              <a:ext cx="1441406" cy="314781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Dense</a:t>
              </a:r>
              <a:br>
                <a:rPr lang="en-US" altLang="ko-KR" b="1">
                  <a:solidFill>
                    <a:schemeClr val="tx1"/>
                  </a:solidFill>
                </a:rPr>
              </a:br>
              <a:r>
                <a:rPr lang="en-US" altLang="ko-KR" b="1">
                  <a:solidFill>
                    <a:schemeClr val="tx1"/>
                  </a:solidFill>
                </a:rPr>
                <a:t>stacking</a:t>
              </a:r>
            </a:p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layer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E789198-F97E-2D08-2885-8AFC26DA60C9}"/>
                </a:ext>
              </a:extLst>
            </p:cNvPr>
            <p:cNvSpPr/>
            <p:nvPr/>
          </p:nvSpPr>
          <p:spPr>
            <a:xfrm>
              <a:off x="11156271" y="2183595"/>
              <a:ext cx="503448" cy="314781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Y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C43488B-0DC1-4CB1-1D47-2A4F267D3AD5}"/>
                </a:ext>
              </a:extLst>
            </p:cNvPr>
            <p:cNvSpPr/>
            <p:nvPr/>
          </p:nvSpPr>
          <p:spPr>
            <a:xfrm>
              <a:off x="3326529" y="2186334"/>
              <a:ext cx="1416922" cy="314568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Recursive</a:t>
              </a:r>
            </a:p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predicted</a:t>
              </a:r>
            </a:p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X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A1454AF-2230-8885-DA23-929882369F51}"/>
              </a:ext>
            </a:extLst>
          </p:cNvPr>
          <p:cNvSpPr txBox="1"/>
          <p:nvPr/>
        </p:nvSpPr>
        <p:spPr>
          <a:xfrm>
            <a:off x="1162144" y="5501366"/>
            <a:ext cx="2895506" cy="882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Stage 1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기상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변수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(X)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재귀 예측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B8CF71-4B3A-8CD4-0115-2A55882071A7}"/>
              </a:ext>
            </a:extLst>
          </p:cNvPr>
          <p:cNvSpPr txBox="1"/>
          <p:nvPr/>
        </p:nvSpPr>
        <p:spPr>
          <a:xfrm>
            <a:off x="7032607" y="5501366"/>
            <a:ext cx="2895506" cy="882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Stage 2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Y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예측 앙상블 모델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F88C1E9-7628-21FA-5704-FAAE6F32E4DB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82666AA-FC64-013A-6E96-3D0F70E84BB6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9AACB0-37BC-4A03-2864-CDD78A88CD83}"/>
              </a:ext>
            </a:extLst>
          </p:cNvPr>
          <p:cNvSpPr txBox="1"/>
          <p:nvPr/>
        </p:nvSpPr>
        <p:spPr>
          <a:xfrm>
            <a:off x="664358" y="1197015"/>
            <a:ext cx="467426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Multi-stage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Model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4136857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617B8-5520-42EE-3E86-F1FCD7B1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384EBE-AC67-A542-A17A-CA8D0F8CC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4D5FFC-E0FB-9197-E4F5-0FA051DAFC11}"/>
                  </a:ext>
                </a:extLst>
              </p:cNvPr>
              <p:cNvSpPr txBox="1"/>
              <p:nvPr/>
            </p:nvSpPr>
            <p:spPr>
              <a:xfrm>
                <a:off x="6968230" y="4646865"/>
                <a:ext cx="4887159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정해진 </a:t>
                </a:r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time step(14</a:t>
                </a: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일</a:t>
                </a:r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</a:t>
                </a: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의 </a:t>
                </a:r>
                <a:endParaRPr lang="en-US" altLang="ko-KR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기상변수</a:t>
                </a:r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−13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−12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</a:t>
                </a: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와</a:t>
                </a:r>
                <a:endParaRPr lang="en-US" altLang="ko-KR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다음날의 기상변수</a:t>
                </a:r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</a:t>
                </a: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간의 관계를 학습</a:t>
                </a:r>
                <a:endParaRPr lang="en-US" altLang="ko-KR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4D5FFC-E0FB-9197-E4F5-0FA051DAF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230" y="4646865"/>
                <a:ext cx="4887159" cy="1292662"/>
              </a:xfrm>
              <a:prstGeom prst="rect">
                <a:avLst/>
              </a:prstGeom>
              <a:blipFill>
                <a:blip r:embed="rId2"/>
                <a:stretch>
                  <a:fillRect l="-998" b="-70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CBA8FB-73BD-8657-B37C-1F65478A9071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C56552-BAA3-494A-31FC-A42850D13191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89D995-50C3-7EDC-1BC3-1F3B7D7D1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3" t="19087" r="7673" b="10469"/>
          <a:stretch>
            <a:fillRect/>
          </a:stretch>
        </p:blipFill>
        <p:spPr>
          <a:xfrm>
            <a:off x="168831" y="1499435"/>
            <a:ext cx="6319508" cy="38994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381E1E1-A63B-D3C5-C9DA-E60ED426DAF0}"/>
              </a:ext>
            </a:extLst>
          </p:cNvPr>
          <p:cNvSpPr txBox="1"/>
          <p:nvPr/>
        </p:nvSpPr>
        <p:spPr>
          <a:xfrm>
            <a:off x="321231" y="5762273"/>
            <a:ext cx="4660806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기상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변수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(X)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재귀 예측 모델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코드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10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년치의 데이터를 기반으로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(14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time step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을 적용하여 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다음날의 기상 변수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(X)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를 예측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114761BD-DB4C-C8DC-CB5B-08633D0B3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994" y="1689405"/>
            <a:ext cx="3738681" cy="2254321"/>
          </a:xfrm>
          <a:prstGeom prst="rect">
            <a:avLst/>
          </a:prstGeom>
        </p:spPr>
      </p:pic>
      <p:pic>
        <p:nvPicPr>
          <p:cNvPr id="102" name="그림 101">
            <a:extLst>
              <a:ext uri="{FF2B5EF4-FFF2-40B4-BE49-F238E27FC236}">
                <a16:creationId xmlns:a16="http://schemas.microsoft.com/office/drawing/2014/main" id="{A173ED8D-9501-9C12-CFBB-D6BD5AA3A5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5678" y="72183"/>
            <a:ext cx="3017693" cy="975433"/>
          </a:xfrm>
          <a:prstGeom prst="rect">
            <a:avLst/>
          </a:prstGeom>
        </p:spPr>
      </p:pic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E5B2C15B-74A3-982D-9313-1E868A3FBDC2}"/>
              </a:ext>
            </a:extLst>
          </p:cNvPr>
          <p:cNvSpPr/>
          <p:nvPr/>
        </p:nvSpPr>
        <p:spPr>
          <a:xfrm>
            <a:off x="7989409" y="65678"/>
            <a:ext cx="1202216" cy="981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579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6F58A-B348-5347-C640-05DC97C3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8BF528-F925-190B-9DBC-D5AE75B5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14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066F64E-51C4-4F13-0BB0-9C5C0C3FCA35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4C69BD-FBD7-5DEF-E8DB-546B604EB3D5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2DD6827-18C6-62CF-DB81-9F27A83F3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678" y="72183"/>
            <a:ext cx="3017693" cy="97543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BD5659-91D9-FB2E-F754-FAE90234CAD2}"/>
              </a:ext>
            </a:extLst>
          </p:cNvPr>
          <p:cNvSpPr/>
          <p:nvPr/>
        </p:nvSpPr>
        <p:spPr>
          <a:xfrm>
            <a:off x="9249045" y="569119"/>
            <a:ext cx="1120505" cy="454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675A7B0-C54C-BE8E-9EA2-3A5A0BF95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59" t="24086" r="12059" b="14223"/>
          <a:stretch>
            <a:fillRect/>
          </a:stretch>
        </p:blipFill>
        <p:spPr>
          <a:xfrm>
            <a:off x="7960571" y="1380558"/>
            <a:ext cx="4003099" cy="282532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24D921B-9436-F973-C760-443ACAD35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4" t="13447" r="5855" b="8360"/>
          <a:stretch>
            <a:fillRect/>
          </a:stretch>
        </p:blipFill>
        <p:spPr>
          <a:xfrm>
            <a:off x="161925" y="1380558"/>
            <a:ext cx="7639050" cy="47837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544ACD9-98B4-7B2B-89DB-FF3DD9E3C2D1}"/>
              </a:ext>
            </a:extLst>
          </p:cNvPr>
          <p:cNvSpPr txBox="1"/>
          <p:nvPr/>
        </p:nvSpPr>
        <p:spPr>
          <a:xfrm>
            <a:off x="7892050" y="4776409"/>
            <a:ext cx="42999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재귀예측으로 생성된 기상변수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(X)</a:t>
            </a: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를 바탕으로 파생변수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(LAG-1/365, Rolling, </a:t>
            </a: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일교차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생성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앙상블 모델의 </a:t>
            </a:r>
            <a:r>
              <a:rPr lang="en-US" altLang="ko-KR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LightGBM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regressor</a:t>
            </a: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를 학습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6642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5C368-33D1-40E0-F171-BB63C50F7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3BE7BC-6FB6-13CD-F507-F62777A9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15</a:t>
            </a:fld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1B45956-49C4-2511-80F4-544010443100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C33894E-2EB7-C4F2-5CE9-D0A30A096AF6}"/>
              </a:ext>
            </a:extLst>
          </p:cNvPr>
          <p:cNvSpPr txBox="1"/>
          <p:nvPr/>
        </p:nvSpPr>
        <p:spPr>
          <a:xfrm>
            <a:off x="321231" y="208112"/>
            <a:ext cx="9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0A3981"/>
                </a:solidFill>
                <a:latin typeface="Malgun Gothic"/>
              </a:defRPr>
            </a:pPr>
            <a:r>
              <a:t>CI/CD – GitHub Actions &amp; Docker 무중단 자동 배포 파이프라인</a:t>
            </a:r>
          </a:p>
        </p:txBody>
      </p:sp>
      <p:pic>
        <p:nvPicPr>
          <p:cNvPr id="5" name="Picture 4" descr="slide_15_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00" y="1220000"/>
            <a:ext cx="11552000" cy="54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53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DE87D-40C8-D195-C76B-EB8B506A5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CBAA70-18DC-1D20-A354-F5C2CE37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16</a:t>
            </a:fld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12FA2E2-2525-5746-5A6B-F6228B184215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B336F5-5C37-E596-D925-EF85BF424B74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6F8A2-CC47-97FC-7A14-2C05E7EB19C8}"/>
              </a:ext>
            </a:extLst>
          </p:cNvPr>
          <p:cNvSpPr txBox="1"/>
          <p:nvPr/>
        </p:nvSpPr>
        <p:spPr>
          <a:xfrm>
            <a:off x="664358" y="1197015"/>
            <a:ext cx="467426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Model performance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B74998-61AD-DC0D-6F5E-CDCCBEF14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9" y="1842050"/>
            <a:ext cx="2918125" cy="45016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7A89C3-D04E-DFA6-D9E0-04D5B3D070EF}"/>
              </a:ext>
            </a:extLst>
          </p:cNvPr>
          <p:cNvSpPr txBox="1"/>
          <p:nvPr/>
        </p:nvSpPr>
        <p:spPr>
          <a:xfrm>
            <a:off x="870398" y="6374163"/>
            <a:ext cx="2895506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강릉 </a:t>
            </a:r>
            <a:r>
              <a:rPr lang="en-US" altLang="ko-KR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– </a:t>
            </a:r>
            <a:r>
              <a:rPr lang="ko-KR" altLang="en-US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일 최고기온 </a:t>
            </a:r>
            <a:r>
              <a:rPr lang="en-US" altLang="ko-KR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ko-KR" altLang="en-US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℃</a:t>
            </a:r>
            <a:r>
              <a:rPr lang="en-US" altLang="ko-KR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en-US" altLang="ko-KR" sz="11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5570D27-880A-A950-E14E-FB6779AB6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303" y="1842050"/>
            <a:ext cx="2918125" cy="45016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56430D-7D73-D016-1E7A-86E288BC5FA2}"/>
              </a:ext>
            </a:extLst>
          </p:cNvPr>
          <p:cNvSpPr txBox="1"/>
          <p:nvPr/>
        </p:nvSpPr>
        <p:spPr>
          <a:xfrm>
            <a:off x="4647612" y="6374163"/>
            <a:ext cx="2895506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서울 </a:t>
            </a:r>
            <a:r>
              <a:rPr lang="en-US" altLang="ko-KR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– </a:t>
            </a:r>
            <a:r>
              <a:rPr lang="ko-KR" altLang="en-US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일 평균기온 </a:t>
            </a:r>
            <a:r>
              <a:rPr lang="en-US" altLang="ko-KR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ko-KR" altLang="en-US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℃</a:t>
            </a:r>
            <a:r>
              <a:rPr lang="en-US" altLang="ko-KR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en-US" altLang="ko-KR" sz="11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6E91C54-87BC-AB31-BE05-686D88E78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517" y="1841071"/>
            <a:ext cx="2919394" cy="4503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12F8F3B-5764-A913-B09F-AD7E8892D87F}"/>
              </a:ext>
            </a:extLst>
          </p:cNvPr>
          <p:cNvSpPr txBox="1"/>
          <p:nvPr/>
        </p:nvSpPr>
        <p:spPr>
          <a:xfrm>
            <a:off x="8425461" y="6374163"/>
            <a:ext cx="2895506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제주 </a:t>
            </a:r>
            <a:r>
              <a:rPr lang="en-US" altLang="ko-KR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– </a:t>
            </a:r>
            <a:r>
              <a:rPr lang="ko-KR" altLang="en-US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일 평균기온 </a:t>
            </a:r>
            <a:r>
              <a:rPr lang="en-US" altLang="ko-KR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ko-KR" altLang="en-US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℃</a:t>
            </a:r>
            <a:r>
              <a:rPr lang="en-US" altLang="ko-KR" sz="1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en-US" altLang="ko-KR" sz="11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569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F2BD-723D-0A98-A890-134F0EB3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D2319E-49B1-F71D-5603-D363EB06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17</a:t>
            </a:fld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93F3DD2-AAF1-719F-9045-CF1DA461D938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F175DF-A53B-8792-C18A-06D53BADED40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4E7C1-24F3-2572-E739-827F86B59D78}"/>
              </a:ext>
            </a:extLst>
          </p:cNvPr>
          <p:cNvSpPr txBox="1"/>
          <p:nvPr/>
        </p:nvSpPr>
        <p:spPr>
          <a:xfrm>
            <a:off x="664358" y="1197015"/>
            <a:ext cx="467426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910350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8052-71C6-EF7A-87DF-72CB1C8A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0171FFF-FF56-4F75-F6DE-6DFC66207588}"/>
              </a:ext>
            </a:extLst>
          </p:cNvPr>
          <p:cNvSpPr txBox="1"/>
          <p:nvPr/>
        </p:nvSpPr>
        <p:spPr>
          <a:xfrm>
            <a:off x="4960071" y="3136613"/>
            <a:ext cx="2271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333F7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rPr>
              <a:t>Q&amp;A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52617C6-59A6-BCA5-827C-CF260F96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57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0DE8-DEFC-A1AD-0AE0-AA5B7342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6D6D3C4-C08E-7BFC-BF6D-5653BE893AA2}"/>
              </a:ext>
            </a:extLst>
          </p:cNvPr>
          <p:cNvSpPr txBox="1"/>
          <p:nvPr/>
        </p:nvSpPr>
        <p:spPr>
          <a:xfrm>
            <a:off x="4960071" y="3136613"/>
            <a:ext cx="2271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rPr>
              <a:t>감사합니다</a:t>
            </a:r>
            <a:endParaRPr lang="en-US" altLang="ko-KR" sz="3200" b="1" dirty="0">
              <a:solidFill>
                <a:srgbClr val="333F7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DLaM Display" panose="02010000000000000000" pitchFamily="2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4DB2DF-648F-9E80-3E57-23BE888D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841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C8CF-7502-261F-B0BF-62FC1D77D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4FD551-E534-199A-131E-453C4CCD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20</a:t>
            </a:fld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EDADB96-7C47-0EED-6A0E-2FBD8B6F752D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489754-D391-024C-8AC6-BA71A3E20735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634166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2F035-5072-E220-9039-8C1621C4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3E5282-84E1-358D-7B63-87FD648B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21</a:t>
            </a:fld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224AF07-EC2D-F397-E991-31C61A8F48B0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C9FF2F8-C8D8-4918-F20C-67EAE97F94C8}"/>
              </a:ext>
            </a:extLst>
          </p:cNvPr>
          <p:cNvSpPr txBox="1"/>
          <p:nvPr/>
        </p:nvSpPr>
        <p:spPr>
          <a:xfrm>
            <a:off x="321230" y="208112"/>
            <a:ext cx="9127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 – E2E </a:t>
            </a:r>
            <a:r>
              <a:rPr lang="ko-KR" altLang="en-US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비즈니스 파이프라인</a:t>
            </a:r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A72DD7-849A-7082-25EC-DAA055BD0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7" b="4297"/>
          <a:stretch>
            <a:fillRect/>
          </a:stretch>
        </p:blipFill>
        <p:spPr>
          <a:xfrm>
            <a:off x="0" y="1212273"/>
            <a:ext cx="12192000" cy="564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67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9CA9B-413D-BD5E-EBF9-EA1A81721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262871-87F3-9F2D-234F-6D838D33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22</a:t>
            </a:fld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3BC110A-BF06-08D8-8A01-DC2D7F18254C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6E07C3-AAC9-FA87-6DFF-139119908234}"/>
              </a:ext>
            </a:extLst>
          </p:cNvPr>
          <p:cNvSpPr txBox="1"/>
          <p:nvPr/>
        </p:nvSpPr>
        <p:spPr>
          <a:xfrm>
            <a:off x="321230" y="208112"/>
            <a:ext cx="9127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 – CI/CD </a:t>
            </a:r>
            <a:r>
              <a:rPr lang="ko-KR" altLang="en-US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자동배포</a:t>
            </a:r>
            <a:endParaRPr lang="en-US" altLang="ko-KR" sz="4000" b="1" dirty="0">
              <a:solidFill>
                <a:srgbClr val="333F70"/>
              </a:solidFill>
              <a:latin typeface="맑은 고딕" panose="020B0503020000020004" pitchFamily="50" charset="-127"/>
              <a:cs typeface="ADLaM Display" panose="02010000000000000000" pitchFamily="2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AE5145-3196-7FFB-99AF-6D72D88C5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67" b="4797"/>
          <a:stretch>
            <a:fillRect/>
          </a:stretch>
        </p:blipFill>
        <p:spPr>
          <a:xfrm>
            <a:off x="0" y="1250372"/>
            <a:ext cx="12192000" cy="560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123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D4FC9-CF5B-01A3-D548-14FD4438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F16CF20-6E03-B9FC-4358-298E3FBD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23</a:t>
            </a:fld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4112D3E-757E-6E40-ECA3-6211545393C0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1F25770-B3AD-E576-9272-97278FB23DF8}"/>
              </a:ext>
            </a:extLst>
          </p:cNvPr>
          <p:cNvSpPr txBox="1"/>
          <p:nvPr/>
        </p:nvSpPr>
        <p:spPr>
          <a:xfrm>
            <a:off x="321230" y="208112"/>
            <a:ext cx="9127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 – 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기상예측 </a:t>
            </a:r>
            <a:r>
              <a:rPr lang="en-US" altLang="ko-KR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&amp;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 맞춤 코스 추천</a:t>
            </a:r>
            <a:endParaRPr lang="en-US" altLang="ko-KR" sz="4000" b="1" dirty="0">
              <a:solidFill>
                <a:srgbClr val="333F70"/>
              </a:solidFill>
              <a:latin typeface="맑은 고딕" panose="020B0503020000020004" pitchFamily="50" charset="-127"/>
              <a:cs typeface="ADLaM Display" panose="02010000000000000000" pitchFamily="2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3D23CB8-B87C-5174-E7D7-B7E582AFE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8" b="5108"/>
          <a:stretch>
            <a:fillRect/>
          </a:stretch>
        </p:blipFill>
        <p:spPr>
          <a:xfrm>
            <a:off x="0" y="1214583"/>
            <a:ext cx="12192000" cy="564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9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F48F-D69F-57A7-F0E6-AB130F27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FE70AF0-DCDB-AF43-DD02-A5D7331E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24</a:t>
            </a:fld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6AE13C3-A697-FE3D-8501-AC6A786B8281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8753FF-E7A8-B06D-349C-D490229905F0}"/>
              </a:ext>
            </a:extLst>
          </p:cNvPr>
          <p:cNvSpPr txBox="1"/>
          <p:nvPr/>
        </p:nvSpPr>
        <p:spPr>
          <a:xfrm>
            <a:off x="321230" y="208112"/>
            <a:ext cx="9127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 – 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경로 최적화</a:t>
            </a:r>
            <a:r>
              <a:rPr lang="en-US" altLang="ko-KR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 &amp; 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명소 큐레이션 </a:t>
            </a:r>
            <a:endParaRPr lang="en-US" altLang="ko-KR" sz="3200" b="1" dirty="0">
              <a:solidFill>
                <a:srgbClr val="333F70"/>
              </a:solidFill>
              <a:latin typeface="맑은 고딕" panose="020B0503020000020004" pitchFamily="50" charset="-127"/>
              <a:cs typeface="ADLaM Display" panose="02010000000000000000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060173-033A-FB07-76C0-48C4803E9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5" b="4409"/>
          <a:stretch>
            <a:fillRect/>
          </a:stretch>
        </p:blipFill>
        <p:spPr>
          <a:xfrm>
            <a:off x="0" y="1155702"/>
            <a:ext cx="12192000" cy="570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63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9375-0449-925C-1137-2BD7FA1B0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DA1F8E-3A9F-7B3B-CD3D-EC6F9E2C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25</a:t>
            </a:fld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32F1A4-CDC3-00CA-4657-FF293E767BA8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F92082-BEEB-7703-34C6-941C161CA0A0}"/>
              </a:ext>
            </a:extLst>
          </p:cNvPr>
          <p:cNvSpPr txBox="1"/>
          <p:nvPr/>
        </p:nvSpPr>
        <p:spPr>
          <a:xfrm>
            <a:off x="321230" y="208112"/>
            <a:ext cx="9127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 – </a:t>
            </a:r>
            <a:r>
              <a:rPr lang="en-US" altLang="ko-KR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AI </a:t>
            </a:r>
            <a:r>
              <a:rPr lang="ko-KR" altLang="en-US" sz="3200" b="1" dirty="0" err="1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플래너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 </a:t>
            </a:r>
            <a:r>
              <a:rPr lang="en-US" altLang="ko-KR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&amp; 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지능형 취향 매핑</a:t>
            </a:r>
            <a:endParaRPr lang="en-US" altLang="ko-KR" sz="4000" b="1" dirty="0">
              <a:solidFill>
                <a:srgbClr val="333F70"/>
              </a:solidFill>
              <a:latin typeface="맑은 고딕" panose="020B0503020000020004" pitchFamily="50" charset="-127"/>
              <a:cs typeface="ADLaM Display" panose="02010000000000000000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11B339-FFFC-CBEA-9960-3C9D6852E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2" b="5225"/>
          <a:stretch>
            <a:fillRect/>
          </a:stretch>
        </p:blipFill>
        <p:spPr>
          <a:xfrm>
            <a:off x="0" y="1257300"/>
            <a:ext cx="121920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495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2670</TotalTime>
  <Words>608</Words>
  <Application>Microsoft Office PowerPoint</Application>
  <PresentationFormat>와이드스크린</PresentationFormat>
  <Paragraphs>200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Open Sans</vt:lpstr>
      <vt:lpstr>HY견고딕</vt:lpstr>
      <vt:lpstr>Bauhaus 93</vt:lpstr>
      <vt:lpstr>ADLaM Display</vt:lpstr>
      <vt:lpstr>맑은 고딕</vt:lpstr>
      <vt:lpstr>Cambria Math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jiseok Lee</dc:creator>
  <cp:lastModifiedBy>Admin</cp:lastModifiedBy>
  <cp:revision>13</cp:revision>
  <cp:lastPrinted>2026-10-14T16:54:11Z</cp:lastPrinted>
  <dcterms:created xsi:type="dcterms:W3CDTF">2026-10-12T14:15:51Z</dcterms:created>
  <dcterms:modified xsi:type="dcterms:W3CDTF">2026-10-28T09:44:29Z</dcterms:modified>
</cp:coreProperties>
</file>