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media/image17.svg" ContentType="image/svg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firstSlideNum="0" showSpecialPlsOnTitleSld="0" embedTrueTypeFonts="1">
  <p:sldMasterIdLst>
    <p:sldMasterId id="2147483661" r:id="rId1"/>
  </p:sldMasterIdLst>
  <p:notesMasterIdLst>
    <p:notesMasterId r:id="rId2"/>
  </p:notes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82" r:id="rId33"/>
    <p:sldId id="283" r:id="rId34"/>
    <p:sldId id="284" r:id="rId35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3" r:id="rId20"/>
    <p:sldId id="274" r:id="rId21"/>
    <p:sldId id="275" r:id="rId22"/>
    <p:sldId id="276" r:id="rId23"/>
    <p:sldId id="277" r:id="rId24"/>
    <p:sldId id="278" r:id="rId25"/>
    <p:sldId id="279" r:id="rId26"/>
    <p:sldId id="280" r:id="rId27"/>
    <p:sldId id="281" r:id="rId28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id="{43097E0D-41E1-4BC5-86B9-EB7C636EF6A4}" name="기본 구역">
          <p14:sldIdLst>
            <p14:sldId id="256"/>
            <p14:sldId id="257"/>
            <p14:sldId id="258"/>
            <p14:sldId id="259"/>
            <p14:sldId id="260"/>
            <p14:sldId id="261"/>
            <p14:sldId id="262"/>
            <p14:sldId id="263"/>
            <p14:sldId id="264"/>
            <p14:sldId id="265"/>
            <p14:sldId id="266"/>
            <p14:sldId id="267"/>
            <p14:sldId id="268"/>
            <p14:sldId id="269"/>
            <p14:sldId id="270"/>
            <p14:sldId id="271"/>
            <p14:sldId id="272"/>
            <p14:sldId id="273"/>
            <p14:sldId id="274"/>
            <p14:sldId id="275"/>
          </p14:sldIdLst>
        </p14:section>
        <p14:section id="{277C2D98-1DEE-4BD0-9CF6-A62114A1FC50}" name="Appendix">
          <p14:sldIdLst>
            <p14:sldId id="276"/>
            <p14:sldId id="277"/>
            <p14:sldId id="278"/>
            <p14:sldId id="279"/>
            <p14:sldId id="280"/>
            <p14:sldId id="281"/>
          </p14:sldIdLst>
        </p14:section>
      </p14:sectionLst>
    </p:ext>
  </p:extLst>
</p:presentation>
</file>

<file path=ppt/presProps.xml><?xml version="1.0" encoding="utf-8"?>
<p:presentationPr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/>
</file>

<file path=ppt/tableStyles.xml><?xml version="1.0" encoding="utf-8"?>
<a:tblStyleLst xmlns:r="http://schemas.openxmlformats.org/officeDocument/2006/relationships" xmlns:c="http://schemas.openxmlformats.org/drawingml/2006/chart" xmlns:dgm="http://schemas.openxmlformats.org/drawingml/2006/diagram" xmlns:dsp="http://schemas.microsoft.com/office/drawing/2008/diagram" xmlns:a="http://schemas.openxmlformats.org/drawingml/2006/main" xmlns:pic="http://schemas.openxmlformats.org/drawingml/2006/picture" xmlns:wp="http://schemas.openxmlformats.org/drawingml/2006/wordprocessingDrawing" xmlns:xdr="http://schemas.openxmlformats.org/drawingml/2006/spreadsheetDrawing" xmlns:p="http://schemas.openxmlformats.org/presentation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TxStyle/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TxStyle/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100" d="100"/>
          <a:sy n="100" d="100"/>
        </p:scale>
        <p:origin x="1224" y="726"/>
      </p:cViewPr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slide" Target="slides/slide10.xml"/><Relationship Id="rId13" Type="http://schemas.openxmlformats.org/officeDocument/2006/relationships/slide" Target="slides/slide11.xml"/><Relationship Id="rId14" Type="http://schemas.openxmlformats.org/officeDocument/2006/relationships/slide" Target="slides/slide12.xml"/><Relationship Id="rId15" Type="http://schemas.openxmlformats.org/officeDocument/2006/relationships/slide" Target="slides/slide13.xml"/><Relationship Id="rId16" Type="http://schemas.openxmlformats.org/officeDocument/2006/relationships/slide" Target="slides/slide14.xml"/><Relationship Id="rId17" Type="http://schemas.openxmlformats.org/officeDocument/2006/relationships/slide" Target="slides/slide15.xml"/><Relationship Id="rId18" Type="http://schemas.openxmlformats.org/officeDocument/2006/relationships/slide" Target="slides/slide16.xml"/><Relationship Id="rId19" Type="http://schemas.openxmlformats.org/officeDocument/2006/relationships/slide" Target="slides/slide17.xml"/><Relationship Id="rId20" Type="http://schemas.openxmlformats.org/officeDocument/2006/relationships/slide" Target="slides/slide18.xml"/><Relationship Id="rId21" Type="http://schemas.openxmlformats.org/officeDocument/2006/relationships/slide" Target="slides/slide19.xml"/><Relationship Id="rId22" Type="http://schemas.openxmlformats.org/officeDocument/2006/relationships/slide" Target="slides/slide20.xml"/><Relationship Id="rId23" Type="http://schemas.openxmlformats.org/officeDocument/2006/relationships/slide" Target="slides/slide21.xml"/><Relationship Id="rId24" Type="http://schemas.openxmlformats.org/officeDocument/2006/relationships/slide" Target="slides/slide22.xml"/><Relationship Id="rId25" Type="http://schemas.openxmlformats.org/officeDocument/2006/relationships/slide" Target="slides/slide23.xml"/><Relationship Id="rId26" Type="http://schemas.openxmlformats.org/officeDocument/2006/relationships/slide" Target="slides/slide24.xml"/><Relationship Id="rId27" Type="http://schemas.openxmlformats.org/officeDocument/2006/relationships/slide" Target="slides/slide25.xml"/><Relationship Id="rId28" Type="http://schemas.openxmlformats.org/officeDocument/2006/relationships/slide" Target="slides/slide26.xml"/><Relationship Id="rId29" Type="http://schemas.openxmlformats.org/officeDocument/2006/relationships/presProps" Target="presProps.xml"/><Relationship Id="rId30" Type="http://schemas.openxmlformats.org/officeDocument/2006/relationships/viewProps" Target="viewProps.xml"/><Relationship Id="rId31" Type="http://schemas.openxmlformats.org/officeDocument/2006/relationships/theme" Target="theme/theme1.xml"/><Relationship Id="rId32" Type="http://schemas.openxmlformats.org/officeDocument/2006/relationships/tableStyles" Target="tableStyles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 idx="0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/>
          <a:lstStyle>
            <a:lvl1pPr algn="l">
              <a:defRPr sz="1200"/>
            </a:lvl1pPr>
          </a:lstStyle>
          <a:p>
            <a:pPr lvl="0">
              <a:defRPr/>
            </a:pPr>
            <a:r>
              <a:rPr lang="ko-KR" altLang="en-US"/>
              <a:t/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/>
          <a:lstStyle>
            <a:lvl1pPr algn="r">
              <a:defRPr sz="1200"/>
            </a:lvl1pPr>
          </a:lstStyle>
          <a:p>
            <a:pPr lvl="0">
              <a:defRPr/>
            </a:pPr>
            <a:fld id="{67CA0638-F96D-4C55-8462-7CE2977104DA}" type="datetime1">
              <a:rPr lang="ko-KR" altLang="en-US"/>
              <a:pPr lvl="0">
                <a:defRPr/>
              </a:pPr>
              <a:t>2026-10-28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 noTextEdi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anchor="ctr"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/>
          <a:lstStyle/>
          <a:p>
            <a:pPr lvl="0">
              <a:defRPr/>
            </a:pPr>
            <a:r>
              <a:rPr lang="ko-KR" altLang="en-US"/>
              <a:t>마스터 텍스트 스타일을 편집하려면 클릭</a:t>
            </a:r>
            <a:endParaRPr lang="ko-KR" altLang="en-US"/>
          </a:p>
          <a:p>
            <a:pPr lvl="1">
              <a:defRPr/>
            </a:pPr>
            <a:r>
              <a:rPr lang="ko-KR" altLang="en-US"/>
              <a:t>두 번째 수준</a:t>
            </a:r>
            <a:endParaRPr lang="ko-KR" altLang="en-US"/>
          </a:p>
          <a:p>
            <a:pPr lvl="2">
              <a:defRPr/>
            </a:pPr>
            <a:r>
              <a:rPr lang="ko-KR" altLang="en-US"/>
              <a:t>세 번째 수준</a:t>
            </a:r>
            <a:endParaRPr lang="ko-KR" altLang="en-US"/>
          </a:p>
          <a:p>
            <a:pPr lvl="3">
              <a:defRPr/>
            </a:pPr>
            <a:r>
              <a:rPr lang="ko-KR" altLang="en-US"/>
              <a:t>네 번째 수준</a:t>
            </a:r>
            <a:endParaRPr lang="ko-KR" altLang="en-US"/>
          </a:p>
          <a:p>
            <a:pPr lvl="4">
              <a:defRPr/>
            </a:pPr>
            <a:r>
              <a:rPr lang="ko-KR" altLang="en-US"/>
              <a:t>다섯 번째 수준</a:t>
            </a:r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anchor="b"/>
          <a:lstStyle>
            <a:lvl1pPr algn="l">
              <a:defRPr sz="1200"/>
            </a:lvl1pPr>
          </a:lstStyle>
          <a:p>
            <a:pPr lvl="0">
              <a:defRPr/>
            </a:pPr>
            <a:r>
              <a:rPr lang="ko-KR" altLang="en-US"/>
              <a:t/>
            </a:r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anchor="b"/>
          <a:lstStyle>
            <a:lvl1pPr algn="r">
              <a:defRPr sz="1200"/>
            </a:lvl1pPr>
          </a:lstStyle>
          <a:p>
            <a:pPr lvl="0">
              <a:defRPr/>
            </a:pPr>
            <a:fld id="{570B51FA-7463-4620-8B56-7877D21A1397}" type="slidenum">
              <a:rPr lang="ko-KR" altLang="en-US"/>
              <a:pPr lvl="0">
                <a:defRPr/>
              </a:pPr>
              <a:t>‹#›</a:t>
            </a:fld>
            <a:endParaRPr lang="ko-KR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slide" Target="../slides/slide6.xml"/><Relationship Id="rId2" Type="http://schemas.openxmlformats.org/officeDocument/2006/relationships/notesMaster" Target="../notesMasters/notesMaster1.xml"/></Relationships>
</file>

<file path=ppt/notesSlides/notesSlide1.xml><?xml version="1.0" encoding="utf-8"?>
<p:notes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 noTextEdit="1"/>
          </p:cNvSpPr>
          <p:nvPr>
            <p:ph type="sldImg" idx="0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/>
              <a:t/>
            </a:r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>
              <a:defRPr/>
            </a:pPr>
            <a:fld id="{570B51FA-7463-4620-8B56-7877D21A1397}" type="slidenum">
              <a:rPr lang="en-US" altLang="en-US"/>
              <a:pPr lvl="0">
                <a:defRPr/>
              </a:pPr>
              <a:t>5</a:t>
            </a:fld>
            <a:endParaRPr lang="en-US" altLang="en-US"/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0BF8813-D3AB-FA0B-1A89-5235001C8B8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EF7CEA0D-2EC6-CBB5-CF1E-7B3DF79C019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83DA720C-95B7-4CF1-E682-B0481224C4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89EF01-2F1F-4ABA-BABE-7C565B389FC8}" type="datetime1">
              <a:rPr lang="ko-KR" altLang="en-US" smtClean="0"/>
              <a:t>2026-10-27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52006EED-0B9F-AAFA-F38E-F54CCF1B0D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326929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5B289B0-FA40-F0AC-A3A8-D8E8C40411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AE660BFB-F983-ECDF-C1FE-30934752359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0B2780D0-FAD1-6E4E-FE34-9CB93DD566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36B410-27F1-458A-BA09-14EEE976B0F4}" type="datetime1">
              <a:rPr lang="ko-KR" altLang="en-US" smtClean="0"/>
              <a:t>2026-10-27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9E2AEBE6-D994-4905-3741-4F671E29EA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D7DC4630-C1C8-5EA3-4595-5A7A2BCF12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2000" b="1"/>
            </a:lvl1pPr>
          </a:lstStyle>
          <a:p>
            <a:fld id="{3D78870C-833C-4B8E-BE64-E1698E29E2B8}" type="slidenum">
              <a:rPr lang="ko-KR" altLang="en-US" smtClean="0"/>
              <a:pPr/>
              <a:t>‹#›</a:t>
            </a:fld>
            <a:endParaRPr lang="ko-KR" altLang="en-US" b="1" dirty="0"/>
          </a:p>
        </p:txBody>
      </p:sp>
    </p:spTree>
    <p:extLst>
      <p:ext uri="{BB962C8B-B14F-4D97-AF65-F5344CB8AC3E}">
        <p14:creationId xmlns:p14="http://schemas.microsoft.com/office/powerpoint/2010/main" val="82224226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9E7CC18-845F-F11C-9870-2126C7C6C8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1BFF2C66-1D64-B425-5EA2-1C1FDFD885D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67E3ED4-0A1C-A520-E26A-A2EB7DEB68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6E9960-550B-4323-94F5-8562D26A27AB}" type="datetime1">
              <a:rPr lang="ko-KR" altLang="en-US" smtClean="0"/>
              <a:t>2026-10-27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DAE09334-A87F-C1AB-E163-A812C0BA5E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1D5218DB-DB7A-C5D9-2942-21BB92B6DD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78870C-833C-4B8E-BE64-E1698E29E2B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1268972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81305C5-8E5F-84A8-5368-45CA47FF8D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66F12309-0F53-2317-DCD1-234DA16451E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ADB3723D-8BB3-52A6-8632-FBE12D30C6E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E348441D-380C-A5EA-E574-569276BEDA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BF33FF-CE8C-4873-B616-B4F75BDBD746}" type="datetime1">
              <a:rPr lang="ko-KR" altLang="en-US" smtClean="0"/>
              <a:t>2026-10-27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A25D73A4-3E7B-C3D6-C6F8-A064F5A480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5EE293A7-77F5-AF02-26EC-173945B5B5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78870C-833C-4B8E-BE64-E1698E29E2B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490944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8155B39-7A27-1D0D-2A24-3A522852EA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59558D8F-9B10-D7A2-CA62-14AA403064E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BCB5C3E7-6BC1-6202-9D00-812611E733C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0A54B5D8-F6E9-5BAE-BB87-C9137E3E736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D9035C46-5D94-E649-71F9-81675FF3794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FB4A31CC-333C-8CA0-7D9F-BA7B6F2A32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6C551E-3A4C-490E-85AA-6C4D9F06A19D}" type="datetime1">
              <a:rPr lang="ko-KR" altLang="en-US" smtClean="0"/>
              <a:t>2026-10-27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24B37A7D-EC01-0CD6-A0C2-9C4C5E8175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23291DEA-71C0-E862-73F8-6E0C1A4C4A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78870C-833C-4B8E-BE64-E1698E29E2B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133614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D408037-5717-AF02-2D82-B3610822B5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D959AAFE-DEC8-A37D-1E67-28A9A41AAE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A44748-5C61-4C6E-973F-D400DFF4C84A}" type="datetime1">
              <a:rPr lang="ko-KR" altLang="en-US" smtClean="0"/>
              <a:t>2026-10-27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B7E40A96-C07F-8B15-C852-232EECF3CC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D222A48F-E463-3A68-8889-BE10E4A7EE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78870C-833C-4B8E-BE64-E1698E29E2B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4803211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EC00F9E5-2784-9952-D71E-C15489E2A1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4E5AFF-9E8E-4FB5-8E53-0D5E86579CC5}" type="datetime1">
              <a:rPr lang="ko-KR" altLang="en-US" smtClean="0"/>
              <a:t>2026-10-27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D6FB9414-87AC-7867-D9EE-1226021DDA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358AAD62-BA80-D65A-2E90-826894DA66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78870C-833C-4B8E-BE64-E1698E29E2B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1697347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C5A0047-CF14-4A36-4513-B89533615E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6780CE1A-689A-4922-1722-62AB75C5ECE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9E0EF902-ECF1-CBD8-04B1-63535A2FCE1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15FC0655-F15D-8D17-091E-6174048B8B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22579D-684B-4A90-8EE6-4DED10FD9EB1}" type="datetime1">
              <a:rPr lang="ko-KR" altLang="en-US" smtClean="0"/>
              <a:t>2026-10-27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30A5C550-F5C7-C586-CE92-C09D02498F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D217E8E8-6C52-4E48-5A73-B7226FD981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78870C-833C-4B8E-BE64-E1698E29E2B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0204148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D8AD439-60CC-B88B-71C2-2D71FFE8A5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6FA6CC64-9E9E-F768-CEA4-103DA3DAB504}"/>
              </a:ext>
            </a:extLst>
          </p:cNvPr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E5E326A7-FC4D-0889-6905-7F4489D421E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299E5E18-4EBE-40A4-2568-31418F6817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364BAD-654B-41E6-A513-9C4824EC2A7C}" type="datetime1">
              <a:rPr lang="ko-KR" altLang="en-US" smtClean="0"/>
              <a:t>2026-10-27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1E046D00-D2AC-4977-E246-7C3F7EEEE4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875EDEBF-7995-3D02-FA90-753F5EF636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78870C-833C-4B8E-BE64-E1698E29E2B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5717260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7996E36-DF6D-90F0-D724-8F6C7CC4E4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CE91B868-FB12-0226-99D3-632A7472F4E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5CE7F18-920D-77EF-4A73-243C75A37F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42FA3F-3708-402D-8D50-942164143D38}" type="datetime1">
              <a:rPr lang="ko-KR" altLang="en-US" smtClean="0"/>
              <a:t>2026-10-27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F6BAEC2A-9F0C-BCC2-5E08-394E015983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2F30145A-93AA-A906-0A11-52E0C2B490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78870C-833C-4B8E-BE64-E1698E29E2B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9650679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5CCFD30B-6789-6116-B570-F93DD31AD18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74D2A89C-C1FF-0067-F04E-1B678B4965C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AB1D5B87-4EA1-0EC1-BA28-F0100B23BF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D52D67-4417-4E72-8176-95414A03B943}" type="datetime1">
              <a:rPr lang="ko-KR" altLang="en-US" smtClean="0"/>
              <a:t>2026-10-27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F4644650-A8B2-2D5E-ECD1-ACFC5ABA06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3ED9EC0D-A3A6-0CB5-C1DE-4989ED30EB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78870C-833C-4B8E-BE64-E1698E29E2B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00923325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50D970C0-901F-5F85-73E7-8BF68A44DF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3B668F71-7CC4-2C21-65A1-78D97C1220E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41195634-34DB-7E3D-0C93-2A246879673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41CFFEF-3CC1-4F94-B70F-B5FD1152F6BD}" type="datetime1">
              <a:rPr lang="ko-KR" altLang="en-US" smtClean="0"/>
              <a:t>2026-10-27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920FD2BC-A13B-DA88-7B2B-1B4A6EED2D8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02554604-7354-0FB8-5028-5B5066D988B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136811" y="18256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000" b="1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D78870C-833C-4B8E-BE64-E1698E29E2B8}" type="slidenum">
              <a:rPr lang="ko-KR" altLang="en-US" smtClean="0"/>
              <a:pPr/>
              <a:t>‹#›</a:t>
            </a:fld>
            <a:endParaRPr lang="ko-KR" altLang="en-US" b="1"/>
          </a:p>
        </p:txBody>
      </p:sp>
    </p:spTree>
    <p:extLst>
      <p:ext uri="{BB962C8B-B14F-4D97-AF65-F5344CB8AC3E}">
        <p14:creationId xmlns:p14="http://schemas.microsoft.com/office/powerpoint/2010/main" val="20062666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jpe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image" Target="../media/image5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6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7.png"/><Relationship Id="rId3" Type="http://schemas.openxmlformats.org/officeDocument/2006/relationships/image" Target="../media/image8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9.png"/><Relationship Id="rId4" Type="http://schemas.openxmlformats.org/officeDocument/2006/relationships/image" Target="../media/image10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1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2.png"/><Relationship Id="rId3" Type="http://schemas.openxmlformats.org/officeDocument/2006/relationships/image" Target="../media/image13.emf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4.png"/><Relationship Id="rId3" Type="http://schemas.microsoft.com/office/2007/relationships/hdphoto" Target="../embeddings/oleObject1.wdp"/><Relationship Id="rId4" Type="http://schemas.openxmlformats.org/officeDocument/2006/relationships/image" Target="../media/image15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6.png"/><Relationship Id="rId3" Type="http://schemas.openxmlformats.org/officeDocument/2006/relationships/image" Target="../media/image17.sv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8.png"/><Relationship Id="rId3" Type="http://schemas.openxmlformats.org/officeDocument/2006/relationships/image" Target="../media/image19.png"/><Relationship Id="rId4" Type="http://schemas.openxmlformats.org/officeDocument/2006/relationships/image" Target="../media/image20.png"/><Relationship Id="rId5" Type="http://schemas.openxmlformats.org/officeDocument/2006/relationships/image" Target="../media/image21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1.png"/><Relationship Id="rId3" Type="http://schemas.openxmlformats.org/officeDocument/2006/relationships/image" Target="../media/image22.png"/><Relationship Id="rId4" Type="http://schemas.openxmlformats.org/officeDocument/2006/relationships/image" Target="../media/image23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4.png"/><Relationship Id="rId3" Type="http://schemas.openxmlformats.org/officeDocument/2006/relationships/image" Target="../media/image25.png"/><Relationship Id="rId4" Type="http://schemas.openxmlformats.org/officeDocument/2006/relationships/image" Target="../media/image26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7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8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9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0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1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2.pn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>
            <a:extLst>
              <a:ext uri="{FF2B5EF4-FFF2-40B4-BE49-F238E27FC236}">
                <a16:creationId xmlns:a16="http://schemas.microsoft.com/office/drawing/2014/main" id="{88210F2B-5E9A-928E-FA29-BF1EB83BCEA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48500" y="0"/>
            <a:ext cx="5143500" cy="685800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8CD174B2-75F1-81BF-4A63-BA10822DA7F5}"/>
              </a:ext>
            </a:extLst>
          </p:cNvPr>
          <p:cNvSpPr txBox="1"/>
          <p:nvPr/>
        </p:nvSpPr>
        <p:spPr>
          <a:xfrm>
            <a:off x="1392221" y="3922816"/>
            <a:ext cx="5495454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ko-KR" sz="8000" b="1" dirty="0">
                <a:solidFill>
                  <a:srgbClr val="333F70"/>
                </a:solidFill>
                <a:latin typeface="Bauhaus 93" panose="04030905020B02020C02" pitchFamily="82" charset="0"/>
                <a:ea typeface="STHupo" panose="020B0503020204020204" pitchFamily="2" charset="-122"/>
                <a:cs typeface="ADLaM Display" panose="020F0502020204030204" pitchFamily="2" charset="0"/>
              </a:rPr>
              <a:t>I am  your  J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BD3C683-F468-4508-47A1-3A8A99F69FB8}"/>
              </a:ext>
            </a:extLst>
          </p:cNvPr>
          <p:cNvSpPr txBox="1"/>
          <p:nvPr/>
        </p:nvSpPr>
        <p:spPr>
          <a:xfrm>
            <a:off x="1959572" y="5211619"/>
            <a:ext cx="4928103" cy="4542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>
              <a:lnSpc>
                <a:spcPct val="150000"/>
              </a:lnSpc>
            </a:pPr>
            <a:r>
              <a:rPr lang="ko-KR" altLang="ko-KR" b="1" dirty="0">
                <a:solidFill>
                  <a:srgbClr val="333F70"/>
                </a:solidFill>
                <a:effectLst/>
              </a:rPr>
              <a:t>여행 계획 자동화 및 관리</a:t>
            </a:r>
            <a:r>
              <a:rPr lang="en-US" altLang="ko-KR" b="1" dirty="0">
                <a:solidFill>
                  <a:srgbClr val="333F70"/>
                </a:solidFill>
                <a:effectLst/>
              </a:rPr>
              <a:t> </a:t>
            </a:r>
            <a:r>
              <a:rPr lang="ko-KR" altLang="en-US" b="1" dirty="0">
                <a:solidFill>
                  <a:srgbClr val="333F70"/>
                </a:solidFill>
                <a:effectLst/>
              </a:rPr>
              <a:t>서비스</a:t>
            </a:r>
            <a:endParaRPr lang="ko-KR" altLang="ko-KR" b="1" dirty="0">
              <a:solidFill>
                <a:srgbClr val="333F70"/>
              </a:solidFill>
              <a:effectLst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49B70CF3-D9F3-ED75-7645-4491A3850DF0}"/>
              </a:ext>
            </a:extLst>
          </p:cNvPr>
          <p:cNvSpPr txBox="1"/>
          <p:nvPr/>
        </p:nvSpPr>
        <p:spPr>
          <a:xfrm>
            <a:off x="166255" y="73891"/>
            <a:ext cx="4230254" cy="4140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1600" b="1" dirty="0" err="1">
                <a:solidFill>
                  <a:srgbClr val="333F70"/>
                </a:solidFill>
                <a:effectLst/>
              </a:rPr>
              <a:t>퓨리오사</a:t>
            </a:r>
            <a:r>
              <a:rPr lang="ko-KR" altLang="en-US" sz="1600" b="1" dirty="0">
                <a:solidFill>
                  <a:srgbClr val="333F70"/>
                </a:solidFill>
                <a:effectLst/>
              </a:rPr>
              <a:t> </a:t>
            </a:r>
            <a:r>
              <a:rPr lang="en-US" altLang="ko-KR" sz="1600" b="1" dirty="0">
                <a:solidFill>
                  <a:srgbClr val="333F70"/>
                </a:solidFill>
                <a:effectLst/>
              </a:rPr>
              <a:t>AI </a:t>
            </a:r>
            <a:r>
              <a:rPr lang="ko-KR" altLang="en-US" sz="1600" b="1" dirty="0">
                <a:solidFill>
                  <a:srgbClr val="333F70"/>
                </a:solidFill>
                <a:effectLst/>
              </a:rPr>
              <a:t>에이전트 스쿨 미니 프로젝트</a:t>
            </a:r>
            <a:endParaRPr lang="ko-KR" altLang="ko-KR" sz="1600" b="1" dirty="0">
              <a:solidFill>
                <a:srgbClr val="333F70"/>
              </a:solidFill>
              <a:effectLst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00F7DB4-A080-5A00-554C-38174E6C10AE}"/>
              </a:ext>
            </a:extLst>
          </p:cNvPr>
          <p:cNvSpPr txBox="1"/>
          <p:nvPr/>
        </p:nvSpPr>
        <p:spPr>
          <a:xfrm>
            <a:off x="1959572" y="5678565"/>
            <a:ext cx="4928103" cy="3336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>
              <a:lnSpc>
                <a:spcPct val="150000"/>
              </a:lnSpc>
            </a:pPr>
            <a:r>
              <a:rPr lang="ko-KR" altLang="en-US" sz="1200" b="1" dirty="0" err="1">
                <a:solidFill>
                  <a:srgbClr val="333F70"/>
                </a:solidFill>
                <a:effectLst/>
              </a:rPr>
              <a:t>이지석</a:t>
            </a:r>
            <a:r>
              <a:rPr lang="en-US" altLang="ko-KR" sz="1200" dirty="0">
                <a:solidFill>
                  <a:srgbClr val="333F70"/>
                </a:solidFill>
                <a:effectLst/>
              </a:rPr>
              <a:t>, </a:t>
            </a:r>
            <a:r>
              <a:rPr lang="ko-KR" altLang="en-US" sz="1200" dirty="0" err="1" b="1">
                <a:solidFill>
                  <a:srgbClr val="333F70"/>
                </a:solidFill>
                <a:effectLst/>
              </a:rPr>
              <a:t>장동율</a:t>
            </a:r>
            <a:endParaRPr lang="ko-KR" altLang="ko-KR" sz="1200" dirty="0">
              <a:solidFill>
                <a:srgbClr val="333F70"/>
              </a:solidFill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420174828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857F0D38-CD4B-97F7-1AB5-299909EEDE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78870C-833C-4B8E-BE64-E1698E29E2B8}" type="slidenum">
              <a:rPr lang="ko-KR" altLang="en-US" smtClean="0"/>
              <a:pPr/>
              <a:t>1</a:t>
            </a:fld>
            <a:endParaRPr lang="ko-KR" altLang="en-US" b="1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0B6BAB4-97EE-2CB0-4DE8-49B56FACEC89}"/>
              </a:ext>
            </a:extLst>
          </p:cNvPr>
          <p:cNvSpPr txBox="1"/>
          <p:nvPr/>
        </p:nvSpPr>
        <p:spPr>
          <a:xfrm>
            <a:off x="321231" y="208112"/>
            <a:ext cx="274319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4000" b="1" dirty="0">
                <a:solidFill>
                  <a:srgbClr val="333F70"/>
                </a:solidFill>
                <a:latin typeface="+mj-lt"/>
                <a:ea typeface="맑은 고딕" panose="020B0503020000020004" pitchFamily="50" charset="-127"/>
                <a:cs typeface="Open Sans" panose="020B0606030504020204" pitchFamily="34" charset="0"/>
              </a:rPr>
              <a:t>Contents</a:t>
            </a:r>
            <a:endParaRPr lang="en-US" altLang="ko-KR" sz="4000" b="1" dirty="0">
              <a:solidFill>
                <a:srgbClr val="333F70"/>
              </a:solidFill>
              <a:latin typeface="+mj-lt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2B1DA3C-4614-3C45-D2EE-663939C556ED}"/>
              </a:ext>
            </a:extLst>
          </p:cNvPr>
          <p:cNvSpPr txBox="1"/>
          <p:nvPr/>
        </p:nvSpPr>
        <p:spPr>
          <a:xfrm>
            <a:off x="286327" y="1947660"/>
            <a:ext cx="3491346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800" b="1" dirty="0">
                <a:solidFill>
                  <a:srgbClr val="26A688"/>
                </a:solidFill>
                <a:latin typeface="+mj-lt"/>
                <a:ea typeface="맑은 고딕" panose="020B0503020000020004" pitchFamily="50" charset="-127"/>
                <a:cs typeface="Open Sans" panose="020B0606030504020204" pitchFamily="34" charset="0"/>
              </a:rPr>
              <a:t>01</a:t>
            </a:r>
          </a:p>
          <a:p>
            <a:pPr algn="ctr"/>
            <a:r>
              <a:rPr lang="en-US" altLang="ko-KR" sz="2800" b="1" dirty="0">
                <a:solidFill>
                  <a:srgbClr val="155B4A"/>
                </a:solidFill>
                <a:latin typeface="+mj-lt"/>
                <a:ea typeface="맑은 고딕" panose="020B0503020000020004" pitchFamily="50" charset="-127"/>
                <a:cs typeface="Open Sans" panose="020B0606030504020204" pitchFamily="34" charset="0"/>
              </a:rPr>
              <a:t>Introduction</a:t>
            </a:r>
            <a:endParaRPr lang="en-US" altLang="ko-KR" sz="2800" b="1" dirty="0">
              <a:solidFill>
                <a:srgbClr val="155B4A"/>
              </a:solidFill>
              <a:latin typeface="+mj-lt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00B32B5-6BCB-65D1-DDFB-F8AC98706C69}"/>
              </a:ext>
            </a:extLst>
          </p:cNvPr>
          <p:cNvSpPr txBox="1"/>
          <p:nvPr/>
        </p:nvSpPr>
        <p:spPr>
          <a:xfrm>
            <a:off x="4598685" y="1947660"/>
            <a:ext cx="2994629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800" b="1" dirty="0">
                <a:solidFill>
                  <a:srgbClr val="26A688"/>
                </a:solidFill>
                <a:latin typeface="+mj-lt"/>
                <a:ea typeface="맑은 고딕" panose="020B0503020000020004" pitchFamily="50" charset="-127"/>
                <a:cs typeface="Open Sans" panose="020B0606030504020204" pitchFamily="34" charset="0"/>
              </a:rPr>
              <a:t>02</a:t>
            </a:r>
          </a:p>
          <a:p>
            <a:pPr algn="ctr"/>
            <a:r>
              <a:rPr lang="en-US" altLang="ko-KR" sz="2800" b="1" dirty="0">
                <a:solidFill>
                  <a:srgbClr val="155B4A"/>
                </a:solidFill>
                <a:latin typeface="+mj-lt"/>
                <a:ea typeface="맑은 고딕" panose="020B0503020000020004" pitchFamily="50" charset="-127"/>
                <a:cs typeface="Open Sans" panose="020B0606030504020204" pitchFamily="34" charset="0"/>
              </a:rPr>
              <a:t>Project</a:t>
            </a:r>
            <a:endParaRPr lang="en-US" altLang="ko-KR" sz="2800" b="1" dirty="0">
              <a:solidFill>
                <a:srgbClr val="155B4A"/>
              </a:solidFill>
              <a:latin typeface="+mj-lt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F0402FA-C3A2-23F2-DB2B-E4C6516A0FB5}"/>
              </a:ext>
            </a:extLst>
          </p:cNvPr>
          <p:cNvSpPr txBox="1"/>
          <p:nvPr/>
        </p:nvSpPr>
        <p:spPr>
          <a:xfrm>
            <a:off x="8845747" y="1947660"/>
            <a:ext cx="2628506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800" b="1" dirty="0">
                <a:solidFill>
                  <a:srgbClr val="26A688"/>
                </a:solidFill>
                <a:latin typeface="+mj-lt"/>
                <a:ea typeface="맑은 고딕" panose="020B0503020000020004" pitchFamily="50" charset="-127"/>
                <a:cs typeface="Open Sans" panose="020B0606030504020204" pitchFamily="34" charset="0"/>
              </a:rPr>
              <a:t>03</a:t>
            </a:r>
          </a:p>
          <a:p>
            <a:pPr algn="ctr"/>
            <a:r>
              <a:rPr lang="en-US" altLang="ko-KR" sz="2800" b="1" dirty="0">
                <a:solidFill>
                  <a:srgbClr val="155B4A"/>
                </a:solidFill>
                <a:latin typeface="+mj-lt"/>
                <a:ea typeface="맑은 고딕" panose="020B0503020000020004" pitchFamily="50" charset="-127"/>
                <a:cs typeface="Open Sans" panose="020B0606030504020204" pitchFamily="34" charset="0"/>
              </a:rPr>
              <a:t>Conclusion</a:t>
            </a:r>
            <a:endParaRPr lang="en-US" altLang="ko-KR" sz="2800" b="1" dirty="0">
              <a:solidFill>
                <a:srgbClr val="155B4A"/>
              </a:solidFill>
              <a:latin typeface="+mj-lt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06B33CD9-D6F9-C159-4ACD-0CBAC2985171}"/>
              </a:ext>
            </a:extLst>
          </p:cNvPr>
          <p:cNvSpPr txBox="1"/>
          <p:nvPr/>
        </p:nvSpPr>
        <p:spPr>
          <a:xfrm>
            <a:off x="4378034" y="3380773"/>
            <a:ext cx="3435930" cy="23411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2000" b="1" dirty="0">
                <a:latin typeface="+mj-lt"/>
                <a:ea typeface="맑은 고딕" panose="020B0503020000020004" pitchFamily="50" charset="-127"/>
                <a:cs typeface="Open Sans" panose="020B0606030504020204" pitchFamily="34" charset="0"/>
              </a:rPr>
              <a:t>Architecture overview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2000" b="1" dirty="0" err="1">
                <a:latin typeface="+mj-lt"/>
                <a:ea typeface="맑은 고딕" panose="020B0503020000020004" pitchFamily="50" charset="-127"/>
                <a:cs typeface="Open Sans" panose="020B0606030504020204" pitchFamily="34" charset="0"/>
              </a:rPr>
              <a:t>FrontEnd</a:t>
            </a:r>
            <a:endParaRPr lang="en-US" altLang="ko-KR" sz="2000" b="1" dirty="0">
              <a:latin typeface="+mj-lt"/>
              <a:ea typeface="맑은 고딕" panose="020B0503020000020004" pitchFamily="50" charset="-127"/>
              <a:cs typeface="Open Sans" panose="020B0606030504020204" pitchFamily="34" charset="0"/>
            </a:endParaRP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2000" b="1" dirty="0" err="1">
                <a:latin typeface="+mj-lt"/>
                <a:ea typeface="맑은 고딕" panose="020B0503020000020004" pitchFamily="50" charset="-127"/>
                <a:cs typeface="Open Sans" panose="020B0606030504020204" pitchFamily="34" charset="0"/>
              </a:rPr>
              <a:t>DataBase</a:t>
            </a:r>
            <a:endParaRPr lang="en-US" altLang="ko-KR" sz="2000" b="1" dirty="0">
              <a:latin typeface="+mj-lt"/>
              <a:ea typeface="맑은 고딕" panose="020B0503020000020004" pitchFamily="50" charset="-127"/>
              <a:cs typeface="Open Sans" panose="020B0606030504020204" pitchFamily="34" charset="0"/>
            </a:endParaRP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2000" b="1" dirty="0" err="1">
                <a:latin typeface="+mj-lt"/>
                <a:ea typeface="맑은 고딕" panose="020B0503020000020004" pitchFamily="50" charset="-127"/>
                <a:cs typeface="Open Sans" panose="020B0606030504020204" pitchFamily="34" charset="0"/>
              </a:rPr>
              <a:t>BackEnd</a:t>
            </a:r>
            <a:endParaRPr lang="en-US" altLang="ko-KR" sz="2000" b="1" dirty="0">
              <a:latin typeface="+mj-lt"/>
              <a:ea typeface="맑은 고딕" panose="020B0503020000020004" pitchFamily="50" charset="-127"/>
              <a:cs typeface="Open Sans" panose="020B0606030504020204" pitchFamily="34" charset="0"/>
            </a:endParaRP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2000" b="1" dirty="0">
                <a:latin typeface="+mj-lt"/>
                <a:ea typeface="Open Sans" panose="020B0606030504020204" pitchFamily="34" charset="0"/>
                <a:cs typeface="Open Sans" panose="020B0606030504020204" pitchFamily="34" charset="0"/>
              </a:rPr>
              <a:t>CI/CD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7BD9A0FE-F994-C6BB-E967-38FA388D938A}"/>
              </a:ext>
            </a:extLst>
          </p:cNvPr>
          <p:cNvSpPr txBox="1"/>
          <p:nvPr/>
        </p:nvSpPr>
        <p:spPr>
          <a:xfrm>
            <a:off x="8543636" y="3380773"/>
            <a:ext cx="3232727" cy="96648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2000" b="1" dirty="0">
                <a:latin typeface="+mj-lt"/>
                <a:ea typeface="맑은 고딕" panose="020B0503020000020004" pitchFamily="50" charset="-127"/>
                <a:cs typeface="Open Sans" panose="020B0606030504020204" pitchFamily="34" charset="0"/>
              </a:rPr>
              <a:t>Model</a:t>
            </a:r>
            <a:r>
              <a:rPr lang="ko-KR" altLang="en-US" sz="2000" b="1" dirty="0">
                <a:latin typeface="+mj-lt"/>
                <a:ea typeface="맑은 고딕" panose="020B0503020000020004" pitchFamily="50" charset="-127"/>
                <a:cs typeface="Open Sans" panose="020B0606030504020204" pitchFamily="34" charset="0"/>
              </a:rPr>
              <a:t> </a:t>
            </a:r>
            <a:r>
              <a:rPr lang="en-US" altLang="ko-KR" sz="2000" b="1" dirty="0">
                <a:latin typeface="+mj-lt"/>
                <a:ea typeface="맑은 고딕" panose="020B0503020000020004" pitchFamily="50" charset="-127"/>
                <a:cs typeface="Open Sans" panose="020B0606030504020204" pitchFamily="34" charset="0"/>
              </a:rPr>
              <a:t>performance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2000" b="1" dirty="0">
                <a:latin typeface="+mj-lt"/>
                <a:ea typeface="맑은 고딕" panose="020B0503020000020004" pitchFamily="50" charset="-127"/>
                <a:cs typeface="Open Sans" panose="020B0606030504020204" pitchFamily="34" charset="0"/>
              </a:rPr>
              <a:t>Future work</a:t>
            </a:r>
            <a:endParaRPr lang="en-US" altLang="ko-KR" sz="2000" b="1" dirty="0">
              <a:latin typeface="+mj-lt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4EB94356-5C0E-7C96-CFA9-A4ADDC0A1D5D}"/>
              </a:ext>
            </a:extLst>
          </p:cNvPr>
          <p:cNvSpPr txBox="1"/>
          <p:nvPr/>
        </p:nvSpPr>
        <p:spPr>
          <a:xfrm>
            <a:off x="693751" y="3380773"/>
            <a:ext cx="2676498" cy="49449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2000" b="1" dirty="0">
                <a:ea typeface="맑은 고딕" panose="020B0503020000020004" pitchFamily="50" charset="-127"/>
                <a:cs typeface="Open Sans" panose="020B0606030504020204" pitchFamily="34" charset="0"/>
              </a:rPr>
              <a:t>서비스 개발 배경</a:t>
            </a:r>
            <a:endParaRPr lang="en-US" altLang="ko-KR" sz="2000" b="1" dirty="0"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cxnSp>
        <p:nvCxnSpPr>
          <p:cNvPr id="31" name="직선 연결선 30">
            <a:extLst>
              <a:ext uri="{FF2B5EF4-FFF2-40B4-BE49-F238E27FC236}">
                <a16:creationId xmlns:a16="http://schemas.microsoft.com/office/drawing/2014/main" id="{A4E14E2B-BEDA-BEB3-D13B-88609F45A180}"/>
              </a:ext>
            </a:extLst>
          </p:cNvPr>
          <p:cNvCxnSpPr>
            <a:cxnSpLocks/>
          </p:cNvCxnSpPr>
          <p:nvPr/>
        </p:nvCxnSpPr>
        <p:spPr>
          <a:xfrm>
            <a:off x="0" y="1136073"/>
            <a:ext cx="12192000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직선 연결선 33">
            <a:extLst>
              <a:ext uri="{FF2B5EF4-FFF2-40B4-BE49-F238E27FC236}">
                <a16:creationId xmlns:a16="http://schemas.microsoft.com/office/drawing/2014/main" id="{2857CDDD-3DFE-C35B-8F0D-64FE8651F9D0}"/>
              </a:ext>
            </a:extLst>
          </p:cNvPr>
          <p:cNvCxnSpPr>
            <a:cxnSpLocks/>
          </p:cNvCxnSpPr>
          <p:nvPr/>
        </p:nvCxnSpPr>
        <p:spPr>
          <a:xfrm>
            <a:off x="4064000" y="2011849"/>
            <a:ext cx="0" cy="825727"/>
          </a:xfrm>
          <a:prstGeom prst="line">
            <a:avLst/>
          </a:prstGeom>
          <a:ln>
            <a:solidFill>
              <a:srgbClr val="26A68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직선 연결선 38">
            <a:extLst>
              <a:ext uri="{FF2B5EF4-FFF2-40B4-BE49-F238E27FC236}">
                <a16:creationId xmlns:a16="http://schemas.microsoft.com/office/drawing/2014/main" id="{AE11A777-4C83-AD04-3327-E286E8AC2255}"/>
              </a:ext>
            </a:extLst>
          </p:cNvPr>
          <p:cNvCxnSpPr>
            <a:cxnSpLocks/>
          </p:cNvCxnSpPr>
          <p:nvPr/>
        </p:nvCxnSpPr>
        <p:spPr>
          <a:xfrm>
            <a:off x="8128000" y="2011849"/>
            <a:ext cx="0" cy="825727"/>
          </a:xfrm>
          <a:prstGeom prst="line">
            <a:avLst/>
          </a:prstGeom>
          <a:ln>
            <a:solidFill>
              <a:srgbClr val="26A68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6886632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사각형: 둥근 모서리 22">
            <a:extLst>
              <a:ext uri="{FF2B5EF4-FFF2-40B4-BE49-F238E27FC236}">
                <a16:creationId xmlns:a16="http://schemas.microsoft.com/office/drawing/2014/main" id="{859780F9-E79A-85A8-7B37-047E94B3E939}"/>
              </a:ext>
            </a:extLst>
          </p:cNvPr>
          <p:cNvSpPr/>
          <p:nvPr/>
        </p:nvSpPr>
        <p:spPr>
          <a:xfrm>
            <a:off x="9133147" y="1124956"/>
            <a:ext cx="2458488" cy="4009020"/>
          </a:xfrm>
          <a:prstGeom prst="roundRect">
            <a:avLst>
              <a:gd name="adj" fmla="val 7552"/>
            </a:avLst>
          </a:prstGeom>
          <a:solidFill>
            <a:srgbClr val="DDF8F2"/>
          </a:solidFill>
          <a:ln>
            <a:solidFill>
              <a:srgbClr val="A2ECD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+mj-lt"/>
              <a:cs typeface="Open Sans" panose="020B0606030504020204" pitchFamily="34" charset="0"/>
            </a:endParaRPr>
          </a:p>
        </p:txBody>
      </p:sp>
      <p:sp>
        <p:nvSpPr>
          <p:cNvPr id="21" name="사각형: 둥근 모서리 20">
            <a:extLst>
              <a:ext uri="{FF2B5EF4-FFF2-40B4-BE49-F238E27FC236}">
                <a16:creationId xmlns:a16="http://schemas.microsoft.com/office/drawing/2014/main" id="{8D9781B4-B6B6-D319-9F35-0F2D56E8492E}"/>
              </a:ext>
            </a:extLst>
          </p:cNvPr>
          <p:cNvSpPr/>
          <p:nvPr/>
        </p:nvSpPr>
        <p:spPr>
          <a:xfrm>
            <a:off x="5923512" y="1124957"/>
            <a:ext cx="2458488" cy="4009019"/>
          </a:xfrm>
          <a:prstGeom prst="roundRect">
            <a:avLst>
              <a:gd name="adj" fmla="val 7552"/>
            </a:avLst>
          </a:prstGeom>
          <a:solidFill>
            <a:srgbClr val="DDF8F2"/>
          </a:solidFill>
          <a:ln>
            <a:solidFill>
              <a:srgbClr val="A2ECD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+mj-lt"/>
              <a:cs typeface="Open Sans" panose="020B0606030504020204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B28729F-8B78-9555-DF3F-A1DB04F91D96}"/>
              </a:ext>
            </a:extLst>
          </p:cNvPr>
          <p:cNvSpPr txBox="1"/>
          <p:nvPr/>
        </p:nvSpPr>
        <p:spPr>
          <a:xfrm>
            <a:off x="5946937" y="256560"/>
            <a:ext cx="549545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3600" b="1" dirty="0">
                <a:solidFill>
                  <a:srgbClr val="333F70"/>
                </a:solidFill>
                <a:latin typeface="+mj-ea"/>
                <a:ea typeface="+mj-ea"/>
                <a:cs typeface="Open Sans" panose="020B0606030504020204" pitchFamily="34" charset="0"/>
              </a:rPr>
              <a:t>여행 준비의 고질적 문제</a:t>
            </a:r>
            <a:endParaRPr lang="en-US" altLang="ko-KR" sz="3600" b="1" dirty="0">
              <a:solidFill>
                <a:srgbClr val="333F70"/>
              </a:solidFill>
              <a:latin typeface="+mj-ea"/>
              <a:ea typeface="+mj-ea"/>
              <a:cs typeface="Open Sans" panose="020B0606030504020204" pitchFamily="34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523A4D9-895E-821F-D372-6A20C0975F11}"/>
              </a:ext>
            </a:extLst>
          </p:cNvPr>
          <p:cNvSpPr txBox="1"/>
          <p:nvPr/>
        </p:nvSpPr>
        <p:spPr>
          <a:xfrm>
            <a:off x="6360160" y="3136191"/>
            <a:ext cx="1585192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lang="ko-KR" altLang="ko-KR" b="1" dirty="0">
                <a:solidFill>
                  <a:srgbClr val="333F70"/>
                </a:solidFill>
                <a:latin typeface="+mj-lt"/>
                <a:cs typeface="Open Sans" panose="020B0606030504020204" pitchFamily="34" charset="0"/>
              </a:rPr>
              <a:t>정보 과잉</a:t>
            </a:r>
            <a:endParaRPr lang="en-US" altLang="ko-KR" b="1" dirty="0">
              <a:solidFill>
                <a:srgbClr val="333F70"/>
              </a:solidFill>
              <a:latin typeface="+mj-lt"/>
              <a:ea typeface="Open Sans" panose="020B0606030504020204" pitchFamily="34" charset="0"/>
              <a:cs typeface="Open Sans" panose="020B0606030504020204" pitchFamily="34" charset="0"/>
            </a:endParaRPr>
          </a:p>
          <a:p>
            <a:pPr algn="ctr">
              <a:buNone/>
            </a:pPr>
            <a:r>
              <a:rPr lang="ko-KR" altLang="en-US" b="1" dirty="0">
                <a:solidFill>
                  <a:srgbClr val="333F70"/>
                </a:solidFill>
                <a:latin typeface="+mj-lt"/>
                <a:cs typeface="Open Sans" panose="020B0606030504020204" pitchFamily="34" charset="0"/>
              </a:rPr>
              <a:t>선택의 피로</a:t>
            </a:r>
            <a:endParaRPr lang="ko-KR" altLang="ko-KR" b="1" dirty="0">
              <a:solidFill>
                <a:srgbClr val="333F70"/>
              </a:solidFill>
              <a:latin typeface="+mj-lt"/>
              <a:cs typeface="Open Sans" panose="020B0606030504020204" pitchFamily="34" charset="0"/>
            </a:endParaRPr>
          </a:p>
        </p:txBody>
      </p:sp>
      <p:pic>
        <p:nvPicPr>
          <p:cNvPr id="12" name="그림 11">
            <a:extLst>
              <a:ext uri="{FF2B5EF4-FFF2-40B4-BE49-F238E27FC236}">
                <a16:creationId xmlns:a16="http://schemas.microsoft.com/office/drawing/2014/main" id="{1A7A5C84-096A-8BBE-5814-51D44BD98BB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72756" y="1027943"/>
            <a:ext cx="2160000" cy="2160000"/>
          </a:xfrm>
          <a:prstGeom prst="rect">
            <a:avLst/>
          </a:prstGeom>
        </p:spPr>
      </p:pic>
      <p:pic>
        <p:nvPicPr>
          <p:cNvPr id="14" name="그림 13">
            <a:extLst>
              <a:ext uri="{FF2B5EF4-FFF2-40B4-BE49-F238E27FC236}">
                <a16:creationId xmlns:a16="http://schemas.microsoft.com/office/drawing/2014/main" id="{5651FF87-B5FB-4C6B-BEE1-BA33D52E335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82391" y="1027943"/>
            <a:ext cx="2160000" cy="2160000"/>
          </a:xfrm>
          <a:prstGeom prst="rect">
            <a:avLst/>
          </a:prstGeom>
        </p:spPr>
      </p:pic>
      <p:pic>
        <p:nvPicPr>
          <p:cNvPr id="16" name="그림 15">
            <a:extLst>
              <a:ext uri="{FF2B5EF4-FFF2-40B4-BE49-F238E27FC236}">
                <a16:creationId xmlns:a16="http://schemas.microsoft.com/office/drawing/2014/main" id="{6C6C73FF-CDC3-D89F-E246-191D2600E8E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72756" y="5306584"/>
            <a:ext cx="1208983" cy="1208983"/>
          </a:xfrm>
          <a:prstGeom prst="rect">
            <a:avLst/>
          </a:prstGeom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BA39CEFB-52F5-C54C-09ED-A2C873F4F70A}"/>
              </a:ext>
            </a:extLst>
          </p:cNvPr>
          <p:cNvSpPr txBox="1"/>
          <p:nvPr/>
        </p:nvSpPr>
        <p:spPr>
          <a:xfrm>
            <a:off x="9390841" y="3274690"/>
            <a:ext cx="19431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lang="ko-KR" altLang="ko-KR" b="1" dirty="0">
                <a:solidFill>
                  <a:srgbClr val="333F70"/>
                </a:solidFill>
                <a:latin typeface="+mj-lt"/>
                <a:cs typeface="Open Sans" panose="020B0606030504020204" pitchFamily="34" charset="0"/>
              </a:rPr>
              <a:t>맥락 이해 부족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E79743D5-80F7-4BC0-A9CF-0E711BEA048B}"/>
              </a:ext>
            </a:extLst>
          </p:cNvPr>
          <p:cNvSpPr txBox="1"/>
          <p:nvPr/>
        </p:nvSpPr>
        <p:spPr>
          <a:xfrm>
            <a:off x="7585407" y="5779242"/>
            <a:ext cx="3748534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ko-KR" altLang="ko-KR" sz="1600" dirty="0">
                <a:solidFill>
                  <a:srgbClr val="333F70"/>
                </a:solidFill>
                <a:latin typeface="+mj-lt"/>
                <a:cs typeface="Open Sans" panose="020B0606030504020204" pitchFamily="34" charset="0"/>
              </a:rPr>
              <a:t>핵심 정보</a:t>
            </a:r>
            <a:r>
              <a:rPr lang="ko-KR" altLang="en-US" sz="1600" dirty="0">
                <a:solidFill>
                  <a:srgbClr val="333F70"/>
                </a:solidFill>
                <a:latin typeface="+mj-lt"/>
                <a:cs typeface="Open Sans" panose="020B0606030504020204" pitchFamily="34" charset="0"/>
              </a:rPr>
              <a:t>를</a:t>
            </a:r>
            <a:r>
              <a:rPr lang="ko-KR" altLang="ko-KR" sz="1600" dirty="0">
                <a:solidFill>
                  <a:srgbClr val="333F70"/>
                </a:solidFill>
                <a:latin typeface="+mj-lt"/>
                <a:cs typeface="Open Sans" panose="020B0606030504020204" pitchFamily="34" charset="0"/>
              </a:rPr>
              <a:t> 요약하고 개인화된 제안을 </a:t>
            </a:r>
            <a:endParaRPr lang="en-US" altLang="ko-KR" sz="1600" dirty="0">
              <a:solidFill>
                <a:srgbClr val="333F70"/>
              </a:solidFill>
              <a:latin typeface="+mj-lt"/>
              <a:ea typeface="Open Sans" panose="020B0606030504020204" pitchFamily="34" charset="0"/>
              <a:cs typeface="Open Sans" panose="020B0606030504020204" pitchFamily="34" charset="0"/>
            </a:endParaRPr>
          </a:p>
          <a:p>
            <a:pPr>
              <a:buNone/>
            </a:pPr>
            <a:r>
              <a:rPr lang="ko-KR" altLang="ko-KR" sz="1600" dirty="0">
                <a:solidFill>
                  <a:srgbClr val="333F70"/>
                </a:solidFill>
                <a:latin typeface="+mj-lt"/>
                <a:cs typeface="Open Sans" panose="020B0606030504020204" pitchFamily="34" charset="0"/>
              </a:rPr>
              <a:t>자동 생성하여 의사결정 비용을 낮</a:t>
            </a:r>
            <a:r>
              <a:rPr lang="ko-KR" altLang="en-US" sz="1600" dirty="0">
                <a:solidFill>
                  <a:srgbClr val="333F70"/>
                </a:solidFill>
                <a:latin typeface="+mj-lt"/>
                <a:cs typeface="Open Sans" panose="020B0606030504020204" pitchFamily="34" charset="0"/>
              </a:rPr>
              <a:t>춤</a:t>
            </a:r>
            <a:endParaRPr lang="ko-KR" altLang="ko-KR" sz="1600" dirty="0">
              <a:solidFill>
                <a:srgbClr val="333F70"/>
              </a:solidFill>
              <a:latin typeface="+mj-lt"/>
              <a:cs typeface="Open Sans" panose="020B0606030504020204" pitchFamily="34" charset="0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3BFFFE6F-7BB4-4AA8-3B8C-45D8B703F326}"/>
              </a:ext>
            </a:extLst>
          </p:cNvPr>
          <p:cNvSpPr txBox="1"/>
          <p:nvPr/>
        </p:nvSpPr>
        <p:spPr>
          <a:xfrm>
            <a:off x="6084614" y="3965043"/>
            <a:ext cx="2136285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ko-KR" altLang="ko-KR" sz="1200" b="1" dirty="0">
                <a:solidFill>
                  <a:srgbClr val="333F70"/>
                </a:solidFill>
                <a:latin typeface="+mj-lt"/>
                <a:cs typeface="Open Sans" panose="020B0606030504020204" pitchFamily="34" charset="0"/>
              </a:rPr>
              <a:t>매일 쏟아지는 </a:t>
            </a:r>
            <a:endParaRPr lang="en-US" altLang="ko-KR" sz="1200" b="1" dirty="0">
              <a:solidFill>
                <a:srgbClr val="333F70"/>
              </a:solidFill>
              <a:latin typeface="+mj-lt"/>
              <a:ea typeface="Open Sans" panose="020B0606030504020204" pitchFamily="34" charset="0"/>
              <a:cs typeface="Open Sans" panose="020B0606030504020204" pitchFamily="34" charset="0"/>
            </a:endParaRPr>
          </a:p>
          <a:p>
            <a:pPr>
              <a:buNone/>
            </a:pPr>
            <a:r>
              <a:rPr lang="ko-KR" altLang="ko-KR" sz="1200" b="1" dirty="0">
                <a:solidFill>
                  <a:srgbClr val="333F70"/>
                </a:solidFill>
                <a:latin typeface="+mj-lt"/>
                <a:cs typeface="Open Sans" panose="020B0606030504020204" pitchFamily="34" charset="0"/>
              </a:rPr>
              <a:t>수천 건의 </a:t>
            </a:r>
            <a:r>
              <a:rPr lang="ko-KR" altLang="en-US" sz="1200" b="1" dirty="0">
                <a:solidFill>
                  <a:srgbClr val="333F70"/>
                </a:solidFill>
                <a:latin typeface="+mj-lt"/>
                <a:cs typeface="Open Sans" panose="020B0606030504020204" pitchFamily="34" charset="0"/>
              </a:rPr>
              <a:t>관련 정보</a:t>
            </a:r>
            <a:r>
              <a:rPr lang="en-US" altLang="ko-KR" sz="1200" b="1" dirty="0">
                <a:solidFill>
                  <a:srgbClr val="333F70"/>
                </a:solidFill>
                <a:latin typeface="+mj-lt"/>
                <a:ea typeface="Open Sans" panose="020B0606030504020204" pitchFamily="34" charset="0"/>
                <a:cs typeface="Open Sans" panose="020B0606030504020204" pitchFamily="34" charset="0"/>
              </a:rPr>
              <a:t>.</a:t>
            </a:r>
          </a:p>
          <a:p>
            <a:pPr>
              <a:buNone/>
            </a:pPr>
            <a:endParaRPr lang="ko-KR" altLang="ko-KR" sz="400" b="1" dirty="0">
              <a:solidFill>
                <a:srgbClr val="333F70"/>
              </a:solidFill>
              <a:latin typeface="+mj-lt"/>
              <a:cs typeface="Open Sans" panose="020B0606030504020204" pitchFamily="34" charset="0"/>
            </a:endParaRPr>
          </a:p>
          <a:p>
            <a:pPr>
              <a:buNone/>
            </a:pPr>
            <a:r>
              <a:rPr lang="ko-KR" altLang="ko-KR" sz="1200" b="1" dirty="0">
                <a:solidFill>
                  <a:srgbClr val="333F70"/>
                </a:solidFill>
                <a:latin typeface="+mj-lt"/>
                <a:cs typeface="Open Sans" panose="020B0606030504020204" pitchFamily="34" charset="0"/>
              </a:rPr>
              <a:t>복합</a:t>
            </a:r>
            <a:r>
              <a:rPr lang="ko-KR" altLang="en-US" sz="1200" b="1" dirty="0">
                <a:solidFill>
                  <a:srgbClr val="333F70"/>
                </a:solidFill>
                <a:latin typeface="+mj-lt"/>
                <a:cs typeface="Open Sans" panose="020B0606030504020204" pitchFamily="34" charset="0"/>
              </a:rPr>
              <a:t>적인</a:t>
            </a:r>
            <a:r>
              <a:rPr lang="ko-KR" altLang="ko-KR" sz="1200" b="1" dirty="0">
                <a:solidFill>
                  <a:srgbClr val="333F70"/>
                </a:solidFill>
                <a:latin typeface="+mj-lt"/>
                <a:cs typeface="Open Sans" panose="020B0606030504020204" pitchFamily="34" charset="0"/>
              </a:rPr>
              <a:t> 변수로 </a:t>
            </a:r>
            <a:endParaRPr lang="en-US" altLang="ko-KR" sz="1200" b="1" dirty="0">
              <a:solidFill>
                <a:srgbClr val="333F70"/>
              </a:solidFill>
              <a:latin typeface="+mj-lt"/>
              <a:ea typeface="Open Sans" panose="020B0606030504020204" pitchFamily="34" charset="0"/>
              <a:cs typeface="Open Sans" panose="020B0606030504020204" pitchFamily="34" charset="0"/>
            </a:endParaRPr>
          </a:p>
          <a:p>
            <a:pPr>
              <a:buNone/>
            </a:pPr>
            <a:r>
              <a:rPr lang="ko-KR" altLang="ko-KR" sz="1200" b="1" dirty="0">
                <a:solidFill>
                  <a:srgbClr val="333F70"/>
                </a:solidFill>
                <a:latin typeface="+mj-lt"/>
                <a:cs typeface="Open Sans" panose="020B0606030504020204" pitchFamily="34" charset="0"/>
              </a:rPr>
              <a:t>결정을 내리기 </a:t>
            </a:r>
            <a:r>
              <a:rPr lang="ko-KR" altLang="en-US" sz="1200" b="1" dirty="0">
                <a:solidFill>
                  <a:srgbClr val="333F70"/>
                </a:solidFill>
                <a:latin typeface="+mj-lt"/>
                <a:cs typeface="Open Sans" panose="020B0606030504020204" pitchFamily="34" charset="0"/>
              </a:rPr>
              <a:t>어려움</a:t>
            </a:r>
            <a:r>
              <a:rPr lang="ko-KR" altLang="ko-KR" sz="1200" b="1" dirty="0">
                <a:solidFill>
                  <a:srgbClr val="333F70"/>
                </a:solidFill>
                <a:latin typeface="+mj-lt"/>
                <a:cs typeface="Open Sans" panose="020B0606030504020204" pitchFamily="34" charset="0"/>
              </a:rPr>
              <a:t>.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2F10C039-DCD0-E5AB-6D4E-B946C5C1D778}"/>
              </a:ext>
            </a:extLst>
          </p:cNvPr>
          <p:cNvSpPr txBox="1"/>
          <p:nvPr/>
        </p:nvSpPr>
        <p:spPr>
          <a:xfrm>
            <a:off x="9294991" y="3965043"/>
            <a:ext cx="21348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ko-KR"/>
            </a:defPPr>
            <a:lvl1pPr>
              <a:buNone/>
              <a:defRPr sz="1200"/>
            </a:lvl1pPr>
          </a:lstStyle>
          <a:p>
            <a:r>
              <a:rPr lang="ko-KR" altLang="ko-KR" b="1" dirty="0">
                <a:solidFill>
                  <a:srgbClr val="333F70"/>
                </a:solidFill>
                <a:latin typeface="+mj-lt"/>
                <a:cs typeface="Open Sans" panose="020B0606030504020204" pitchFamily="34" charset="0"/>
              </a:rPr>
              <a:t>사용자 의도</a:t>
            </a:r>
            <a:r>
              <a:rPr lang="ko-KR" altLang="en-US" b="1" dirty="0">
                <a:solidFill>
                  <a:srgbClr val="333F70"/>
                </a:solidFill>
                <a:latin typeface="+mj-lt"/>
                <a:cs typeface="Open Sans" panose="020B0606030504020204" pitchFamily="34" charset="0"/>
              </a:rPr>
              <a:t>와 맥락</a:t>
            </a:r>
            <a:endParaRPr lang="en-US" altLang="ko-KR" b="1" dirty="0">
              <a:solidFill>
                <a:srgbClr val="333F70"/>
              </a:solidFill>
              <a:latin typeface="+mj-lt"/>
              <a:ea typeface="Open Sans" panose="020B0606030504020204" pitchFamily="34" charset="0"/>
              <a:cs typeface="Open Sans" panose="020B0606030504020204" pitchFamily="34" charset="0"/>
            </a:endParaRPr>
          </a:p>
          <a:p>
            <a:r>
              <a:rPr lang="ko-KR" altLang="ko-KR" b="1" dirty="0">
                <a:solidFill>
                  <a:srgbClr val="333F70"/>
                </a:solidFill>
                <a:latin typeface="+mj-lt"/>
                <a:cs typeface="Open Sans" panose="020B0606030504020204" pitchFamily="34" charset="0"/>
              </a:rPr>
              <a:t>(</a:t>
            </a:r>
            <a:r>
              <a:rPr lang="ko-KR" altLang="en-US" b="1" dirty="0">
                <a:solidFill>
                  <a:srgbClr val="333F70"/>
                </a:solidFill>
                <a:latin typeface="+mj-lt"/>
                <a:cs typeface="Open Sans" panose="020B0606030504020204" pitchFamily="34" charset="0"/>
              </a:rPr>
              <a:t>여행 테마</a:t>
            </a:r>
            <a:r>
              <a:rPr lang="ko-KR" altLang="ko-KR" b="1" dirty="0">
                <a:solidFill>
                  <a:srgbClr val="333F70"/>
                </a:solidFill>
                <a:latin typeface="+mj-lt"/>
                <a:cs typeface="Open Sans" panose="020B0606030504020204" pitchFamily="34" charset="0"/>
              </a:rPr>
              <a:t>, 예산</a:t>
            </a:r>
            <a:r>
              <a:rPr lang="en-US" altLang="ko-KR" b="1" dirty="0">
                <a:solidFill>
                  <a:srgbClr val="333F70"/>
                </a:solidFill>
                <a:latin typeface="+mj-lt"/>
                <a:cs typeface="Open Sans" panose="020B0606030504020204" pitchFamily="34" charset="0"/>
              </a:rPr>
              <a:t> </a:t>
            </a:r>
            <a:r>
              <a:rPr lang="ko-KR" altLang="en-US" b="1" dirty="0">
                <a:solidFill>
                  <a:srgbClr val="333F70"/>
                </a:solidFill>
                <a:latin typeface="+mj-lt"/>
                <a:cs typeface="Open Sans" panose="020B0606030504020204" pitchFamily="34" charset="0"/>
              </a:rPr>
              <a:t>등</a:t>
            </a:r>
            <a:r>
              <a:rPr lang="ko-KR" altLang="ko-KR" b="1" dirty="0">
                <a:solidFill>
                  <a:srgbClr val="333F70"/>
                </a:solidFill>
                <a:latin typeface="+mj-lt"/>
                <a:cs typeface="Open Sans" panose="020B0606030504020204" pitchFamily="34" charset="0"/>
              </a:rPr>
              <a:t>)</a:t>
            </a:r>
            <a:r>
              <a:rPr lang="ko-KR" altLang="en-US" b="1" dirty="0">
                <a:solidFill>
                  <a:srgbClr val="333F70"/>
                </a:solidFill>
                <a:latin typeface="+mj-lt"/>
                <a:cs typeface="Open Sans" panose="020B0606030504020204" pitchFamily="34" charset="0"/>
              </a:rPr>
              <a:t>을</a:t>
            </a:r>
            <a:r>
              <a:rPr lang="ko-KR" altLang="ko-KR" b="1" dirty="0">
                <a:solidFill>
                  <a:srgbClr val="333F70"/>
                </a:solidFill>
                <a:latin typeface="+mj-lt"/>
                <a:cs typeface="Open Sans" panose="020B0606030504020204" pitchFamily="34" charset="0"/>
              </a:rPr>
              <a:t> </a:t>
            </a:r>
            <a:endParaRPr lang="en-US" altLang="ko-KR" b="1" dirty="0">
              <a:solidFill>
                <a:srgbClr val="333F70"/>
              </a:solidFill>
              <a:latin typeface="+mj-lt"/>
              <a:ea typeface="Open Sans" panose="020B0606030504020204" pitchFamily="34" charset="0"/>
              <a:cs typeface="Open Sans" panose="020B0606030504020204" pitchFamily="34" charset="0"/>
            </a:endParaRPr>
          </a:p>
          <a:p>
            <a:r>
              <a:rPr lang="ko-KR" altLang="ko-KR" b="1" dirty="0">
                <a:solidFill>
                  <a:srgbClr val="333F70"/>
                </a:solidFill>
                <a:latin typeface="+mj-lt"/>
                <a:cs typeface="Open Sans" panose="020B0606030504020204" pitchFamily="34" charset="0"/>
              </a:rPr>
              <a:t>반영하는 서비스</a:t>
            </a:r>
            <a:r>
              <a:rPr lang="ko-KR" altLang="en-US" b="1" dirty="0">
                <a:solidFill>
                  <a:srgbClr val="333F70"/>
                </a:solidFill>
                <a:latin typeface="+mj-lt"/>
                <a:cs typeface="Open Sans" panose="020B0606030504020204" pitchFamily="34" charset="0"/>
              </a:rPr>
              <a:t>의 부재</a:t>
            </a:r>
            <a:r>
              <a:rPr lang="en-US" altLang="ko-KR" b="1" dirty="0">
                <a:solidFill>
                  <a:srgbClr val="333F70"/>
                </a:solidFill>
                <a:latin typeface="+mj-lt"/>
                <a:ea typeface="Open Sans" panose="020B0606030504020204" pitchFamily="34" charset="0"/>
                <a:cs typeface="Open Sans" panose="020B0606030504020204" pitchFamily="34" charset="0"/>
              </a:rPr>
              <a:t>.</a:t>
            </a:r>
            <a:endParaRPr lang="ko-KR" altLang="ko-KR" b="1" dirty="0">
              <a:solidFill>
                <a:srgbClr val="333F70"/>
              </a:solidFill>
              <a:latin typeface="+mj-lt"/>
              <a:cs typeface="Open Sans" panose="020B0606030504020204" pitchFamily="34" charset="0"/>
            </a:endParaRPr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3CC11FDE-B1AE-3672-F122-150AFD8F31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t>2</a:t>
            </a:r>
          </a:p>
        </p:txBody>
      </p:sp>
      <p:pic>
        <p:nvPicPr>
          <p:cNvPr id="15" name="그림 14">
            <a:extLst>
              <a:ext uri="{FF2B5EF4-FFF2-40B4-BE49-F238E27FC236}">
                <a16:creationId xmlns:a16="http://schemas.microsoft.com/office/drawing/2014/main" id="{9ADF80F3-EEAC-5F69-16EC-4EEAF56B6173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514637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8738633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06C5188B-A6D8-460F-F2FD-FCA43063C7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t>3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CF780944-5AFB-F3A4-1F05-ECCF6347E3EF}"/>
              </a:ext>
            </a:extLst>
          </p:cNvPr>
          <p:cNvSpPr txBox="1"/>
          <p:nvPr/>
        </p:nvSpPr>
        <p:spPr>
          <a:xfrm>
            <a:off x="321231" y="208112"/>
            <a:ext cx="569164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4000" b="1" dirty="0">
                <a:solidFill>
                  <a:srgbClr val="333F70"/>
                </a:solidFill>
                <a:cs typeface="ADLaM Display" panose="02010000000000000000" pitchFamily="2" charset="0"/>
              </a:rPr>
              <a:t>Architecture overview</a:t>
            </a:r>
          </a:p>
        </p:txBody>
      </p:sp>
      <p:cxnSp>
        <p:nvCxnSpPr>
          <p:cNvPr id="18" name="직선 연결선 17">
            <a:extLst>
              <a:ext uri="{FF2B5EF4-FFF2-40B4-BE49-F238E27FC236}">
                <a16:creationId xmlns:a16="http://schemas.microsoft.com/office/drawing/2014/main" id="{6DCCB827-80A7-C1EC-CC3F-49273DA3DC72}"/>
              </a:ext>
            </a:extLst>
          </p:cNvPr>
          <p:cNvCxnSpPr>
            <a:cxnSpLocks/>
          </p:cNvCxnSpPr>
          <p:nvPr/>
        </p:nvCxnSpPr>
        <p:spPr>
          <a:xfrm>
            <a:off x="0" y="1136073"/>
            <a:ext cx="12192000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97" name="그림 96">
            <a:extLst>
              <a:ext uri="{FF2B5EF4-FFF2-40B4-BE49-F238E27FC236}">
                <a16:creationId xmlns:a16="http://schemas.microsoft.com/office/drawing/2014/main" id="{F02D6AC1-AFBB-56CD-2EF0-B8684CD729F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566" y="1963607"/>
            <a:ext cx="11886614" cy="41450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4373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27F28B-C53A-FAF9-EA06-7EF44DBC16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그림 17">
            <a:extLst>
              <a:ext uri="{FF2B5EF4-FFF2-40B4-BE49-F238E27FC236}">
                <a16:creationId xmlns:a16="http://schemas.microsoft.com/office/drawing/2014/main" id="{CB03F31B-686B-1F61-7064-355CBDB5603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6910" y="1441475"/>
            <a:ext cx="5857004" cy="4248457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3F33BB7D-45AD-73F2-1554-AA01ED540B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t>4</a:t>
            </a: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37E8C115-F982-E098-EA73-E6CFE2FAA6F9}"/>
              </a:ext>
            </a:extLst>
          </p:cNvPr>
          <p:cNvSpPr/>
          <p:nvPr/>
        </p:nvSpPr>
        <p:spPr>
          <a:xfrm>
            <a:off x="5693689" y="1441475"/>
            <a:ext cx="530225" cy="320224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22" name="그림 21">
            <a:extLst>
              <a:ext uri="{FF2B5EF4-FFF2-40B4-BE49-F238E27FC236}">
                <a16:creationId xmlns:a16="http://schemas.microsoft.com/office/drawing/2014/main" id="{E8460474-C993-7EF1-4E94-CBB732BB9D40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063" t="1578" r="3843" b="6758"/>
          <a:stretch>
            <a:fillRect/>
          </a:stretch>
        </p:blipFill>
        <p:spPr>
          <a:xfrm>
            <a:off x="6435610" y="1441475"/>
            <a:ext cx="5346986" cy="3165866"/>
          </a:xfrm>
          <a:custGeom>
            <a:avLst/>
            <a:gdLst>
              <a:gd name="csX0" fmla="*/ 239187 w 8524463"/>
              <a:gd name="csY0" fmla="*/ 0 h 5047200"/>
              <a:gd name="csX1" fmla="*/ 8285276 w 8524463"/>
              <a:gd name="csY1" fmla="*/ 0 h 5047200"/>
              <a:gd name="csX2" fmla="*/ 8524463 w 8524463"/>
              <a:gd name="csY2" fmla="*/ 239187 h 5047200"/>
              <a:gd name="csX3" fmla="*/ 8524463 w 8524463"/>
              <a:gd name="csY3" fmla="*/ 4808013 h 5047200"/>
              <a:gd name="csX4" fmla="*/ 8285276 w 8524463"/>
              <a:gd name="csY4" fmla="*/ 5047200 h 5047200"/>
              <a:gd name="csX5" fmla="*/ 239187 w 8524463"/>
              <a:gd name="csY5" fmla="*/ 5047200 h 5047200"/>
              <a:gd name="csX6" fmla="*/ 0 w 8524463"/>
              <a:gd name="csY6" fmla="*/ 4808013 h 5047200"/>
              <a:gd name="csX7" fmla="*/ 0 w 8524463"/>
              <a:gd name="csY7" fmla="*/ 239187 h 5047200"/>
              <a:gd name="csX8" fmla="*/ 239187 w 8524463"/>
              <a:gd name="csY8" fmla="*/ 0 h 504720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</a:cxnLst>
            <a:rect l="l" t="t" r="r" b="b"/>
            <a:pathLst>
              <a:path w="8524463" h="5047200">
                <a:moveTo>
                  <a:pt x="239187" y="0"/>
                </a:moveTo>
                <a:lnTo>
                  <a:pt x="8285276" y="0"/>
                </a:lnTo>
                <a:cubicBezTo>
                  <a:pt x="8417375" y="0"/>
                  <a:pt x="8524463" y="107088"/>
                  <a:pt x="8524463" y="239187"/>
                </a:cubicBezTo>
                <a:lnTo>
                  <a:pt x="8524463" y="4808013"/>
                </a:lnTo>
                <a:cubicBezTo>
                  <a:pt x="8524463" y="4940112"/>
                  <a:pt x="8417375" y="5047200"/>
                  <a:pt x="8285276" y="5047200"/>
                </a:cubicBezTo>
                <a:lnTo>
                  <a:pt x="239187" y="5047200"/>
                </a:lnTo>
                <a:cubicBezTo>
                  <a:pt x="107088" y="5047200"/>
                  <a:pt x="0" y="4940112"/>
                  <a:pt x="0" y="4808013"/>
                </a:cubicBezTo>
                <a:lnTo>
                  <a:pt x="0" y="239187"/>
                </a:lnTo>
                <a:cubicBezTo>
                  <a:pt x="0" y="107088"/>
                  <a:pt x="107088" y="0"/>
                  <a:pt x="239187" y="0"/>
                </a:cubicBezTo>
                <a:close/>
              </a:path>
            </a:pathLst>
          </a:custGeom>
          <a:ln w="38100">
            <a:solidFill>
              <a:srgbClr val="FF0000"/>
            </a:solidFill>
          </a:ln>
        </p:spPr>
      </p:pic>
      <p:sp>
        <p:nvSpPr>
          <p:cNvPr id="25" name="TextBox 24">
            <a:extLst>
              <a:ext uri="{FF2B5EF4-FFF2-40B4-BE49-F238E27FC236}">
                <a16:creationId xmlns:a16="http://schemas.microsoft.com/office/drawing/2014/main" id="{66007BA2-5738-C408-6C35-702D285BA160}"/>
              </a:ext>
            </a:extLst>
          </p:cNvPr>
          <p:cNvSpPr txBox="1"/>
          <p:nvPr/>
        </p:nvSpPr>
        <p:spPr>
          <a:xfrm>
            <a:off x="321231" y="208112"/>
            <a:ext cx="569164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4000" b="1" dirty="0" err="1">
                <a:solidFill>
                  <a:srgbClr val="333F70"/>
                </a:solidFill>
                <a:cs typeface="ADLaM Display" panose="02010000000000000000" pitchFamily="2" charset="0"/>
              </a:rPr>
              <a:t>FrontEnd</a:t>
            </a:r>
            <a:endParaRPr lang="en-US" altLang="ko-KR" sz="4000" b="1" dirty="0">
              <a:solidFill>
                <a:srgbClr val="333F70"/>
              </a:solidFill>
              <a:cs typeface="ADLaM Display" panose="02010000000000000000" pitchFamily="2" charset="0"/>
            </a:endParaRPr>
          </a:p>
        </p:txBody>
      </p:sp>
      <p:cxnSp>
        <p:nvCxnSpPr>
          <p:cNvPr id="26" name="직선 연결선 25">
            <a:extLst>
              <a:ext uri="{FF2B5EF4-FFF2-40B4-BE49-F238E27FC236}">
                <a16:creationId xmlns:a16="http://schemas.microsoft.com/office/drawing/2014/main" id="{6DB515AB-2FBF-59C8-3F34-EE98D18B6EAD}"/>
              </a:ext>
            </a:extLst>
          </p:cNvPr>
          <p:cNvCxnSpPr>
            <a:cxnSpLocks/>
          </p:cNvCxnSpPr>
          <p:nvPr/>
        </p:nvCxnSpPr>
        <p:spPr>
          <a:xfrm>
            <a:off x="0" y="1136073"/>
            <a:ext cx="12192000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TextBox 26">
            <a:extLst>
              <a:ext uri="{FF2B5EF4-FFF2-40B4-BE49-F238E27FC236}">
                <a16:creationId xmlns:a16="http://schemas.microsoft.com/office/drawing/2014/main" id="{D52E3D1C-DBD9-7278-97CD-223F04126323}"/>
              </a:ext>
            </a:extLst>
          </p:cNvPr>
          <p:cNvSpPr txBox="1"/>
          <p:nvPr/>
        </p:nvSpPr>
        <p:spPr>
          <a:xfrm>
            <a:off x="2301505" y="5721927"/>
            <a:ext cx="1987815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lang="en-US" altLang="ko-KR" sz="1600" b="1" dirty="0"/>
              <a:t>&lt;Main page&gt;</a:t>
            </a:r>
          </a:p>
        </p:txBody>
      </p:sp>
      <p:sp>
        <p:nvSpPr>
          <p:cNvPr id="29" name="사각형: 둥근 모서리 28">
            <a:extLst>
              <a:ext uri="{FF2B5EF4-FFF2-40B4-BE49-F238E27FC236}">
                <a16:creationId xmlns:a16="http://schemas.microsoft.com/office/drawing/2014/main" id="{C9F46A71-98FB-7D94-85B8-6D6F3A8460EC}"/>
              </a:ext>
            </a:extLst>
          </p:cNvPr>
          <p:cNvSpPr/>
          <p:nvPr/>
        </p:nvSpPr>
        <p:spPr>
          <a:xfrm>
            <a:off x="7924924" y="4795425"/>
            <a:ext cx="2525672" cy="515484"/>
          </a:xfrm>
          <a:prstGeom prst="roundRect">
            <a:avLst>
              <a:gd name="adj" fmla="val 7552"/>
            </a:avLst>
          </a:prstGeom>
          <a:solidFill>
            <a:srgbClr val="DDF8F2"/>
          </a:solidFill>
          <a:ln>
            <a:solidFill>
              <a:srgbClr val="A2ECD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None/>
            </a:pPr>
            <a:r>
              <a:rPr lang="en-US" altLang="ko-KR" b="1" dirty="0">
                <a:solidFill>
                  <a:sysClr val="windowText" lastClr="000000"/>
                </a:solidFill>
              </a:rPr>
              <a:t>2</a:t>
            </a:r>
            <a:r>
              <a:rPr lang="ko-KR" altLang="en-US" b="1" dirty="0">
                <a:solidFill>
                  <a:sysClr val="windowText" lastClr="000000"/>
                </a:solidFill>
              </a:rPr>
              <a:t>가지 로그인 방식</a:t>
            </a:r>
            <a:endParaRPr lang="en-US" altLang="ko-KR" b="1" dirty="0">
              <a:solidFill>
                <a:sysClr val="windowText" lastClr="000000"/>
              </a:solidFill>
            </a:endParaRPr>
          </a:p>
        </p:txBody>
      </p:sp>
      <p:sp>
        <p:nvSpPr>
          <p:cNvPr id="30" name="사각형: 둥근 모서리 29">
            <a:extLst>
              <a:ext uri="{FF2B5EF4-FFF2-40B4-BE49-F238E27FC236}">
                <a16:creationId xmlns:a16="http://schemas.microsoft.com/office/drawing/2014/main" id="{AC387378-0CB8-1533-3D81-48A3FB657AE4}"/>
              </a:ext>
            </a:extLst>
          </p:cNvPr>
          <p:cNvSpPr/>
          <p:nvPr/>
        </p:nvSpPr>
        <p:spPr>
          <a:xfrm>
            <a:off x="6442837" y="5802739"/>
            <a:ext cx="2525672" cy="921334"/>
          </a:xfrm>
          <a:prstGeom prst="roundRect">
            <a:avLst>
              <a:gd name="adj" fmla="val 7552"/>
            </a:avLst>
          </a:prstGeom>
          <a:solidFill>
            <a:srgbClr val="DDF8F2"/>
          </a:solidFill>
          <a:ln>
            <a:solidFill>
              <a:srgbClr val="A2ECD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None/>
            </a:pPr>
            <a:r>
              <a:rPr lang="ko-KR" altLang="en-US" b="1" dirty="0">
                <a:solidFill>
                  <a:sysClr val="windowText" lastClr="000000"/>
                </a:solidFill>
              </a:rPr>
              <a:t>이메일 주소 활용</a:t>
            </a:r>
            <a:endParaRPr lang="en-US" altLang="ko-KR" b="1" dirty="0">
              <a:solidFill>
                <a:sysClr val="windowText" lastClr="000000"/>
              </a:solidFill>
            </a:endParaRPr>
          </a:p>
          <a:p>
            <a:pPr algn="ctr">
              <a:buNone/>
            </a:pPr>
            <a:r>
              <a:rPr lang="ko-KR" altLang="en-US" b="1" dirty="0">
                <a:solidFill>
                  <a:sysClr val="windowText" lastClr="000000"/>
                </a:solidFill>
              </a:rPr>
              <a:t>일반 로그인</a:t>
            </a:r>
            <a:endParaRPr lang="en-US" altLang="ko-KR" b="1" dirty="0">
              <a:solidFill>
                <a:sysClr val="windowText" lastClr="000000"/>
              </a:solidFill>
            </a:endParaRPr>
          </a:p>
        </p:txBody>
      </p:sp>
      <p:sp>
        <p:nvSpPr>
          <p:cNvPr id="31" name="사각형: 둥근 모서리 30">
            <a:extLst>
              <a:ext uri="{FF2B5EF4-FFF2-40B4-BE49-F238E27FC236}">
                <a16:creationId xmlns:a16="http://schemas.microsoft.com/office/drawing/2014/main" id="{CB5E1E40-CE52-DDE6-C108-B8C60A54C081}"/>
              </a:ext>
            </a:extLst>
          </p:cNvPr>
          <p:cNvSpPr/>
          <p:nvPr/>
        </p:nvSpPr>
        <p:spPr>
          <a:xfrm>
            <a:off x="9407011" y="5802739"/>
            <a:ext cx="2525672" cy="921334"/>
          </a:xfrm>
          <a:prstGeom prst="roundRect">
            <a:avLst>
              <a:gd name="adj" fmla="val 7552"/>
            </a:avLst>
          </a:prstGeom>
          <a:solidFill>
            <a:srgbClr val="DDF8F2"/>
          </a:solidFill>
          <a:ln>
            <a:solidFill>
              <a:srgbClr val="A2ECD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None/>
            </a:pPr>
            <a:r>
              <a:rPr lang="ko-KR" altLang="en-US" b="1" dirty="0">
                <a:solidFill>
                  <a:sysClr val="windowText" lastClr="000000"/>
                </a:solidFill>
              </a:rPr>
              <a:t>구글 </a:t>
            </a:r>
            <a:r>
              <a:rPr lang="en-US" altLang="ko-KR" b="1" dirty="0">
                <a:solidFill>
                  <a:sysClr val="windowText" lastClr="000000"/>
                </a:solidFill>
              </a:rPr>
              <a:t>OAuth2.0 </a:t>
            </a:r>
            <a:r>
              <a:rPr lang="ko-KR" altLang="en-US" b="1" dirty="0">
                <a:solidFill>
                  <a:sysClr val="windowText" lastClr="000000"/>
                </a:solidFill>
              </a:rPr>
              <a:t>활용</a:t>
            </a:r>
            <a:endParaRPr lang="en-US" altLang="ko-KR" b="1" dirty="0">
              <a:solidFill>
                <a:sysClr val="windowText" lastClr="000000"/>
              </a:solidFill>
            </a:endParaRPr>
          </a:p>
          <a:p>
            <a:pPr algn="ctr">
              <a:buNone/>
            </a:pPr>
            <a:r>
              <a:rPr lang="ko-KR" altLang="en-US" b="1" dirty="0">
                <a:solidFill>
                  <a:sysClr val="windowText" lastClr="000000"/>
                </a:solidFill>
              </a:rPr>
              <a:t>소셜 로그인</a:t>
            </a:r>
            <a:endParaRPr lang="en-US" altLang="ko-KR" b="1" dirty="0">
              <a:solidFill>
                <a:sysClr val="windowText" lastClr="000000"/>
              </a:solidFill>
            </a:endParaRPr>
          </a:p>
        </p:txBody>
      </p:sp>
      <p:cxnSp>
        <p:nvCxnSpPr>
          <p:cNvPr id="36" name="연결선: 꺾임 35">
            <a:extLst>
              <a:ext uri="{FF2B5EF4-FFF2-40B4-BE49-F238E27FC236}">
                <a16:creationId xmlns:a16="http://schemas.microsoft.com/office/drawing/2014/main" id="{E95A5B6B-8F3F-5068-E9BB-AD66CA839993}"/>
              </a:ext>
            </a:extLst>
          </p:cNvPr>
          <p:cNvCxnSpPr>
            <a:cxnSpLocks/>
            <a:stCxn id="29" idx="2"/>
            <a:endCxn id="30" idx="0"/>
          </p:cNvCxnSpPr>
          <p:nvPr/>
        </p:nvCxnSpPr>
        <p:spPr>
          <a:xfrm rot="5400000">
            <a:off x="8200802" y="4815781"/>
            <a:ext cx="491830" cy="1482087"/>
          </a:xfrm>
          <a:prstGeom prst="bentConnector3">
            <a:avLst/>
          </a:prstGeom>
          <a:ln>
            <a:solidFill>
              <a:srgbClr val="26A688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연결선: 꺾임 42">
            <a:extLst>
              <a:ext uri="{FF2B5EF4-FFF2-40B4-BE49-F238E27FC236}">
                <a16:creationId xmlns:a16="http://schemas.microsoft.com/office/drawing/2014/main" id="{AA9496D1-F1CD-1C2F-C3A3-A06BB83EBC34}"/>
              </a:ext>
            </a:extLst>
          </p:cNvPr>
          <p:cNvCxnSpPr>
            <a:cxnSpLocks/>
            <a:stCxn id="29" idx="2"/>
            <a:endCxn id="31" idx="0"/>
          </p:cNvCxnSpPr>
          <p:nvPr/>
        </p:nvCxnSpPr>
        <p:spPr>
          <a:xfrm rot="16200000" flipH="1">
            <a:off x="9682888" y="4815780"/>
            <a:ext cx="491830" cy="1482087"/>
          </a:xfrm>
          <a:prstGeom prst="bentConnector3">
            <a:avLst>
              <a:gd name="adj1" fmla="val 50000"/>
            </a:avLst>
          </a:prstGeom>
          <a:ln>
            <a:solidFill>
              <a:srgbClr val="26A688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061120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3766BA-671B-F639-43A6-854AC24B15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9" name="그림 38">
            <a:extLst>
              <a:ext uri="{FF2B5EF4-FFF2-40B4-BE49-F238E27FC236}">
                <a16:creationId xmlns:a16="http://schemas.microsoft.com/office/drawing/2014/main" id="{F5A444D3-1586-AC40-9721-7C6F08606474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6773" t="11473" r="686"/>
          <a:stretch>
            <a:fillRect/>
          </a:stretch>
        </p:blipFill>
        <p:spPr>
          <a:xfrm>
            <a:off x="6065947" y="1334915"/>
            <a:ext cx="5607509" cy="3232634"/>
          </a:xfrm>
          <a:custGeom>
            <a:avLst/>
            <a:gdLst>
              <a:gd name="csX0" fmla="*/ 201778 w 5867400"/>
              <a:gd name="csY0" fmla="*/ 0 h 3382457"/>
              <a:gd name="csX1" fmla="*/ 5665622 w 5867400"/>
              <a:gd name="csY1" fmla="*/ 0 h 3382457"/>
              <a:gd name="csX2" fmla="*/ 5706271 w 5867400"/>
              <a:gd name="csY2" fmla="*/ 4098 h 3382457"/>
              <a:gd name="csX3" fmla="*/ 5867400 w 5867400"/>
              <a:gd name="csY3" fmla="*/ 201796 h 3382457"/>
              <a:gd name="csX4" fmla="*/ 5867400 w 5867400"/>
              <a:gd name="csY4" fmla="*/ 3180659 h 3382457"/>
              <a:gd name="csX5" fmla="*/ 5665602 w 5867400"/>
              <a:gd name="csY5" fmla="*/ 3382457 h 3382457"/>
              <a:gd name="csX6" fmla="*/ 201798 w 5867400"/>
              <a:gd name="csY6" fmla="*/ 3382457 h 3382457"/>
              <a:gd name="csX7" fmla="*/ 0 w 5867400"/>
              <a:gd name="csY7" fmla="*/ 3180659 h 3382457"/>
              <a:gd name="csX8" fmla="*/ 0 w 5867400"/>
              <a:gd name="csY8" fmla="*/ 201796 h 3382457"/>
              <a:gd name="csX9" fmla="*/ 161129 w 5867400"/>
              <a:gd name="csY9" fmla="*/ 4098 h 3382457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</a:cxnLst>
            <a:rect l="l" t="t" r="r" b="b"/>
            <a:pathLst>
              <a:path w="5867400" h="3382457">
                <a:moveTo>
                  <a:pt x="201778" y="0"/>
                </a:moveTo>
                <a:lnTo>
                  <a:pt x="5665622" y="0"/>
                </a:lnTo>
                <a:lnTo>
                  <a:pt x="5706271" y="4098"/>
                </a:lnTo>
                <a:cubicBezTo>
                  <a:pt x="5798227" y="22915"/>
                  <a:pt x="5867400" y="104277"/>
                  <a:pt x="5867400" y="201796"/>
                </a:cubicBezTo>
                <a:lnTo>
                  <a:pt x="5867400" y="3180659"/>
                </a:lnTo>
                <a:cubicBezTo>
                  <a:pt x="5867400" y="3292109"/>
                  <a:pt x="5777052" y="3382457"/>
                  <a:pt x="5665602" y="3382457"/>
                </a:cubicBezTo>
                <a:lnTo>
                  <a:pt x="201798" y="3382457"/>
                </a:lnTo>
                <a:cubicBezTo>
                  <a:pt x="90348" y="3382457"/>
                  <a:pt x="0" y="3292109"/>
                  <a:pt x="0" y="3180659"/>
                </a:cubicBezTo>
                <a:lnTo>
                  <a:pt x="0" y="201796"/>
                </a:lnTo>
                <a:cubicBezTo>
                  <a:pt x="0" y="104277"/>
                  <a:pt x="69173" y="22915"/>
                  <a:pt x="161129" y="4098"/>
                </a:cubicBezTo>
                <a:close/>
              </a:path>
            </a:pathLst>
          </a:custGeom>
          <a:ln>
            <a:solidFill>
              <a:schemeClr val="tx1"/>
            </a:solidFill>
          </a:ln>
        </p:spPr>
      </p:pic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21A8BC41-BB6E-0A2C-54ED-AE14FC7A2E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t>5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80F1A344-76C1-0D15-A388-71FD914E4A2C}"/>
              </a:ext>
            </a:extLst>
          </p:cNvPr>
          <p:cNvSpPr txBox="1"/>
          <p:nvPr/>
        </p:nvSpPr>
        <p:spPr>
          <a:xfrm>
            <a:off x="321231" y="208112"/>
            <a:ext cx="569164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4000" b="1" dirty="0" err="1">
                <a:solidFill>
                  <a:srgbClr val="333F70"/>
                </a:solidFill>
                <a:cs typeface="ADLaM Display" panose="02010000000000000000" pitchFamily="2" charset="0"/>
              </a:rPr>
              <a:t>FrontEnd</a:t>
            </a:r>
            <a:endParaRPr lang="en-US" altLang="ko-KR" sz="4000" b="1" dirty="0">
              <a:solidFill>
                <a:srgbClr val="333F70"/>
              </a:solidFill>
              <a:cs typeface="ADLaM Display" panose="02010000000000000000" pitchFamily="2" charset="0"/>
            </a:endParaRPr>
          </a:p>
        </p:txBody>
      </p:sp>
      <p:cxnSp>
        <p:nvCxnSpPr>
          <p:cNvPr id="17" name="직선 연결선 16">
            <a:extLst>
              <a:ext uri="{FF2B5EF4-FFF2-40B4-BE49-F238E27FC236}">
                <a16:creationId xmlns:a16="http://schemas.microsoft.com/office/drawing/2014/main" id="{50A5D138-77DD-F913-AC52-6A9346140356}"/>
              </a:ext>
            </a:extLst>
          </p:cNvPr>
          <p:cNvCxnSpPr>
            <a:cxnSpLocks/>
          </p:cNvCxnSpPr>
          <p:nvPr/>
        </p:nvCxnSpPr>
        <p:spPr>
          <a:xfrm>
            <a:off x="0" y="1136073"/>
            <a:ext cx="12192000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40" name="그룹 39">
            <a:extLst>
              <a:ext uri="{FF2B5EF4-FFF2-40B4-BE49-F238E27FC236}">
                <a16:creationId xmlns:a16="http://schemas.microsoft.com/office/drawing/2014/main" id="{50168A80-17E3-7914-12B7-91804E0D29FE}"/>
              </a:ext>
            </a:extLst>
          </p:cNvPr>
          <p:cNvGrpSpPr/>
          <p:nvPr/>
        </p:nvGrpSpPr>
        <p:grpSpPr>
          <a:xfrm>
            <a:off x="518545" y="1334915"/>
            <a:ext cx="5028857" cy="5350676"/>
            <a:chOff x="372491" y="1334915"/>
            <a:chExt cx="5028857" cy="5350676"/>
          </a:xfrm>
        </p:grpSpPr>
        <p:pic>
          <p:nvPicPr>
            <p:cNvPr id="22" name="그림 21">
              <a:extLst>
                <a:ext uri="{FF2B5EF4-FFF2-40B4-BE49-F238E27FC236}">
                  <a16:creationId xmlns:a16="http://schemas.microsoft.com/office/drawing/2014/main" id="{044A081A-AD3E-37E6-E165-C0519BA31E32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l="2204" t="2227" r="2137" b="2021"/>
            <a:stretch>
              <a:fillRect/>
            </a:stretch>
          </p:blipFill>
          <p:spPr>
            <a:xfrm>
              <a:off x="372491" y="1334915"/>
              <a:ext cx="5028857" cy="3090026"/>
            </a:xfrm>
            <a:custGeom>
              <a:avLst/>
              <a:gdLst>
                <a:gd name="csX0" fmla="*/ 116907 w 6898484"/>
                <a:gd name="csY0" fmla="*/ 0 h 4238836"/>
                <a:gd name="csX1" fmla="*/ 6781577 w 6898484"/>
                <a:gd name="csY1" fmla="*/ 0 h 4238836"/>
                <a:gd name="csX2" fmla="*/ 6898484 w 6898484"/>
                <a:gd name="csY2" fmla="*/ 116907 h 4238836"/>
                <a:gd name="csX3" fmla="*/ 6898484 w 6898484"/>
                <a:gd name="csY3" fmla="*/ 4121929 h 4238836"/>
                <a:gd name="csX4" fmla="*/ 6781577 w 6898484"/>
                <a:gd name="csY4" fmla="*/ 4238836 h 4238836"/>
                <a:gd name="csX5" fmla="*/ 116907 w 6898484"/>
                <a:gd name="csY5" fmla="*/ 4238836 h 4238836"/>
                <a:gd name="csX6" fmla="*/ 0 w 6898484"/>
                <a:gd name="csY6" fmla="*/ 4121929 h 4238836"/>
                <a:gd name="csX7" fmla="*/ 0 w 6898484"/>
                <a:gd name="csY7" fmla="*/ 116907 h 4238836"/>
                <a:gd name="csX8" fmla="*/ 116907 w 6898484"/>
                <a:gd name="csY8" fmla="*/ 0 h 4238836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</a:cxnLst>
              <a:rect l="l" t="t" r="r" b="b"/>
              <a:pathLst>
                <a:path w="6898484" h="4238836">
                  <a:moveTo>
                    <a:pt x="116907" y="0"/>
                  </a:moveTo>
                  <a:lnTo>
                    <a:pt x="6781577" y="0"/>
                  </a:lnTo>
                  <a:cubicBezTo>
                    <a:pt x="6846143" y="0"/>
                    <a:pt x="6898484" y="52341"/>
                    <a:pt x="6898484" y="116907"/>
                  </a:cubicBezTo>
                  <a:lnTo>
                    <a:pt x="6898484" y="4121929"/>
                  </a:lnTo>
                  <a:cubicBezTo>
                    <a:pt x="6898484" y="4186495"/>
                    <a:pt x="6846143" y="4238836"/>
                    <a:pt x="6781577" y="4238836"/>
                  </a:cubicBezTo>
                  <a:lnTo>
                    <a:pt x="116907" y="4238836"/>
                  </a:lnTo>
                  <a:cubicBezTo>
                    <a:pt x="52341" y="4238836"/>
                    <a:pt x="0" y="4186495"/>
                    <a:pt x="0" y="4121929"/>
                  </a:cubicBezTo>
                  <a:lnTo>
                    <a:pt x="0" y="116907"/>
                  </a:lnTo>
                  <a:cubicBezTo>
                    <a:pt x="0" y="52341"/>
                    <a:pt x="52341" y="0"/>
                    <a:pt x="116907" y="0"/>
                  </a:cubicBezTo>
                  <a:close/>
                </a:path>
              </a:pathLst>
            </a:custGeom>
            <a:ln>
              <a:solidFill>
                <a:schemeClr val="tx1"/>
              </a:solidFill>
            </a:ln>
          </p:spPr>
        </p:pic>
        <p:sp>
          <p:nvSpPr>
            <p:cNvPr id="24" name="사각형: 둥근 모서리 23">
              <a:extLst>
                <a:ext uri="{FF2B5EF4-FFF2-40B4-BE49-F238E27FC236}">
                  <a16:creationId xmlns:a16="http://schemas.microsoft.com/office/drawing/2014/main" id="{74819C6A-5899-ABE1-4B6B-F2453B966EB2}"/>
                </a:ext>
              </a:extLst>
            </p:cNvPr>
            <p:cNvSpPr/>
            <p:nvPr/>
          </p:nvSpPr>
          <p:spPr>
            <a:xfrm>
              <a:off x="837805" y="4633932"/>
              <a:ext cx="4098228" cy="921334"/>
            </a:xfrm>
            <a:prstGeom prst="roundRect">
              <a:avLst>
                <a:gd name="adj" fmla="val 7552"/>
              </a:avLst>
            </a:prstGeom>
            <a:solidFill>
              <a:srgbClr val="DDF8F2"/>
            </a:solidFill>
            <a:ln>
              <a:solidFill>
                <a:srgbClr val="A2ECDC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150000"/>
                </a:lnSpc>
                <a:buNone/>
              </a:pPr>
              <a:r>
                <a:rPr lang="ko-KR" altLang="en-US" b="1" dirty="0">
                  <a:solidFill>
                    <a:sysClr val="windowText" lastClr="000000"/>
                  </a:solidFill>
                </a:rPr>
                <a:t>대화형 </a:t>
              </a:r>
              <a:r>
                <a:rPr lang="en-US" altLang="ko-KR" b="1" dirty="0">
                  <a:solidFill>
                    <a:sysClr val="windowText" lastClr="000000"/>
                  </a:solidFill>
                </a:rPr>
                <a:t>AI </a:t>
              </a:r>
              <a:r>
                <a:rPr lang="ko-KR" altLang="en-US" b="1" dirty="0">
                  <a:solidFill>
                    <a:sysClr val="windowText" lastClr="000000"/>
                  </a:solidFill>
                </a:rPr>
                <a:t>여행 </a:t>
              </a:r>
              <a:r>
                <a:rPr lang="ko-KR" altLang="en-US" b="1" dirty="0" err="1">
                  <a:solidFill>
                    <a:sysClr val="windowText" lastClr="000000"/>
                  </a:solidFill>
                </a:rPr>
                <a:t>플래너</a:t>
              </a:r>
              <a:endParaRPr lang="en-US" altLang="ko-KR" b="1" dirty="0">
                <a:solidFill>
                  <a:sysClr val="windowText" lastClr="000000"/>
                </a:solidFill>
              </a:endParaRPr>
            </a:p>
            <a:p>
              <a:pPr algn="ctr">
                <a:lnSpc>
                  <a:spcPct val="150000"/>
                </a:lnSpc>
                <a:buNone/>
              </a:pPr>
              <a:r>
                <a:rPr lang="en-US" altLang="ko-KR" sz="1400" dirty="0">
                  <a:solidFill>
                    <a:sysClr val="windowText" lastClr="000000"/>
                  </a:solidFill>
                </a:rPr>
                <a:t>4</a:t>
              </a:r>
              <a:r>
                <a:rPr lang="ko-KR" altLang="en-US" sz="1400" dirty="0">
                  <a:solidFill>
                    <a:sysClr val="windowText" lastClr="000000"/>
                  </a:solidFill>
                </a:rPr>
                <a:t>단계의 문답모드로 최적 코스 완성</a:t>
              </a:r>
              <a:endParaRPr lang="en-US" altLang="ko-KR" sz="1400" dirty="0">
                <a:solidFill>
                  <a:sysClr val="windowText" lastClr="000000"/>
                </a:solidFill>
              </a:endParaRPr>
            </a:p>
          </p:txBody>
        </p:sp>
        <p:sp>
          <p:nvSpPr>
            <p:cNvPr id="33" name="사각형: 둥근 모서리 32">
              <a:extLst>
                <a:ext uri="{FF2B5EF4-FFF2-40B4-BE49-F238E27FC236}">
                  <a16:creationId xmlns:a16="http://schemas.microsoft.com/office/drawing/2014/main" id="{7F0188AA-FE5C-0E20-6C72-6C58429120D9}"/>
                </a:ext>
              </a:extLst>
            </p:cNvPr>
            <p:cNvSpPr/>
            <p:nvPr/>
          </p:nvSpPr>
          <p:spPr>
            <a:xfrm>
              <a:off x="837805" y="5764257"/>
              <a:ext cx="4098228" cy="921334"/>
            </a:xfrm>
            <a:prstGeom prst="roundRect">
              <a:avLst>
                <a:gd name="adj" fmla="val 7552"/>
              </a:avLst>
            </a:prstGeom>
            <a:solidFill>
              <a:srgbClr val="DDF8F2"/>
            </a:solidFill>
            <a:ln>
              <a:solidFill>
                <a:srgbClr val="A2ECDC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150000"/>
                </a:lnSpc>
                <a:buNone/>
              </a:pPr>
              <a:r>
                <a:rPr lang="ko-KR" altLang="en-US" b="1" dirty="0">
                  <a:solidFill>
                    <a:sysClr val="windowText" lastClr="000000"/>
                  </a:solidFill>
                </a:rPr>
                <a:t>대화형 </a:t>
              </a:r>
              <a:r>
                <a:rPr lang="en-US" altLang="ko-KR" b="1" dirty="0">
                  <a:solidFill>
                    <a:sysClr val="windowText" lastClr="000000"/>
                  </a:solidFill>
                </a:rPr>
                <a:t>AI </a:t>
              </a:r>
              <a:r>
                <a:rPr lang="ko-KR" altLang="en-US" b="1" dirty="0">
                  <a:solidFill>
                    <a:sysClr val="windowText" lastClr="000000"/>
                  </a:solidFill>
                </a:rPr>
                <a:t>여행 </a:t>
              </a:r>
              <a:r>
                <a:rPr lang="ko-KR" altLang="en-US" b="1" dirty="0" err="1">
                  <a:solidFill>
                    <a:sysClr val="windowText" lastClr="000000"/>
                  </a:solidFill>
                </a:rPr>
                <a:t>플래너</a:t>
              </a:r>
              <a:endParaRPr lang="en-US" altLang="ko-KR" b="1" dirty="0">
                <a:solidFill>
                  <a:sysClr val="windowText" lastClr="000000"/>
                </a:solidFill>
              </a:endParaRPr>
            </a:p>
            <a:p>
              <a:pPr algn="ctr">
                <a:lnSpc>
                  <a:spcPct val="150000"/>
                </a:lnSpc>
                <a:buNone/>
              </a:pPr>
              <a:r>
                <a:rPr lang="ko-KR" altLang="en-US" sz="1400" dirty="0">
                  <a:solidFill>
                    <a:sysClr val="windowText" lastClr="000000"/>
                  </a:solidFill>
                </a:rPr>
                <a:t>여행 정보를 입력하여 </a:t>
              </a:r>
              <a:r>
                <a:rPr lang="en-US" altLang="ko-KR" sz="1400" dirty="0">
                  <a:solidFill>
                    <a:sysClr val="windowText" lastClr="000000"/>
                  </a:solidFill>
                </a:rPr>
                <a:t>API</a:t>
              </a:r>
              <a:r>
                <a:rPr lang="ko-KR" altLang="en-US" sz="1400" dirty="0">
                  <a:solidFill>
                    <a:sysClr val="windowText" lastClr="000000"/>
                  </a:solidFill>
                </a:rPr>
                <a:t>를 통한 일정 생성</a:t>
              </a:r>
              <a:endParaRPr lang="en-US" altLang="ko-KR" sz="1400" dirty="0">
                <a:solidFill>
                  <a:sysClr val="windowText" lastClr="000000"/>
                </a:solidFill>
              </a:endParaRPr>
            </a:p>
          </p:txBody>
        </p:sp>
      </p:grpSp>
      <p:sp>
        <p:nvSpPr>
          <p:cNvPr id="42" name="사각형: 둥근 모서리 41">
            <a:extLst>
              <a:ext uri="{FF2B5EF4-FFF2-40B4-BE49-F238E27FC236}">
                <a16:creationId xmlns:a16="http://schemas.microsoft.com/office/drawing/2014/main" id="{EA29B932-059D-871C-5840-546BB3FFBBC4}"/>
              </a:ext>
            </a:extLst>
          </p:cNvPr>
          <p:cNvSpPr/>
          <p:nvPr/>
        </p:nvSpPr>
        <p:spPr>
          <a:xfrm>
            <a:off x="6652302" y="4956963"/>
            <a:ext cx="4434798" cy="1529927"/>
          </a:xfrm>
          <a:prstGeom prst="roundRect">
            <a:avLst>
              <a:gd name="adj" fmla="val 7552"/>
            </a:avLst>
          </a:prstGeom>
          <a:solidFill>
            <a:srgbClr val="DDF8F2"/>
          </a:solidFill>
          <a:ln>
            <a:solidFill>
              <a:srgbClr val="A2ECD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  <a:buNone/>
            </a:pPr>
            <a:r>
              <a:rPr lang="ko-KR" altLang="en-US" sz="2000" b="1" dirty="0">
                <a:solidFill>
                  <a:schemeClr val="tx1"/>
                </a:solidFill>
              </a:rPr>
              <a:t>생성된 일정도 언제든지</a:t>
            </a:r>
            <a:endParaRPr lang="en-US" altLang="ko-KR" sz="2000" b="1" dirty="0">
              <a:solidFill>
                <a:schemeClr val="tx1"/>
              </a:solidFill>
            </a:endParaRPr>
          </a:p>
          <a:p>
            <a:pPr algn="ctr">
              <a:lnSpc>
                <a:spcPct val="150000"/>
              </a:lnSpc>
              <a:buNone/>
            </a:pPr>
            <a:r>
              <a:rPr lang="en-US" altLang="ko-KR" sz="2000" b="1" dirty="0">
                <a:solidFill>
                  <a:schemeClr val="tx1"/>
                </a:solidFill>
              </a:rPr>
              <a:t>AI </a:t>
            </a:r>
            <a:r>
              <a:rPr lang="ko-KR" altLang="en-US" sz="2000" b="1" dirty="0">
                <a:solidFill>
                  <a:schemeClr val="tx1"/>
                </a:solidFill>
              </a:rPr>
              <a:t>일정 </a:t>
            </a:r>
            <a:r>
              <a:rPr lang="ko-KR" altLang="en-US" sz="2000" b="1" dirty="0" err="1">
                <a:solidFill>
                  <a:schemeClr val="tx1"/>
                </a:solidFill>
              </a:rPr>
              <a:t>플래너와</a:t>
            </a:r>
            <a:r>
              <a:rPr lang="ko-KR" altLang="en-US" sz="2000" b="1" dirty="0">
                <a:solidFill>
                  <a:schemeClr val="tx1"/>
                </a:solidFill>
              </a:rPr>
              <a:t> 함께 수정</a:t>
            </a:r>
            <a:endParaRPr lang="en-US" altLang="ko-KR" sz="2000" b="1" dirty="0">
              <a:solidFill>
                <a:schemeClr val="tx1"/>
              </a:solidFill>
            </a:endParaRPr>
          </a:p>
        </p:txBody>
      </p:sp>
      <p:sp>
        <p:nvSpPr>
          <p:cNvPr id="43" name="사각형: 둥근 모서리 42">
            <a:extLst>
              <a:ext uri="{FF2B5EF4-FFF2-40B4-BE49-F238E27FC236}">
                <a16:creationId xmlns:a16="http://schemas.microsoft.com/office/drawing/2014/main" id="{538BE125-E91F-5B23-23BE-028309C067ED}"/>
              </a:ext>
            </a:extLst>
          </p:cNvPr>
          <p:cNvSpPr/>
          <p:nvPr/>
        </p:nvSpPr>
        <p:spPr>
          <a:xfrm>
            <a:off x="10071099" y="2419349"/>
            <a:ext cx="1517651" cy="2095501"/>
          </a:xfrm>
          <a:prstGeom prst="roundRect">
            <a:avLst>
              <a:gd name="adj" fmla="val 5624"/>
            </a:avLst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5521099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4E2806-4623-1328-550C-E0D69EB958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E527F71A-E4D1-2FE6-3C49-2CCA108AFE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t>6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CEA4057-0CBA-B4D9-8577-451C907CE604}"/>
              </a:ext>
            </a:extLst>
          </p:cNvPr>
          <p:cNvSpPr txBox="1"/>
          <p:nvPr/>
        </p:nvSpPr>
        <p:spPr>
          <a:xfrm>
            <a:off x="321231" y="208112"/>
            <a:ext cx="569164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4000" b="1" dirty="0" err="1">
                <a:solidFill>
                  <a:srgbClr val="333F70"/>
                </a:solidFill>
                <a:cs typeface="ADLaM Display" panose="02010000000000000000" pitchFamily="2" charset="0"/>
              </a:rPr>
              <a:t>DataBase</a:t>
            </a:r>
            <a:endParaRPr lang="en-US" altLang="ko-KR" sz="4000" b="1" dirty="0">
              <a:solidFill>
                <a:srgbClr val="333F70"/>
              </a:solidFill>
              <a:cs typeface="ADLaM Display" panose="02010000000000000000" pitchFamily="2" charset="0"/>
            </a:endParaRPr>
          </a:p>
        </p:txBody>
      </p:sp>
      <p:cxnSp>
        <p:nvCxnSpPr>
          <p:cNvPr id="9" name="직선 연결선 8">
            <a:extLst>
              <a:ext uri="{FF2B5EF4-FFF2-40B4-BE49-F238E27FC236}">
                <a16:creationId xmlns:a16="http://schemas.microsoft.com/office/drawing/2014/main" id="{A4F19AC7-C53D-FAD2-2E13-2CE3D5757477}"/>
              </a:ext>
            </a:extLst>
          </p:cNvPr>
          <p:cNvCxnSpPr>
            <a:cxnSpLocks/>
          </p:cNvCxnSpPr>
          <p:nvPr/>
        </p:nvCxnSpPr>
        <p:spPr>
          <a:xfrm>
            <a:off x="0" y="1136073"/>
            <a:ext cx="12192000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직선 연결선 12">
            <a:extLst>
              <a:ext uri="{FF2B5EF4-FFF2-40B4-BE49-F238E27FC236}">
                <a16:creationId xmlns:a16="http://schemas.microsoft.com/office/drawing/2014/main" id="{246B5747-A0BC-B6FD-0E6E-264AC9CDC922}"/>
              </a:ext>
            </a:extLst>
          </p:cNvPr>
          <p:cNvCxnSpPr>
            <a:cxnSpLocks/>
          </p:cNvCxnSpPr>
          <p:nvPr/>
        </p:nvCxnSpPr>
        <p:spPr>
          <a:xfrm>
            <a:off x="4064000" y="1796937"/>
            <a:ext cx="0" cy="475560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직선 연결선 13">
            <a:extLst>
              <a:ext uri="{FF2B5EF4-FFF2-40B4-BE49-F238E27FC236}">
                <a16:creationId xmlns:a16="http://schemas.microsoft.com/office/drawing/2014/main" id="{012BB6FC-F084-73ED-AF05-8E9F5132078A}"/>
              </a:ext>
            </a:extLst>
          </p:cNvPr>
          <p:cNvCxnSpPr>
            <a:cxnSpLocks/>
          </p:cNvCxnSpPr>
          <p:nvPr/>
        </p:nvCxnSpPr>
        <p:spPr>
          <a:xfrm>
            <a:off x="8128000" y="1796937"/>
            <a:ext cx="0" cy="4756263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사각형: 둥근 모서리 18">
            <a:extLst>
              <a:ext uri="{FF2B5EF4-FFF2-40B4-BE49-F238E27FC236}">
                <a16:creationId xmlns:a16="http://schemas.microsoft.com/office/drawing/2014/main" id="{DC283A13-0EF1-9EE5-BB98-65F834C783D3}"/>
              </a:ext>
            </a:extLst>
          </p:cNvPr>
          <p:cNvSpPr/>
          <p:nvPr/>
        </p:nvSpPr>
        <p:spPr>
          <a:xfrm>
            <a:off x="530223" y="2114550"/>
            <a:ext cx="3003552" cy="4344306"/>
          </a:xfrm>
          <a:prstGeom prst="roundRect">
            <a:avLst>
              <a:gd name="adj" fmla="val 7552"/>
            </a:avLst>
          </a:prstGeom>
          <a:solidFill>
            <a:srgbClr val="DDF8F2"/>
          </a:solidFill>
          <a:ln>
            <a:solidFill>
              <a:srgbClr val="A2ECD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lnSpc>
                <a:spcPct val="150000"/>
              </a:lnSpc>
              <a:buNone/>
            </a:pPr>
            <a:r>
              <a:rPr lang="ko-KR" altLang="en-US" sz="2000" b="1" dirty="0">
                <a:solidFill>
                  <a:schemeClr val="tx1"/>
                </a:solidFill>
              </a:rPr>
              <a:t>사용자와 관련된 </a:t>
            </a:r>
            <a:endParaRPr lang="en-US" altLang="ko-KR" sz="2000" b="1" dirty="0">
              <a:solidFill>
                <a:schemeClr val="tx1"/>
              </a:solidFill>
            </a:endParaRPr>
          </a:p>
          <a:p>
            <a:pPr algn="ctr">
              <a:lnSpc>
                <a:spcPct val="150000"/>
              </a:lnSpc>
              <a:buNone/>
            </a:pPr>
            <a:r>
              <a:rPr lang="ko-KR" altLang="en-US" sz="2000" b="1" dirty="0">
                <a:solidFill>
                  <a:schemeClr val="tx1"/>
                </a:solidFill>
              </a:rPr>
              <a:t>데이터</a:t>
            </a:r>
            <a:endParaRPr lang="en-US" altLang="ko-KR" sz="2000" b="1" dirty="0">
              <a:solidFill>
                <a:schemeClr val="tx1"/>
              </a:solidFill>
            </a:endParaRPr>
          </a:p>
          <a:p>
            <a:pPr algn="ctr">
              <a:lnSpc>
                <a:spcPct val="150000"/>
              </a:lnSpc>
              <a:buNone/>
            </a:pPr>
            <a:endParaRPr lang="en-US" altLang="ko-KR" sz="2000" b="1" dirty="0">
              <a:solidFill>
                <a:schemeClr val="tx1"/>
              </a:solidFill>
            </a:endParaRPr>
          </a:p>
          <a:p>
            <a:pPr algn="ctr">
              <a:lnSpc>
                <a:spcPct val="150000"/>
              </a:lnSpc>
              <a:buNone/>
            </a:pPr>
            <a:endParaRPr lang="en-US" altLang="ko-KR" sz="2000" b="1" dirty="0">
              <a:solidFill>
                <a:schemeClr val="tx1"/>
              </a:solidFill>
            </a:endParaRPr>
          </a:p>
          <a:p>
            <a:pPr algn="ctr">
              <a:lnSpc>
                <a:spcPct val="150000"/>
              </a:lnSpc>
              <a:buNone/>
            </a:pPr>
            <a:r>
              <a:rPr lang="ko-KR" altLang="en-US" sz="2000" b="1" dirty="0">
                <a:solidFill>
                  <a:schemeClr val="tx1"/>
                </a:solidFill>
              </a:rPr>
              <a:t>이름</a:t>
            </a:r>
            <a:r>
              <a:rPr lang="en-US" altLang="ko-KR" sz="2000" b="1" dirty="0">
                <a:solidFill>
                  <a:schemeClr val="tx1"/>
                </a:solidFill>
              </a:rPr>
              <a:t>, ID, </a:t>
            </a:r>
            <a:r>
              <a:rPr lang="ko-KR" altLang="en-US" sz="2000" b="1" dirty="0">
                <a:solidFill>
                  <a:schemeClr val="tx1"/>
                </a:solidFill>
              </a:rPr>
              <a:t>비밀번호 해시</a:t>
            </a:r>
            <a:r>
              <a:rPr lang="en-US" altLang="ko-KR" sz="2000" b="1" dirty="0">
                <a:solidFill>
                  <a:schemeClr val="tx1"/>
                </a:solidFill>
              </a:rPr>
              <a:t>,</a:t>
            </a:r>
          </a:p>
          <a:p>
            <a:pPr algn="ctr">
              <a:lnSpc>
                <a:spcPct val="150000"/>
              </a:lnSpc>
              <a:buNone/>
            </a:pPr>
            <a:r>
              <a:rPr lang="ko-KR" altLang="en-US" sz="2000" b="1" dirty="0">
                <a:solidFill>
                  <a:schemeClr val="tx1"/>
                </a:solidFill>
              </a:rPr>
              <a:t>소셜 아이디 연동 여부</a:t>
            </a:r>
            <a:r>
              <a:rPr lang="en-US" altLang="ko-KR" sz="2000" b="1" dirty="0">
                <a:solidFill>
                  <a:schemeClr val="tx1"/>
                </a:solidFill>
              </a:rPr>
              <a:t>,</a:t>
            </a:r>
          </a:p>
          <a:p>
            <a:pPr algn="ctr">
              <a:lnSpc>
                <a:spcPct val="150000"/>
              </a:lnSpc>
              <a:buNone/>
            </a:pPr>
            <a:r>
              <a:rPr lang="en-US" altLang="ko-KR" sz="2000" b="1" dirty="0">
                <a:solidFill>
                  <a:schemeClr val="tx1"/>
                </a:solidFill>
              </a:rPr>
              <a:t>Admin </a:t>
            </a:r>
            <a:r>
              <a:rPr lang="ko-KR" altLang="en-US" sz="2000" b="1" dirty="0">
                <a:solidFill>
                  <a:schemeClr val="tx1"/>
                </a:solidFill>
              </a:rPr>
              <a:t>여부</a:t>
            </a:r>
            <a:endParaRPr lang="en-US" altLang="ko-KR" sz="2000" b="1" dirty="0">
              <a:solidFill>
                <a:schemeClr val="tx1"/>
              </a:solidFill>
            </a:endParaRPr>
          </a:p>
          <a:p>
            <a:pPr algn="ctr">
              <a:lnSpc>
                <a:spcPct val="150000"/>
              </a:lnSpc>
              <a:buNone/>
            </a:pPr>
            <a:endParaRPr lang="en-US" altLang="ko-KR" sz="2000" b="1" dirty="0">
              <a:solidFill>
                <a:schemeClr val="tx1"/>
              </a:solidFill>
            </a:endParaRPr>
          </a:p>
        </p:txBody>
      </p:sp>
      <p:sp>
        <p:nvSpPr>
          <p:cNvPr id="20" name="사각형: 둥근 모서리 19">
            <a:extLst>
              <a:ext uri="{FF2B5EF4-FFF2-40B4-BE49-F238E27FC236}">
                <a16:creationId xmlns:a16="http://schemas.microsoft.com/office/drawing/2014/main" id="{F6786552-AFE1-2835-D01E-3F273423AC20}"/>
              </a:ext>
            </a:extLst>
          </p:cNvPr>
          <p:cNvSpPr/>
          <p:nvPr/>
        </p:nvSpPr>
        <p:spPr>
          <a:xfrm>
            <a:off x="4594224" y="2114550"/>
            <a:ext cx="3003552" cy="4344306"/>
          </a:xfrm>
          <a:prstGeom prst="roundRect">
            <a:avLst>
              <a:gd name="adj" fmla="val 7552"/>
            </a:avLst>
          </a:prstGeom>
          <a:solidFill>
            <a:srgbClr val="DDF8F2"/>
          </a:solidFill>
          <a:ln>
            <a:solidFill>
              <a:srgbClr val="A2ECD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lnSpc>
                <a:spcPct val="150000"/>
              </a:lnSpc>
              <a:buNone/>
            </a:pPr>
            <a:r>
              <a:rPr lang="ko-KR" altLang="en-US" sz="2000" b="1" dirty="0">
                <a:solidFill>
                  <a:schemeClr val="tx1"/>
                </a:solidFill>
              </a:rPr>
              <a:t>여행지와 관련된</a:t>
            </a:r>
            <a:endParaRPr lang="en-US" altLang="ko-KR" sz="2000" b="1" dirty="0">
              <a:solidFill>
                <a:schemeClr val="tx1"/>
              </a:solidFill>
            </a:endParaRPr>
          </a:p>
          <a:p>
            <a:pPr algn="ctr">
              <a:lnSpc>
                <a:spcPct val="150000"/>
              </a:lnSpc>
              <a:buNone/>
            </a:pPr>
            <a:r>
              <a:rPr lang="ko-KR" altLang="en-US" sz="2000" b="1" dirty="0">
                <a:solidFill>
                  <a:schemeClr val="tx1"/>
                </a:solidFill>
              </a:rPr>
              <a:t>데이터</a:t>
            </a:r>
            <a:endParaRPr lang="en-US" altLang="ko-KR" sz="2000" b="1" dirty="0">
              <a:solidFill>
                <a:schemeClr val="tx1"/>
              </a:solidFill>
            </a:endParaRPr>
          </a:p>
          <a:p>
            <a:pPr algn="ctr">
              <a:lnSpc>
                <a:spcPct val="150000"/>
              </a:lnSpc>
              <a:buNone/>
            </a:pPr>
            <a:endParaRPr lang="en-US" altLang="ko-KR" sz="2000" b="1" dirty="0">
              <a:solidFill>
                <a:schemeClr val="tx1"/>
              </a:solidFill>
            </a:endParaRPr>
          </a:p>
          <a:p>
            <a:pPr algn="ctr">
              <a:lnSpc>
                <a:spcPct val="150000"/>
              </a:lnSpc>
              <a:buNone/>
            </a:pPr>
            <a:endParaRPr lang="en-US" altLang="ko-KR" sz="2000" b="1" dirty="0">
              <a:solidFill>
                <a:schemeClr val="tx1"/>
              </a:solidFill>
            </a:endParaRPr>
          </a:p>
          <a:p>
            <a:pPr algn="ctr">
              <a:lnSpc>
                <a:spcPct val="150000"/>
              </a:lnSpc>
              <a:buNone/>
            </a:pPr>
            <a:r>
              <a:rPr lang="ko-KR" altLang="en-US" sz="2000" b="1" dirty="0">
                <a:solidFill>
                  <a:schemeClr val="tx1"/>
                </a:solidFill>
              </a:rPr>
              <a:t>관광 교통 공사의 </a:t>
            </a:r>
            <a:r>
              <a:rPr lang="en-US" altLang="ko-KR" sz="2000" b="1" dirty="0">
                <a:solidFill>
                  <a:schemeClr val="tx1"/>
                </a:solidFill>
              </a:rPr>
              <a:t>API</a:t>
            </a:r>
            <a:r>
              <a:rPr lang="ko-KR" altLang="en-US" sz="2000" b="1" dirty="0">
                <a:solidFill>
                  <a:schemeClr val="tx1"/>
                </a:solidFill>
              </a:rPr>
              <a:t>로 호출한 최신 관광지 정보</a:t>
            </a:r>
            <a:endParaRPr lang="en-US" altLang="ko-KR" sz="2000" b="1" dirty="0">
              <a:solidFill>
                <a:schemeClr val="tx1"/>
              </a:solidFill>
            </a:endParaRPr>
          </a:p>
        </p:txBody>
      </p:sp>
      <p:sp>
        <p:nvSpPr>
          <p:cNvPr id="21" name="사각형: 둥근 모서리 20">
            <a:extLst>
              <a:ext uri="{FF2B5EF4-FFF2-40B4-BE49-F238E27FC236}">
                <a16:creationId xmlns:a16="http://schemas.microsoft.com/office/drawing/2014/main" id="{C44D2212-0D98-649F-981D-A9A105829776}"/>
              </a:ext>
            </a:extLst>
          </p:cNvPr>
          <p:cNvSpPr/>
          <p:nvPr/>
        </p:nvSpPr>
        <p:spPr>
          <a:xfrm>
            <a:off x="8658225" y="2114550"/>
            <a:ext cx="3003552" cy="4344306"/>
          </a:xfrm>
          <a:prstGeom prst="roundRect">
            <a:avLst>
              <a:gd name="adj" fmla="val 7552"/>
            </a:avLst>
          </a:prstGeom>
          <a:solidFill>
            <a:srgbClr val="DDF8F2"/>
          </a:solidFill>
          <a:ln>
            <a:solidFill>
              <a:srgbClr val="A2ECD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lnSpc>
                <a:spcPct val="150000"/>
              </a:lnSpc>
              <a:buNone/>
            </a:pPr>
            <a:r>
              <a:rPr lang="ko-KR" altLang="en-US" sz="2000" b="1" dirty="0">
                <a:solidFill>
                  <a:schemeClr val="tx1"/>
                </a:solidFill>
              </a:rPr>
              <a:t>기상 예측 모델과 관련된 데이터</a:t>
            </a:r>
            <a:endParaRPr lang="en-US" altLang="ko-KR" sz="2000" b="1" dirty="0">
              <a:solidFill>
                <a:schemeClr val="tx1"/>
              </a:solidFill>
            </a:endParaRPr>
          </a:p>
          <a:p>
            <a:pPr algn="ctr">
              <a:lnSpc>
                <a:spcPct val="150000"/>
              </a:lnSpc>
              <a:buNone/>
            </a:pPr>
            <a:endParaRPr lang="en-US" altLang="ko-KR" sz="2000" b="1" dirty="0">
              <a:solidFill>
                <a:schemeClr val="tx1"/>
              </a:solidFill>
            </a:endParaRPr>
          </a:p>
          <a:p>
            <a:pPr algn="ctr">
              <a:lnSpc>
                <a:spcPct val="150000"/>
              </a:lnSpc>
              <a:buNone/>
            </a:pPr>
            <a:endParaRPr lang="en-US" altLang="ko-KR" sz="2000" b="1" dirty="0">
              <a:solidFill>
                <a:schemeClr val="tx1"/>
              </a:solidFill>
            </a:endParaRPr>
          </a:p>
          <a:p>
            <a:pPr algn="ctr">
              <a:lnSpc>
                <a:spcPct val="150000"/>
              </a:lnSpc>
              <a:buNone/>
            </a:pPr>
            <a:r>
              <a:rPr lang="ko-KR" altLang="en-US" sz="2000" b="1" dirty="0">
                <a:solidFill>
                  <a:schemeClr val="tx1"/>
                </a:solidFill>
              </a:rPr>
              <a:t>지역과 예측 기상 요소에 따른 학습 가중치</a:t>
            </a:r>
            <a:endParaRPr lang="en-US" altLang="ko-KR" sz="2000" b="1" dirty="0">
              <a:solidFill>
                <a:schemeClr val="tx1"/>
              </a:solidFill>
            </a:endParaRPr>
          </a:p>
        </p:txBody>
      </p:sp>
      <p:sp>
        <p:nvSpPr>
          <p:cNvPr id="27" name="사각형: 둥근 모서리 26">
            <a:extLst>
              <a:ext uri="{FF2B5EF4-FFF2-40B4-BE49-F238E27FC236}">
                <a16:creationId xmlns:a16="http://schemas.microsoft.com/office/drawing/2014/main" id="{8F9F3054-E053-AADD-AE41-BEA00EA8176A}"/>
              </a:ext>
            </a:extLst>
          </p:cNvPr>
          <p:cNvSpPr/>
          <p:nvPr/>
        </p:nvSpPr>
        <p:spPr>
          <a:xfrm>
            <a:off x="530223" y="1418801"/>
            <a:ext cx="3003552" cy="559650"/>
          </a:xfrm>
          <a:prstGeom prst="roundRect">
            <a:avLst>
              <a:gd name="adj" fmla="val 7552"/>
            </a:avLst>
          </a:prstGeom>
          <a:solidFill>
            <a:srgbClr val="26A688"/>
          </a:solidFill>
          <a:ln>
            <a:solidFill>
              <a:srgbClr val="A2ECD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  <a:buNone/>
            </a:pPr>
            <a:r>
              <a:rPr lang="en-US" altLang="ko-KR" sz="2000" b="1" dirty="0">
                <a:solidFill>
                  <a:schemeClr val="tx1"/>
                </a:solidFill>
              </a:rPr>
              <a:t>User</a:t>
            </a:r>
          </a:p>
        </p:txBody>
      </p:sp>
      <p:sp>
        <p:nvSpPr>
          <p:cNvPr id="28" name="사각형: 둥근 모서리 27">
            <a:extLst>
              <a:ext uri="{FF2B5EF4-FFF2-40B4-BE49-F238E27FC236}">
                <a16:creationId xmlns:a16="http://schemas.microsoft.com/office/drawing/2014/main" id="{CCB650E8-7F1A-BADD-9D4D-41177318FA2E}"/>
              </a:ext>
            </a:extLst>
          </p:cNvPr>
          <p:cNvSpPr/>
          <p:nvPr/>
        </p:nvSpPr>
        <p:spPr>
          <a:xfrm>
            <a:off x="4594224" y="1418801"/>
            <a:ext cx="3003552" cy="559650"/>
          </a:xfrm>
          <a:prstGeom prst="roundRect">
            <a:avLst>
              <a:gd name="adj" fmla="val 7552"/>
            </a:avLst>
          </a:prstGeom>
          <a:solidFill>
            <a:srgbClr val="26A688"/>
          </a:solidFill>
          <a:ln>
            <a:solidFill>
              <a:srgbClr val="A2ECD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  <a:buNone/>
            </a:pPr>
            <a:r>
              <a:rPr lang="en-US" altLang="ko-KR" sz="2000" b="1" dirty="0">
                <a:solidFill>
                  <a:schemeClr val="tx1"/>
                </a:solidFill>
              </a:rPr>
              <a:t>Place</a:t>
            </a:r>
          </a:p>
        </p:txBody>
      </p:sp>
      <p:sp>
        <p:nvSpPr>
          <p:cNvPr id="33" name="사각형: 둥근 모서리 32">
            <a:extLst>
              <a:ext uri="{FF2B5EF4-FFF2-40B4-BE49-F238E27FC236}">
                <a16:creationId xmlns:a16="http://schemas.microsoft.com/office/drawing/2014/main" id="{3ED3D25E-EA0E-2A3E-E5BC-D41F4146C7A1}"/>
              </a:ext>
            </a:extLst>
          </p:cNvPr>
          <p:cNvSpPr/>
          <p:nvPr/>
        </p:nvSpPr>
        <p:spPr>
          <a:xfrm>
            <a:off x="8658225" y="1418801"/>
            <a:ext cx="3003552" cy="559650"/>
          </a:xfrm>
          <a:prstGeom prst="roundRect">
            <a:avLst>
              <a:gd name="adj" fmla="val 7552"/>
            </a:avLst>
          </a:prstGeom>
          <a:solidFill>
            <a:srgbClr val="26A688"/>
          </a:solidFill>
          <a:ln>
            <a:solidFill>
              <a:srgbClr val="A2ECD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  <a:buNone/>
            </a:pPr>
            <a:r>
              <a:rPr lang="en-US" altLang="ko-KR" sz="2000" b="1" dirty="0">
                <a:solidFill>
                  <a:schemeClr val="tx1"/>
                </a:solidFill>
              </a:rPr>
              <a:t>Model</a:t>
            </a:r>
          </a:p>
        </p:txBody>
      </p:sp>
    </p:spTree>
    <p:extLst>
      <p:ext uri="{BB962C8B-B14F-4D97-AF65-F5344CB8AC3E}">
        <p14:creationId xmlns:p14="http://schemas.microsoft.com/office/powerpoint/2010/main" val="333679159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4754175-568C-0F87-1EA1-0AA4C9BB87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C7C340D6-567E-5205-0178-78EE4B47B9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t>7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869FFEA-BC0E-4102-2424-946AF2DA160B}"/>
              </a:ext>
            </a:extLst>
          </p:cNvPr>
          <p:cNvSpPr txBox="1"/>
          <p:nvPr/>
        </p:nvSpPr>
        <p:spPr>
          <a:xfrm>
            <a:off x="321230" y="208112"/>
            <a:ext cx="65000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defRPr sz="2800" b="1">
                <a:solidFill>
                  <a:srgbClr val="223B6B"/>
                </a:solidFill>
                <a:latin typeface="Malgun Gothic"/>
              </a:defRPr>
            </a:pPr>
            <a:r>
              <a:t>BackEnd – 여행 경로 생성</a:t>
            </a:r>
          </a:p>
        </p:txBody>
      </p:sp>
      <p:cxnSp>
        <p:nvCxnSpPr>
          <p:cNvPr id="4" name="직선 연결선 3">
            <a:extLst>
              <a:ext uri="{FF2B5EF4-FFF2-40B4-BE49-F238E27FC236}">
                <a16:creationId xmlns:a16="http://schemas.microsoft.com/office/drawing/2014/main" id="{BF9B5F3A-5852-F7A0-C764-E024FA929D53}"/>
              </a:ext>
            </a:extLst>
          </p:cNvPr>
          <p:cNvCxnSpPr>
            <a:cxnSpLocks/>
          </p:cNvCxnSpPr>
          <p:nvPr/>
        </p:nvCxnSpPr>
        <p:spPr>
          <a:xfrm>
            <a:off x="0" y="1136073"/>
            <a:ext cx="12192000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664358" y="1197015"/>
            <a:ext cx="6000000" cy="49449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800" b="1">
                <a:solidFill>
                  <a:srgbClr val="475569"/>
                </a:solidFill>
                <a:latin typeface="Malgun Gothic"/>
              </a:defRPr>
            </a:pPr>
            <a:r>
              <a:t>Multi-stage Routing &amp; Spot Curation Architecture</a:t>
            </a:r>
          </a:p>
        </p:txBody>
      </p:sp>
      <p:sp>
        <p:nvSpPr>
          <p:cNvPr id="6" name="Rectangle 5"/>
          <p:cNvSpPr/>
          <p:nvPr/>
        </p:nvSpPr>
        <p:spPr>
          <a:xfrm>
            <a:off x="5050000" y="1950000"/>
            <a:ext cx="19050" cy="3450000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00000" y="2180000"/>
            <a:ext cx="580000" cy="3150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ctr">
              <a:defRPr sz="1600" b="1">
                <a:solidFill>
                  <a:srgbClr val="0F172A"/>
                </a:solidFill>
                <a:latin typeface="Malgun Gothic"/>
              </a:defRPr>
            </a:pPr>
            <a:r>
              <a:t>출</a:t>
            </a:r>
          </a:p>
          <a:p>
            <a:pPr algn="ctr">
              <a:defRPr sz="1600" b="1">
                <a:solidFill>
                  <a:srgbClr val="0F172A"/>
                </a:solidFill>
                <a:latin typeface="Malgun Gothic"/>
              </a:defRPr>
            </a:pPr>
            <a:r>
              <a:t>발</a:t>
            </a:r>
          </a:p>
          <a:p>
            <a:pPr algn="ctr">
              <a:defRPr sz="1600" b="1">
                <a:solidFill>
                  <a:srgbClr val="0F172A"/>
                </a:solidFill>
                <a:latin typeface="Malgun Gothic"/>
              </a:defRPr>
            </a:pPr>
            <a:r>
              <a:t>지</a:t>
            </a:r>
          </a:p>
          <a:p>
            <a:pPr algn="ctr">
              <a:defRPr sz="1400" b="1">
                <a:solidFill>
                  <a:srgbClr val="475569"/>
                </a:solidFill>
                <a:latin typeface="Malgun Gothic"/>
              </a:defRPr>
            </a:pPr>
            <a:r>
              <a:t>/</a:t>
            </a:r>
          </a:p>
          <a:p>
            <a:pPr algn="ctr">
              <a:defRPr sz="1600" b="1">
                <a:solidFill>
                  <a:srgbClr val="0F172A"/>
                </a:solidFill>
                <a:latin typeface="Malgun Gothic"/>
              </a:defRPr>
            </a:pPr>
            <a:r>
              <a:t>도</a:t>
            </a:r>
          </a:p>
          <a:p>
            <a:pPr algn="ctr">
              <a:defRPr sz="1600" b="1">
                <a:solidFill>
                  <a:srgbClr val="0F172A"/>
                </a:solidFill>
                <a:latin typeface="Malgun Gothic"/>
              </a:defRPr>
            </a:pPr>
            <a:r>
              <a:t>착</a:t>
            </a:r>
          </a:p>
          <a:p>
            <a:pPr algn="ctr">
              <a:defRPr sz="1600" b="1">
                <a:solidFill>
                  <a:srgbClr val="0F172A"/>
                </a:solidFill>
                <a:latin typeface="Malgun Gothic"/>
              </a:defRPr>
            </a:pPr>
            <a:r>
              <a:t>지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500000" y="2180000"/>
            <a:ext cx="2050000" cy="1460000"/>
          </a:xfrm>
          <a:prstGeom prst="roundRect">
            <a:avLst/>
          </a:prstGeom>
          <a:solidFill>
            <a:srgbClr val="DDF8F2"/>
          </a:solidFill>
          <a:ln w="19050">
            <a:solidFill>
              <a:srgbClr val="5EEA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ctr">
              <a:defRPr sz="1600" b="1">
                <a:solidFill>
                  <a:srgbClr val="064E3B"/>
                </a:solidFill>
                <a:latin typeface="Malgun Gothic"/>
              </a:defRPr>
            </a:pPr>
            <a:r>
              <a:t>PostgreSQL 24h 캐시</a:t>
            </a:r>
          </a:p>
          <a:p>
            <a:pPr algn="ctr">
              <a:defRPr sz="400" b="0">
                <a:solidFill>
                  <a:srgbClr val="0F172A"/>
                </a:solidFill>
                <a:latin typeface="Malgun Gothic"/>
              </a:defRPr>
            </a:pPr>
          </a:p>
          <a:p>
            <a:pPr algn="ctr">
              <a:defRPr sz="1300" b="0">
                <a:solidFill>
                  <a:srgbClr val="475569"/>
                </a:solidFill>
                <a:latin typeface="Malgun Gothic"/>
              </a:defRPr>
            </a:pPr>
            <a:r>
              <a:t>(routes_cache / SHA-256)</a:t>
            </a:r>
          </a:p>
          <a:p>
            <a:pPr algn="ctr">
              <a:defRPr sz="1200" b="0">
                <a:solidFill>
                  <a:srgbClr val="047857"/>
                </a:solidFill>
                <a:latin typeface="Malgun Gothic"/>
              </a:defRPr>
            </a:pPr>
            <a:r>
              <a:t>10ms 즉시 응답 (호출 85% 절감)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500000" y="3870000"/>
            <a:ext cx="2050000" cy="1460000"/>
          </a:xfrm>
          <a:prstGeom prst="roundRect">
            <a:avLst/>
          </a:prstGeom>
          <a:solidFill>
            <a:srgbClr val="A2ECDC"/>
          </a:solidFill>
          <a:ln w="19050">
            <a:solidFill>
              <a:srgbClr val="2DD4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ctr">
              <a:defRPr sz="1600" b="1">
                <a:solidFill>
                  <a:srgbClr val="115E59"/>
                </a:solidFill>
                <a:latin typeface="Malgun Gothic"/>
              </a:defRPr>
            </a:pPr>
            <a:r>
              <a:t>OpenRouteService</a:t>
            </a:r>
          </a:p>
          <a:p>
            <a:pPr algn="ctr">
              <a:defRPr sz="400" b="0">
                <a:solidFill>
                  <a:srgbClr val="0F172A"/>
                </a:solidFill>
                <a:latin typeface="Malgun Gothic"/>
              </a:defRPr>
            </a:pPr>
          </a:p>
          <a:p>
            <a:pPr algn="ctr">
              <a:defRPr sz="1300" b="0">
                <a:solidFill>
                  <a:srgbClr val="475569"/>
                </a:solidFill>
                <a:latin typeface="Malgun Gothic"/>
              </a:defRPr>
            </a:pPr>
            <a:r>
              <a:t>(자차 / 도보 경로 엔진)</a:t>
            </a:r>
          </a:p>
          <a:p>
            <a:pPr algn="ctr">
              <a:defRPr sz="1200" b="0">
                <a:solidFill>
                  <a:srgbClr val="0D9488"/>
                </a:solidFill>
                <a:latin typeface="Malgun Gothic"/>
              </a:defRPr>
            </a:pPr>
            <a:r>
              <a:t>권장 및 최단 대안 경로 산출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970000" y="2180000"/>
            <a:ext cx="950000" cy="3150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ctr">
              <a:defRPr sz="1550" b="1">
                <a:solidFill>
                  <a:srgbClr val="0F172A"/>
                </a:solidFill>
                <a:latin typeface="Malgun Gothic"/>
              </a:defRPr>
            </a:pPr>
            <a:r>
              <a:t>GeoJSON</a:t>
            </a:r>
          </a:p>
          <a:p>
            <a:pPr algn="ctr">
              <a:defRPr sz="1550" b="1">
                <a:solidFill>
                  <a:srgbClr val="0F172A"/>
                </a:solidFill>
                <a:latin typeface="Malgun Gothic"/>
              </a:defRPr>
            </a:pPr>
            <a:r>
              <a:t>LineString</a:t>
            </a:r>
          </a:p>
          <a:p>
            <a:pPr algn="ctr">
              <a:defRPr sz="400" b="0">
                <a:solidFill>
                  <a:srgbClr val="0F172A"/>
                </a:solidFill>
                <a:latin typeface="Malgun Gothic"/>
              </a:defRPr>
            </a:pPr>
          </a:p>
          <a:p>
            <a:pPr algn="ctr">
              <a:defRPr sz="1300" b="0">
                <a:solidFill>
                  <a:srgbClr val="475569"/>
                </a:solidFill>
                <a:latin typeface="Malgun Gothic"/>
              </a:defRPr>
            </a:pPr>
            <a:r>
              <a:t>(도로 궤적)</a:t>
            </a:r>
          </a:p>
          <a:p>
            <a:pPr algn="ctr">
              <a:defRPr sz="1300" b="0">
                <a:solidFill>
                  <a:srgbClr val="475569"/>
                </a:solidFill>
                <a:latin typeface="Malgun Gothic"/>
              </a:defRPr>
            </a:pPr>
            <a:r>
              <a:t>좌표열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00000" y="5450000"/>
            <a:ext cx="3200000" cy="88229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700" b="1">
                <a:solidFill>
                  <a:srgbClr val="0F172A"/>
                </a:solidFill>
                <a:latin typeface="Malgun Gothic"/>
              </a:defRPr>
            </a:pPr>
            <a:r>
              <a:t>Stage 1</a:t>
            </a:r>
          </a:p>
          <a:p>
            <a:pPr algn="ctr">
              <a:defRPr sz="1400" b="0">
                <a:solidFill>
                  <a:srgbClr val="475569"/>
                </a:solidFill>
                <a:latin typeface="Malgun Gothic"/>
              </a:defRPr>
            </a:pPr>
            <a:r>
              <a:t>이동 경로 생성 및 24h 캐시 탐색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360000" y="2180000"/>
            <a:ext cx="2200000" cy="1460000"/>
          </a:xfrm>
          <a:prstGeom prst="roundRect">
            <a:avLst/>
          </a:prstGeom>
          <a:solidFill>
            <a:srgbClr val="DDF8F2"/>
          </a:solidFill>
          <a:ln w="19050">
            <a:solidFill>
              <a:srgbClr val="5EEA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ctr">
              <a:defRPr sz="1600" b="1">
                <a:solidFill>
                  <a:srgbClr val="064E3B"/>
                </a:solidFill>
                <a:latin typeface="Malgun Gothic"/>
              </a:defRPr>
            </a:pPr>
            <a:r>
              <a:t>타임라인 선형 보간</a:t>
            </a:r>
          </a:p>
          <a:p>
            <a:pPr algn="ctr">
              <a:defRPr sz="400" b="0">
                <a:solidFill>
                  <a:srgbClr val="0F172A"/>
                </a:solidFill>
                <a:latin typeface="Malgun Gothic"/>
              </a:defRPr>
            </a:pPr>
          </a:p>
          <a:p>
            <a:pPr algn="ctr">
              <a:defRPr sz="1300" b="0">
                <a:solidFill>
                  <a:srgbClr val="475569"/>
                </a:solidFill>
                <a:latin typeface="Malgun Gothic"/>
              </a:defRPr>
            </a:pPr>
            <a:r>
              <a:t>(Linear Interpolation)</a:t>
            </a:r>
          </a:p>
          <a:p>
            <a:pPr algn="ctr">
              <a:defRPr sz="1200" b="0">
                <a:solidFill>
                  <a:srgbClr val="047857"/>
                </a:solidFill>
                <a:latin typeface="Malgun Gothic"/>
              </a:defRPr>
            </a:pPr>
            <a:r>
              <a:t>주행 시간대별 통과 지점 역산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360000" y="3870000"/>
            <a:ext cx="2200000" cy="1460000"/>
          </a:xfrm>
          <a:prstGeom prst="roundRect">
            <a:avLst/>
          </a:prstGeom>
          <a:solidFill>
            <a:srgbClr val="A2ECDC"/>
          </a:solidFill>
          <a:ln w="19050">
            <a:solidFill>
              <a:srgbClr val="2DD4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ctr">
              <a:defRPr sz="1600" b="1">
                <a:solidFill>
                  <a:srgbClr val="115E59"/>
                </a:solidFill>
                <a:latin typeface="Malgun Gothic"/>
              </a:defRPr>
            </a:pPr>
            <a:r>
              <a:t>PostGIS 5km 공간 질의</a:t>
            </a:r>
          </a:p>
          <a:p>
            <a:pPr algn="ctr">
              <a:defRPr sz="400" b="0">
                <a:solidFill>
                  <a:srgbClr val="0F172A"/>
                </a:solidFill>
                <a:latin typeface="Malgun Gothic"/>
              </a:defRPr>
            </a:pPr>
          </a:p>
          <a:p>
            <a:pPr algn="ctr">
              <a:defRPr sz="1300" b="0">
                <a:solidFill>
                  <a:srgbClr val="475569"/>
                </a:solidFill>
                <a:latin typeface="Malgun Gothic"/>
              </a:defRPr>
            </a:pPr>
            <a:r>
              <a:t>(ST_DWithin 수직거리)</a:t>
            </a:r>
          </a:p>
          <a:p>
            <a:pPr algn="ctr">
              <a:defRPr sz="1200" b="0">
                <a:solidFill>
                  <a:srgbClr val="0D9488"/>
                </a:solidFill>
                <a:latin typeface="Malgun Gothic"/>
              </a:defRPr>
            </a:pPr>
            <a:r>
              <a:t>도로변 5km 이내 POI 30ms 추출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980000" y="2180000"/>
            <a:ext cx="2250000" cy="3150000"/>
          </a:xfrm>
          <a:prstGeom prst="roundRect">
            <a:avLst/>
          </a:prstGeom>
          <a:solidFill>
            <a:srgbClr val="DDF8F2"/>
          </a:solidFill>
          <a:ln w="19050">
            <a:solidFill>
              <a:srgbClr val="5EEA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ctr">
              <a:defRPr sz="1700" b="1">
                <a:solidFill>
                  <a:srgbClr val="064E3B"/>
                </a:solidFill>
                <a:latin typeface="Malgun Gothic"/>
              </a:defRPr>
            </a:pPr>
            <a:r>
              <a:t>TourAPI 4.0</a:t>
            </a:r>
          </a:p>
          <a:p>
            <a:pPr algn="ctr">
              <a:defRPr sz="1700" b="1">
                <a:solidFill>
                  <a:srgbClr val="064E3B"/>
                </a:solidFill>
                <a:latin typeface="Malgun Gothic"/>
              </a:defRPr>
            </a:pPr>
            <a:r>
              <a:t>계층 큐레이션</a:t>
            </a:r>
          </a:p>
          <a:p>
            <a:pPr algn="ctr">
              <a:defRPr sz="400" b="0">
                <a:solidFill>
                  <a:srgbClr val="0F172A"/>
                </a:solidFill>
                <a:latin typeface="Malgun Gothic"/>
              </a:defRPr>
            </a:pPr>
          </a:p>
          <a:p>
            <a:pPr algn="ctr">
              <a:defRPr sz="1300" b="0">
                <a:solidFill>
                  <a:srgbClr val="0F172A"/>
                </a:solidFill>
                <a:latin typeface="Malgun Gothic"/>
              </a:defRPr>
            </a:pPr>
            <a:r>
              <a:t>관광·숙박·맛집 3단계 필터링</a:t>
            </a:r>
          </a:p>
          <a:p>
            <a:pPr algn="ctr">
              <a:defRPr sz="400" b="0">
                <a:solidFill>
                  <a:srgbClr val="0F172A"/>
                </a:solidFill>
                <a:latin typeface="Malgun Gothic"/>
              </a:defRPr>
            </a:pPr>
          </a:p>
          <a:p>
            <a:pPr algn="ctr">
              <a:defRPr sz="1300" b="0">
                <a:solidFill>
                  <a:srgbClr val="0F172A"/>
                </a:solidFill>
                <a:latin typeface="Malgun Gothic"/>
              </a:defRPr>
            </a:pPr>
            <a:r>
              <a:t>여행자 취향 키워드 매핑</a:t>
            </a:r>
          </a:p>
          <a:p>
            <a:pPr algn="ctr">
              <a:defRPr sz="400" b="0">
                <a:solidFill>
                  <a:srgbClr val="0F172A"/>
                </a:solidFill>
                <a:latin typeface="Malgun Gothic"/>
              </a:defRPr>
            </a:pPr>
          </a:p>
          <a:p>
            <a:pPr algn="ctr">
              <a:defRPr sz="1300" b="0">
                <a:solidFill>
                  <a:srgbClr val="0F172A"/>
                </a:solidFill>
                <a:latin typeface="Malgun Gothic"/>
              </a:defRPr>
            </a:pPr>
            <a:r>
              <a:t>고화질 이미지 &amp; 주소 결합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0650000" y="2180000"/>
            <a:ext cx="950000" cy="3150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ctr">
              <a:defRPr sz="1600" b="1">
                <a:solidFill>
                  <a:srgbClr val="0F172A"/>
                </a:solidFill>
                <a:latin typeface="Malgun Gothic"/>
              </a:defRPr>
            </a:pPr>
            <a:r>
              <a:t>Leaflet</a:t>
            </a:r>
          </a:p>
          <a:p>
            <a:pPr algn="ctr">
              <a:defRPr sz="1600" b="1">
                <a:solidFill>
                  <a:srgbClr val="0F172A"/>
                </a:solidFill>
                <a:latin typeface="Malgun Gothic"/>
              </a:defRPr>
            </a:pPr>
            <a:r>
              <a:t>여행</a:t>
            </a:r>
          </a:p>
          <a:p>
            <a:pPr algn="ctr">
              <a:defRPr sz="1600" b="1">
                <a:solidFill>
                  <a:srgbClr val="0F172A"/>
                </a:solidFill>
                <a:latin typeface="Malgun Gothic"/>
              </a:defRPr>
            </a:pPr>
            <a:r>
              <a:t>일정</a:t>
            </a:r>
          </a:p>
          <a:p>
            <a:pPr algn="ctr">
              <a:defRPr sz="1600" b="1">
                <a:solidFill>
                  <a:srgbClr val="0F172A"/>
                </a:solidFill>
                <a:latin typeface="Malgun Gothic"/>
              </a:defRPr>
            </a:pPr>
            <a:r>
              <a:t>표출</a:t>
            </a:r>
          </a:p>
          <a:p>
            <a:pPr algn="ctr">
              <a:defRPr sz="400" b="0">
                <a:solidFill>
                  <a:srgbClr val="0F172A"/>
                </a:solidFill>
                <a:latin typeface="Malgun Gothic"/>
              </a:defRPr>
            </a:pPr>
          </a:p>
          <a:p>
            <a:pPr algn="ctr">
              <a:defRPr sz="1250" b="0">
                <a:solidFill>
                  <a:srgbClr val="475569"/>
                </a:solidFill>
                <a:latin typeface="Malgun Gothic"/>
              </a:defRPr>
            </a:pPr>
            <a:r>
              <a:t>(지도 시각화)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000000" y="5450000"/>
            <a:ext cx="4000000" cy="88229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700" b="1">
                <a:solidFill>
                  <a:srgbClr val="0F172A"/>
                </a:solidFill>
                <a:latin typeface="Malgun Gothic"/>
              </a:defRPr>
            </a:pPr>
            <a:r>
              <a:t>Stage 2</a:t>
            </a:r>
          </a:p>
          <a:p>
            <a:pPr algn="ctr">
              <a:defRPr sz="1400" b="0">
                <a:solidFill>
                  <a:srgbClr val="475569"/>
                </a:solidFill>
                <a:latin typeface="Malgun Gothic"/>
              </a:defRPr>
            </a:pPr>
            <a:r>
              <a:t>선형 보간 타임라인 및 길목 명소 큐레이션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1090000" y="3755000"/>
            <a:ext cx="390000" cy="0"/>
          </a:xfrm>
          <a:prstGeom prst="line">
            <a:avLst/>
          </a:prstGeom>
          <a:ln w="31750">
            <a:solidFill>
              <a:srgbClr val="0D948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3560000" y="3755000"/>
            <a:ext cx="390000" cy="0"/>
          </a:xfrm>
          <a:prstGeom prst="line">
            <a:avLst/>
          </a:prstGeom>
          <a:ln w="31750">
            <a:solidFill>
              <a:srgbClr val="0D948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4930000" y="3755000"/>
            <a:ext cx="410000" cy="0"/>
          </a:xfrm>
          <a:prstGeom prst="line">
            <a:avLst/>
          </a:prstGeom>
          <a:ln w="31750">
            <a:solidFill>
              <a:srgbClr val="0D948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7570000" y="3755000"/>
            <a:ext cx="390000" cy="0"/>
          </a:xfrm>
          <a:prstGeom prst="line">
            <a:avLst/>
          </a:prstGeom>
          <a:ln w="31750">
            <a:solidFill>
              <a:srgbClr val="0D948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10240000" y="3755000"/>
            <a:ext cx="390000" cy="0"/>
          </a:xfrm>
          <a:prstGeom prst="line">
            <a:avLst/>
          </a:prstGeom>
          <a:ln w="31750">
            <a:solidFill>
              <a:srgbClr val="0D948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5702435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5CE883-9810-8730-4968-8D0046630E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9BA63A5D-73C8-682E-91EB-FCC2135FDD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t>11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208346C-6E34-2E70-6C81-EAA685EAE9FF}"/>
              </a:ext>
            </a:extLst>
          </p:cNvPr>
          <p:cNvSpPr txBox="1"/>
          <p:nvPr/>
        </p:nvSpPr>
        <p:spPr>
          <a:xfrm>
            <a:off x="664358" y="1197015"/>
            <a:ext cx="3574268" cy="5037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2000" b="1" dirty="0">
                <a:latin typeface="Open Sans" panose="020B0606030504020204" pitchFamily="34" charset="0"/>
                <a:ea typeface="맑은 고딕" panose="020B0503020000020004" pitchFamily="50" charset="-127"/>
                <a:cs typeface="Open Sans" panose="020B0606030504020204" pitchFamily="34" charset="0"/>
              </a:rPr>
              <a:t>데이터 수집</a:t>
            </a:r>
            <a:endParaRPr lang="en-US" altLang="ko-KR" sz="2000" b="1" dirty="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grpSp>
        <p:nvGrpSpPr>
          <p:cNvPr id="13" name="그룹 12">
            <a:extLst>
              <a:ext uri="{FF2B5EF4-FFF2-40B4-BE49-F238E27FC236}">
                <a16:creationId xmlns:a16="http://schemas.microsoft.com/office/drawing/2014/main" id="{D22192DF-4946-BD3B-34F6-634A7644C172}"/>
              </a:ext>
            </a:extLst>
          </p:cNvPr>
          <p:cNvGrpSpPr/>
          <p:nvPr/>
        </p:nvGrpSpPr>
        <p:grpSpPr>
          <a:xfrm>
            <a:off x="546597" y="1978940"/>
            <a:ext cx="1803176" cy="979584"/>
            <a:chOff x="2796768" y="2354744"/>
            <a:chExt cx="1803176" cy="979584"/>
          </a:xfrm>
        </p:grpSpPr>
        <p:sp>
          <p:nvSpPr>
            <p:cNvPr id="12" name="사각형: 둥근 모서리 11">
              <a:extLst>
                <a:ext uri="{FF2B5EF4-FFF2-40B4-BE49-F238E27FC236}">
                  <a16:creationId xmlns:a16="http://schemas.microsoft.com/office/drawing/2014/main" id="{3088C5FF-2C20-9E54-3C4B-CC49AB0D45A8}"/>
                </a:ext>
              </a:extLst>
            </p:cNvPr>
            <p:cNvSpPr/>
            <p:nvPr/>
          </p:nvSpPr>
          <p:spPr>
            <a:xfrm>
              <a:off x="2796768" y="2354744"/>
              <a:ext cx="1803176" cy="979584"/>
            </a:xfrm>
            <a:prstGeom prst="roundRect">
              <a:avLst>
                <a:gd name="adj" fmla="val 7552"/>
              </a:avLst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Open Sans" panose="020B0606030504020204" pitchFamily="34" charset="0"/>
                <a:cs typeface="Open Sans" panose="020B0606030504020204" pitchFamily="34" charset="0"/>
              </a:endParaRPr>
            </a:p>
          </p:txBody>
        </p:sp>
        <p:pic>
          <p:nvPicPr>
            <p:cNvPr id="10" name="그림 9">
              <a:extLst>
                <a:ext uri="{FF2B5EF4-FFF2-40B4-BE49-F238E27FC236}">
                  <a16:creationId xmlns:a16="http://schemas.microsoft.com/office/drawing/2014/main" id="{F8888252-4FD5-7EA2-91BA-E271CA18D284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796769" y="2444536"/>
              <a:ext cx="1803175" cy="800000"/>
            </a:xfrm>
            <a:prstGeom prst="rect">
              <a:avLst/>
            </a:prstGeom>
          </p:spPr>
        </p:pic>
      </p:grpSp>
      <p:sp>
        <p:nvSpPr>
          <p:cNvPr id="14" name="TextBox 13">
            <a:extLst>
              <a:ext uri="{FF2B5EF4-FFF2-40B4-BE49-F238E27FC236}">
                <a16:creationId xmlns:a16="http://schemas.microsoft.com/office/drawing/2014/main" id="{99FA6132-45C4-73F1-06D4-4C9CD2AFBC1F}"/>
              </a:ext>
            </a:extLst>
          </p:cNvPr>
          <p:cNvSpPr txBox="1"/>
          <p:nvPr/>
        </p:nvSpPr>
        <p:spPr>
          <a:xfrm>
            <a:off x="414192" y="3066111"/>
            <a:ext cx="3824434" cy="4581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dirty="0">
                <a:latin typeface="+mj-lt"/>
                <a:ea typeface="맑은 고딕" panose="020B0503020000020004" pitchFamily="50" charset="-127"/>
                <a:cs typeface="Open Sans" panose="020B0606030504020204" pitchFamily="34" charset="0"/>
              </a:rPr>
              <a:t>기간 </a:t>
            </a:r>
            <a:r>
              <a:rPr lang="en-US" altLang="ko-KR" dirty="0">
                <a:latin typeface="+mj-lt"/>
                <a:ea typeface="맑은 고딕" panose="020B0503020000020004" pitchFamily="50" charset="-127"/>
                <a:cs typeface="Open Sans" panose="020B0606030504020204" pitchFamily="34" charset="0"/>
              </a:rPr>
              <a:t>: 2016-01-01 ~ 2026-10-21</a:t>
            </a:r>
            <a:endParaRPr lang="en-US" altLang="ko-KR" dirty="0">
              <a:latin typeface="+mj-lt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grpSp>
        <p:nvGrpSpPr>
          <p:cNvPr id="31" name="그룹 30">
            <a:extLst>
              <a:ext uri="{FF2B5EF4-FFF2-40B4-BE49-F238E27FC236}">
                <a16:creationId xmlns:a16="http://schemas.microsoft.com/office/drawing/2014/main" id="{98901A19-3031-FAEC-06D8-BD70B0AB8C83}"/>
              </a:ext>
            </a:extLst>
          </p:cNvPr>
          <p:cNvGrpSpPr/>
          <p:nvPr/>
        </p:nvGrpSpPr>
        <p:grpSpPr>
          <a:xfrm>
            <a:off x="4583544" y="2068732"/>
            <a:ext cx="7330259" cy="4606316"/>
            <a:chOff x="4672804" y="1859353"/>
            <a:chExt cx="7330259" cy="4606316"/>
          </a:xfrm>
        </p:grpSpPr>
        <p:pic>
          <p:nvPicPr>
            <p:cNvPr id="28" name="그림 27">
              <a:extLst>
                <a:ext uri="{FF2B5EF4-FFF2-40B4-BE49-F238E27FC236}">
                  <a16:creationId xmlns:a16="http://schemas.microsoft.com/office/drawing/2014/main" id="{DF79EBE0-D331-2ECE-5439-33AF4FC2A80D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4672804" y="1859353"/>
              <a:ext cx="6594295" cy="3891287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</p:pic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E4A2F759-4529-BB43-D179-350C6F781B2D}"/>
                </a:ext>
              </a:extLst>
            </p:cNvPr>
            <p:cNvSpPr txBox="1"/>
            <p:nvPr/>
          </p:nvSpPr>
          <p:spPr>
            <a:xfrm>
              <a:off x="11445676" y="3512031"/>
              <a:ext cx="557387" cy="482120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en-US" altLang="ko-KR" sz="2000" dirty="0">
                  <a:latin typeface="HY견고딕" panose="02030600000101010101" pitchFamily="18" charset="-127"/>
                  <a:ea typeface="HY견고딕" panose="02030600000101010101" pitchFamily="18" charset="-127"/>
                  <a:cs typeface="Calibri" panose="020F0502020204030204" pitchFamily="34" charset="0"/>
                </a:rPr>
                <a:t>…</a:t>
              </a:r>
            </a:p>
          </p:txBody>
        </p:sp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23B84F0B-BB3B-92DB-81A6-0361B206C419}"/>
                </a:ext>
              </a:extLst>
            </p:cNvPr>
            <p:cNvSpPr txBox="1"/>
            <p:nvPr/>
          </p:nvSpPr>
          <p:spPr>
            <a:xfrm rot="5400000">
              <a:off x="7932317" y="5945916"/>
              <a:ext cx="557387" cy="482120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en-US" altLang="ko-KR" sz="2000" dirty="0">
                  <a:latin typeface="HY견고딕" panose="02030600000101010101" pitchFamily="18" charset="-127"/>
                  <a:ea typeface="HY견고딕" panose="02030600000101010101" pitchFamily="18" charset="-127"/>
                  <a:cs typeface="Calibri" panose="020F0502020204030204" pitchFamily="34" charset="0"/>
                </a:rPr>
                <a:t>…</a:t>
              </a:r>
            </a:p>
          </p:txBody>
        </p:sp>
      </p:grpSp>
      <p:sp>
        <p:nvSpPr>
          <p:cNvPr id="32" name="TextBox 31">
            <a:extLst>
              <a:ext uri="{FF2B5EF4-FFF2-40B4-BE49-F238E27FC236}">
                <a16:creationId xmlns:a16="http://schemas.microsoft.com/office/drawing/2014/main" id="{2F1543FE-A78A-75D9-8B38-264C37188D43}"/>
              </a:ext>
            </a:extLst>
          </p:cNvPr>
          <p:cNvSpPr txBox="1"/>
          <p:nvPr/>
        </p:nvSpPr>
        <p:spPr>
          <a:xfrm>
            <a:off x="321231" y="208112"/>
            <a:ext cx="647009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4000" b="1" dirty="0" err="1">
                <a:solidFill>
                  <a:srgbClr val="333F70"/>
                </a:solidFill>
                <a:cs typeface="ADLaM Display" panose="02010000000000000000" pitchFamily="2" charset="0"/>
              </a:rPr>
              <a:t>BackEnd</a:t>
            </a:r>
            <a:r>
              <a:rPr lang="en-US" altLang="ko-KR" sz="4000" b="1" dirty="0">
                <a:solidFill>
                  <a:srgbClr val="333F70"/>
                </a:solidFill>
                <a:cs typeface="ADLaM Display" panose="02010000000000000000" pitchFamily="2" charset="0"/>
              </a:rPr>
              <a:t> – </a:t>
            </a:r>
            <a:r>
              <a:rPr lang="ko-KR" altLang="en-US" sz="4000" b="1" dirty="0">
                <a:solidFill>
                  <a:srgbClr val="333F70"/>
                </a:solidFill>
                <a:cs typeface="ADLaM Display" panose="02010000000000000000" pitchFamily="2" charset="0"/>
              </a:rPr>
              <a:t>기상</a:t>
            </a:r>
            <a:r>
              <a:rPr lang="en-US" altLang="ko-KR" sz="4000" b="1" dirty="0">
                <a:solidFill>
                  <a:srgbClr val="333F70"/>
                </a:solidFill>
                <a:cs typeface="ADLaM Display" panose="02010000000000000000" pitchFamily="2" charset="0"/>
              </a:rPr>
              <a:t> </a:t>
            </a:r>
            <a:r>
              <a:rPr lang="ko-KR" altLang="en-US" sz="4000" b="1" dirty="0">
                <a:solidFill>
                  <a:srgbClr val="333F70"/>
                </a:solidFill>
                <a:cs typeface="ADLaM Display" panose="02010000000000000000" pitchFamily="2" charset="0"/>
              </a:rPr>
              <a:t>예측 모델</a:t>
            </a:r>
            <a:endParaRPr lang="en-US" altLang="ko-KR" sz="4000" b="1" dirty="0">
              <a:solidFill>
                <a:srgbClr val="333F70"/>
              </a:solidFill>
              <a:cs typeface="ADLaM Display" panose="02010000000000000000" pitchFamily="2" charset="0"/>
            </a:endParaRPr>
          </a:p>
        </p:txBody>
      </p:sp>
      <p:cxnSp>
        <p:nvCxnSpPr>
          <p:cNvPr id="33" name="직선 연결선 32">
            <a:extLst>
              <a:ext uri="{FF2B5EF4-FFF2-40B4-BE49-F238E27FC236}">
                <a16:creationId xmlns:a16="http://schemas.microsoft.com/office/drawing/2014/main" id="{1903DF9B-419E-4B0D-581A-E79A5A796FE0}"/>
              </a:ext>
            </a:extLst>
          </p:cNvPr>
          <p:cNvCxnSpPr>
            <a:cxnSpLocks/>
          </p:cNvCxnSpPr>
          <p:nvPr/>
        </p:nvCxnSpPr>
        <p:spPr>
          <a:xfrm>
            <a:off x="0" y="1136073"/>
            <a:ext cx="12192000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사각형: 둥근 모서리 34">
            <a:extLst>
              <a:ext uri="{FF2B5EF4-FFF2-40B4-BE49-F238E27FC236}">
                <a16:creationId xmlns:a16="http://schemas.microsoft.com/office/drawing/2014/main" id="{ABCE296A-1487-8D08-FD2D-9BFD44F83EB5}"/>
              </a:ext>
            </a:extLst>
          </p:cNvPr>
          <p:cNvSpPr/>
          <p:nvPr/>
        </p:nvSpPr>
        <p:spPr>
          <a:xfrm>
            <a:off x="214129" y="4323892"/>
            <a:ext cx="4106418" cy="1900817"/>
          </a:xfrm>
          <a:prstGeom prst="roundRect">
            <a:avLst>
              <a:gd name="adj" fmla="val 7552"/>
            </a:avLst>
          </a:prstGeom>
          <a:solidFill>
            <a:srgbClr val="DDF8F2"/>
          </a:solidFill>
          <a:ln>
            <a:solidFill>
              <a:srgbClr val="A2ECD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numCol="2" rtlCol="0" anchor="ctr"/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b="1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Calibri" panose="020F0502020204030204" pitchFamily="34" charset="0"/>
              </a:rPr>
              <a:t>관측 날짜</a:t>
            </a:r>
            <a:endParaRPr lang="en-US" altLang="ko-KR" sz="1600" b="1" dirty="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Calibri" panose="020F0502020204030204" pitchFamily="34" charset="0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b="1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Calibri" panose="020F0502020204030204" pitchFamily="34" charset="0"/>
              </a:rPr>
              <a:t>관측지점코드</a:t>
            </a:r>
            <a:endParaRPr lang="en-US" altLang="ko-KR" sz="1600" b="1" dirty="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Calibri" panose="020F0502020204030204" pitchFamily="34" charset="0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b="1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Calibri" panose="020F0502020204030204" pitchFamily="34" charset="0"/>
              </a:rPr>
              <a:t>일 평균 풍속</a:t>
            </a:r>
            <a:endParaRPr lang="en-US" altLang="ko-KR" sz="1600" b="1" dirty="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Calibri" panose="020F0502020204030204" pitchFamily="34" charset="0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b="1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Calibri" panose="020F0502020204030204" pitchFamily="34" charset="0"/>
              </a:rPr>
              <a:t>일 평균 기온</a:t>
            </a:r>
            <a:endParaRPr lang="en-US" altLang="ko-KR" sz="1600" b="1" dirty="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Calibri" panose="020F0502020204030204" pitchFamily="34" charset="0"/>
            </a:endParaRPr>
          </a:p>
          <a:p>
            <a:pPr>
              <a:lnSpc>
                <a:spcPct val="150000"/>
              </a:lnSpc>
            </a:pPr>
            <a:endParaRPr lang="en-US" altLang="ko-KR" sz="1600" b="1" dirty="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Calibri" panose="020F0502020204030204" pitchFamily="34" charset="0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b="1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Calibri" panose="020F0502020204030204" pitchFamily="34" charset="0"/>
              </a:rPr>
              <a:t>일 평균 상대습도</a:t>
            </a:r>
            <a:endParaRPr lang="en-US" altLang="ko-KR" sz="1600" b="1" dirty="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Calibri" panose="020F0502020204030204" pitchFamily="34" charset="0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b="1" dirty="0" err="1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Calibri" panose="020F0502020204030204" pitchFamily="34" charset="0"/>
              </a:rPr>
              <a:t>전운량</a:t>
            </a:r>
            <a:r>
              <a:rPr lang="ko-KR" altLang="en-US" sz="1600" b="1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Calibri" panose="020F0502020204030204" pitchFamily="34" charset="0"/>
              </a:rPr>
              <a:t> </a:t>
            </a:r>
            <a:r>
              <a:rPr lang="en-US" altLang="ko-KR" sz="1600" b="1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Calibri" panose="020F0502020204030204" pitchFamily="34" charset="0"/>
              </a:rPr>
              <a:t>(</a:t>
            </a:r>
            <a:r>
              <a:rPr lang="ko-KR" altLang="en-US" sz="1600" b="1" dirty="0" err="1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Calibri" panose="020F0502020204030204" pitchFamily="34" charset="0"/>
              </a:rPr>
              <a:t>구름량</a:t>
            </a:r>
            <a:r>
              <a:rPr lang="en-US" altLang="ko-KR" sz="1600" b="1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Calibri" panose="020F0502020204030204" pitchFamily="34" charset="0"/>
              </a:rPr>
              <a:t>)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600" b="1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Calibri" panose="020F0502020204030204" pitchFamily="34" charset="0"/>
              </a:rPr>
              <a:t>0.5m </a:t>
            </a:r>
            <a:r>
              <a:rPr lang="ko-KR" altLang="en-US" sz="1600" b="1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Calibri" panose="020F0502020204030204" pitchFamily="34" charset="0"/>
              </a:rPr>
              <a:t>지중온도</a:t>
            </a:r>
            <a:endParaRPr lang="en-US" altLang="ko-KR" sz="1600" b="1" dirty="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Calibri" panose="020F0502020204030204" pitchFamily="34" charset="0"/>
            </a:endParaRPr>
          </a:p>
          <a:p>
            <a:pPr>
              <a:lnSpc>
                <a:spcPct val="150000"/>
              </a:lnSpc>
            </a:pPr>
            <a:r>
              <a:rPr lang="en-US" altLang="ko-KR" sz="1600" b="1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Calibri" panose="020F0502020204030204" pitchFamily="34" charset="0"/>
              </a:rPr>
              <a:t>	…</a:t>
            </a:r>
          </a:p>
        </p:txBody>
      </p:sp>
      <p:sp>
        <p:nvSpPr>
          <p:cNvPr id="37" name="사각형: 둥근 모서리 36">
            <a:extLst>
              <a:ext uri="{FF2B5EF4-FFF2-40B4-BE49-F238E27FC236}">
                <a16:creationId xmlns:a16="http://schemas.microsoft.com/office/drawing/2014/main" id="{9C1EC418-9B26-2750-E44F-6F1862CF2414}"/>
              </a:ext>
            </a:extLst>
          </p:cNvPr>
          <p:cNvSpPr/>
          <p:nvPr/>
        </p:nvSpPr>
        <p:spPr>
          <a:xfrm>
            <a:off x="296050" y="3674450"/>
            <a:ext cx="3942576" cy="559650"/>
          </a:xfrm>
          <a:prstGeom prst="roundRect">
            <a:avLst>
              <a:gd name="adj" fmla="val 7552"/>
            </a:avLst>
          </a:prstGeom>
          <a:solidFill>
            <a:srgbClr val="26A688"/>
          </a:solidFill>
          <a:ln>
            <a:solidFill>
              <a:srgbClr val="A2ECD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  <a:buNone/>
            </a:pPr>
            <a:r>
              <a:rPr lang="en-US" altLang="ko-KR" sz="2000" b="1" dirty="0">
                <a:solidFill>
                  <a:schemeClr val="tx1"/>
                </a:solidFill>
              </a:rPr>
              <a:t>Attribute</a:t>
            </a:r>
          </a:p>
        </p:txBody>
      </p:sp>
    </p:spTree>
    <p:extLst>
      <p:ext uri="{BB962C8B-B14F-4D97-AF65-F5344CB8AC3E}">
        <p14:creationId xmlns:p14="http://schemas.microsoft.com/office/powerpoint/2010/main" val="233906120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E3A687-A2C5-ECEE-6545-42E50E49AE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자유형: 도형 54">
            <a:extLst>
              <a:ext uri="{FF2B5EF4-FFF2-40B4-BE49-F238E27FC236}">
                <a16:creationId xmlns:a16="http://schemas.microsoft.com/office/drawing/2014/main" id="{A48DDFB6-3C60-F48F-1B4B-855F43401434}"/>
              </a:ext>
            </a:extLst>
          </p:cNvPr>
          <p:cNvSpPr/>
          <p:nvPr/>
        </p:nvSpPr>
        <p:spPr>
          <a:xfrm rot="242111">
            <a:off x="1899100" y="2632983"/>
            <a:ext cx="8359518" cy="2622248"/>
          </a:xfrm>
          <a:custGeom>
            <a:avLst/>
            <a:gdLst>
              <a:gd name="csX0" fmla="*/ 1397515 w 8359518"/>
              <a:gd name="csY0" fmla="*/ 219796 h 2622248"/>
              <a:gd name="csX1" fmla="*/ 8348849 w 8359518"/>
              <a:gd name="csY1" fmla="*/ 211639 h 2622248"/>
              <a:gd name="csX2" fmla="*/ 5301 w 8359518"/>
              <a:gd name="csY2" fmla="*/ 2438552 h 2622248"/>
              <a:gd name="csX3" fmla="*/ 7044257 w 8359518"/>
              <a:gd name="csY3" fmla="*/ 2414080 h 262224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8359518" h="2622248" extrusionOk="0">
                <a:moveTo>
                  <a:pt x="1397515" y="219796"/>
                </a:moveTo>
                <a:cubicBezTo>
                  <a:pt x="4902537" y="-22635"/>
                  <a:pt x="8505269" y="-129774"/>
                  <a:pt x="8348849" y="211639"/>
                </a:cubicBezTo>
                <a:cubicBezTo>
                  <a:pt x="8183905" y="595555"/>
                  <a:pt x="145926" y="2073920"/>
                  <a:pt x="5301" y="2438552"/>
                </a:cubicBezTo>
                <a:cubicBezTo>
                  <a:pt x="-262035" y="2854359"/>
                  <a:pt x="6310469" y="2610991"/>
                  <a:pt x="7044257" y="2414080"/>
                </a:cubicBezTo>
              </a:path>
            </a:pathLst>
          </a:custGeom>
          <a:noFill/>
          <a:ln w="69850" cap="rnd">
            <a:gradFill>
              <a:gsLst>
                <a:gs pos="0">
                  <a:srgbClr val="B6F0E4"/>
                </a:gs>
                <a:gs pos="50000">
                  <a:srgbClr val="A2ECDC"/>
                </a:gs>
                <a:gs pos="100000">
                  <a:srgbClr val="26A688"/>
                </a:gs>
              </a:gsLst>
              <a:lin ang="5400000" scaled="1"/>
            </a:gradFill>
            <a:tailEnd type="triangle" w="lg" len="lg"/>
            <a:extLst>
              <a:ext uri="{C807C97D-BFC1-408E-A445-0C87EB9F89A2}">
                <ask:lineSketchStyleProps xmlns:ask="http://schemas.microsoft.com/office/drawing/2018/sketchyshapes" sd="1219033472">
                  <a:custGeom>
                    <a:avLst/>
                    <a:gdLst>
                      <a:gd name="csX0" fmla="*/ 1367262 w 8178550"/>
                      <a:gd name="csY0" fmla="*/ 256652 h 3061950"/>
                      <a:gd name="csX1" fmla="*/ 8168112 w 8178550"/>
                      <a:gd name="csY1" fmla="*/ 247127 h 3061950"/>
                      <a:gd name="csX2" fmla="*/ 5187 w 8178550"/>
                      <a:gd name="csY2" fmla="*/ 2847452 h 3061950"/>
                      <a:gd name="csX3" fmla="*/ 6891762 w 8178550"/>
                      <a:gd name="csY3" fmla="*/ 2818877 h 3061950"/>
                    </a:gdLst>
                    <a:ahLst/>
                    <a:cxnLst>
                      <a:cxn ang="0">
                        <a:pos x="csX0" y="csY0"/>
                      </a:cxn>
                      <a:cxn ang="0">
                        <a:pos x="csX1" y="csY1"/>
                      </a:cxn>
                      <a:cxn ang="0">
                        <a:pos x="csX2" y="csY2"/>
                      </a:cxn>
                      <a:cxn ang="0">
                        <a:pos x="csX3" y="csY3"/>
                      </a:cxn>
                    </a:cxnLst>
                    <a:rect l="l" t="t" r="r" b="b"/>
                    <a:pathLst>
                      <a:path w="8178550" h="3061950">
                        <a:moveTo>
                          <a:pt x="1367262" y="256652"/>
                        </a:moveTo>
                        <a:cubicBezTo>
                          <a:pt x="4881193" y="35989"/>
                          <a:pt x="8395124" y="-184673"/>
                          <a:pt x="8168112" y="247127"/>
                        </a:cubicBezTo>
                        <a:cubicBezTo>
                          <a:pt x="7941100" y="678927"/>
                          <a:pt x="217912" y="2418827"/>
                          <a:pt x="5187" y="2847452"/>
                        </a:cubicBezTo>
                        <a:cubicBezTo>
                          <a:pt x="-207538" y="3276077"/>
                          <a:pt x="6188500" y="2952227"/>
                          <a:pt x="6891762" y="2818877"/>
                        </a:cubicBezTo>
                      </a:path>
                    </a:pathLst>
                  </a:custGeom>
                  <ask:type>
                    <ask:lineSketchScribble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4A339DBF-6FF8-B47E-AF59-F9B5901D4A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t>12</a:t>
            </a:r>
          </a:p>
        </p:txBody>
      </p:sp>
      <p:sp>
        <p:nvSpPr>
          <p:cNvPr id="5" name="사각형: 둥근 모서리 4">
            <a:extLst>
              <a:ext uri="{FF2B5EF4-FFF2-40B4-BE49-F238E27FC236}">
                <a16:creationId xmlns:a16="http://schemas.microsoft.com/office/drawing/2014/main" id="{F792B676-D4A0-0034-5723-533AF72E275D}"/>
              </a:ext>
            </a:extLst>
          </p:cNvPr>
          <p:cNvSpPr/>
          <p:nvPr/>
        </p:nvSpPr>
        <p:spPr>
          <a:xfrm>
            <a:off x="749561" y="1983024"/>
            <a:ext cx="2564878" cy="1445976"/>
          </a:xfrm>
          <a:prstGeom prst="roundRect">
            <a:avLst/>
          </a:prstGeom>
          <a:solidFill>
            <a:srgbClr val="DDF8F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US" altLang="ko-KR" b="1" dirty="0">
                <a:solidFill>
                  <a:schemeClr val="tx1"/>
                </a:solidFill>
              </a:rPr>
              <a:t>1</a:t>
            </a:r>
            <a:r>
              <a:rPr lang="ko-KR" altLang="en-US" b="1" dirty="0">
                <a:solidFill>
                  <a:schemeClr val="tx1"/>
                </a:solidFill>
              </a:rPr>
              <a:t>단계</a:t>
            </a:r>
            <a:endParaRPr lang="en-US" altLang="ko-KR" b="1" dirty="0">
              <a:solidFill>
                <a:schemeClr val="tx1"/>
              </a:solidFill>
            </a:endParaRPr>
          </a:p>
          <a:p>
            <a:pPr algn="ctr"/>
            <a:endParaRPr lang="en-US" altLang="ko-KR" b="1" dirty="0">
              <a:solidFill>
                <a:schemeClr val="tx1"/>
              </a:solidFill>
            </a:endParaRPr>
          </a:p>
          <a:p>
            <a:pPr algn="ctr"/>
            <a:r>
              <a:rPr lang="ko-KR" altLang="en-US" dirty="0">
                <a:solidFill>
                  <a:schemeClr val="tx1"/>
                </a:solidFill>
              </a:rPr>
              <a:t>관측 지점별 </a:t>
            </a:r>
            <a:endParaRPr lang="en-US" altLang="ko-KR" dirty="0">
              <a:solidFill>
                <a:schemeClr val="tx1"/>
              </a:solidFill>
            </a:endParaRPr>
          </a:p>
          <a:p>
            <a:pPr algn="ctr"/>
            <a:r>
              <a:rPr lang="en-US" altLang="ko-KR" dirty="0">
                <a:solidFill>
                  <a:schemeClr val="tx1"/>
                </a:solidFill>
              </a:rPr>
              <a:t>raw data </a:t>
            </a:r>
            <a:r>
              <a:rPr lang="ko-KR" altLang="en-US" dirty="0">
                <a:solidFill>
                  <a:schemeClr val="tx1"/>
                </a:solidFill>
              </a:rPr>
              <a:t>분할</a:t>
            </a:r>
          </a:p>
        </p:txBody>
      </p:sp>
      <p:sp>
        <p:nvSpPr>
          <p:cNvPr id="27" name="사각형: 둥근 모서리 26">
            <a:extLst>
              <a:ext uri="{FF2B5EF4-FFF2-40B4-BE49-F238E27FC236}">
                <a16:creationId xmlns:a16="http://schemas.microsoft.com/office/drawing/2014/main" id="{94EDBBEB-5B0D-976F-6211-B3F5D5485321}"/>
              </a:ext>
            </a:extLst>
          </p:cNvPr>
          <p:cNvSpPr/>
          <p:nvPr/>
        </p:nvSpPr>
        <p:spPr>
          <a:xfrm>
            <a:off x="4813561" y="1983024"/>
            <a:ext cx="2564878" cy="1445976"/>
          </a:xfrm>
          <a:prstGeom prst="roundRect">
            <a:avLst/>
          </a:prstGeom>
          <a:solidFill>
            <a:srgbClr val="DDF8F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US" altLang="ko-KR" b="1" dirty="0">
                <a:solidFill>
                  <a:schemeClr val="tx1"/>
                </a:solidFill>
              </a:rPr>
              <a:t>2</a:t>
            </a:r>
            <a:r>
              <a:rPr lang="ko-KR" altLang="en-US" b="1" dirty="0">
                <a:solidFill>
                  <a:schemeClr val="tx1"/>
                </a:solidFill>
              </a:rPr>
              <a:t>단계</a:t>
            </a:r>
            <a:endParaRPr lang="en-US" altLang="ko-KR" b="1" dirty="0">
              <a:solidFill>
                <a:schemeClr val="tx1"/>
              </a:solidFill>
            </a:endParaRPr>
          </a:p>
          <a:p>
            <a:pPr algn="ctr"/>
            <a:endParaRPr lang="en-US" altLang="ko-KR" b="1" dirty="0">
              <a:solidFill>
                <a:schemeClr val="tx1"/>
              </a:solidFill>
            </a:endParaRPr>
          </a:p>
          <a:p>
            <a:pPr algn="ctr"/>
            <a:r>
              <a:rPr lang="ko-KR" altLang="en-US" dirty="0" err="1">
                <a:solidFill>
                  <a:schemeClr val="tx1"/>
                </a:solidFill>
              </a:rPr>
              <a:t>결측치</a:t>
            </a:r>
            <a:r>
              <a:rPr lang="ko-KR" altLang="en-US" dirty="0">
                <a:solidFill>
                  <a:schemeClr val="tx1"/>
                </a:solidFill>
              </a:rPr>
              <a:t> 처리</a:t>
            </a:r>
            <a:endParaRPr lang="en-US" altLang="ko-KR" dirty="0">
              <a:solidFill>
                <a:schemeClr val="tx1"/>
              </a:solidFill>
            </a:endParaRPr>
          </a:p>
        </p:txBody>
      </p:sp>
      <p:sp>
        <p:nvSpPr>
          <p:cNvPr id="28" name="사각형: 둥근 모서리 27">
            <a:extLst>
              <a:ext uri="{FF2B5EF4-FFF2-40B4-BE49-F238E27FC236}">
                <a16:creationId xmlns:a16="http://schemas.microsoft.com/office/drawing/2014/main" id="{DE38DF0B-BD87-E97A-3D05-3812F4A8AC2A}"/>
              </a:ext>
            </a:extLst>
          </p:cNvPr>
          <p:cNvSpPr/>
          <p:nvPr/>
        </p:nvSpPr>
        <p:spPr>
          <a:xfrm>
            <a:off x="8877561" y="1983024"/>
            <a:ext cx="2564878" cy="1445976"/>
          </a:xfrm>
          <a:prstGeom prst="roundRect">
            <a:avLst/>
          </a:prstGeom>
          <a:solidFill>
            <a:srgbClr val="DDF8F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US" altLang="ko-KR" b="1" dirty="0">
                <a:solidFill>
                  <a:schemeClr val="tx1"/>
                </a:solidFill>
              </a:rPr>
              <a:t>3</a:t>
            </a:r>
            <a:r>
              <a:rPr lang="ko-KR" altLang="en-US" b="1" dirty="0">
                <a:solidFill>
                  <a:schemeClr val="tx1"/>
                </a:solidFill>
              </a:rPr>
              <a:t>단계</a:t>
            </a:r>
            <a:endParaRPr lang="en-US" altLang="ko-KR" b="1" dirty="0">
              <a:solidFill>
                <a:schemeClr val="tx1"/>
              </a:solidFill>
            </a:endParaRPr>
          </a:p>
          <a:p>
            <a:pPr algn="ctr"/>
            <a:endParaRPr lang="en-US" altLang="ko-KR" b="1" dirty="0">
              <a:solidFill>
                <a:schemeClr val="tx1"/>
              </a:solidFill>
            </a:endParaRPr>
          </a:p>
          <a:p>
            <a:pPr algn="ctr"/>
            <a:r>
              <a:rPr lang="ko-KR" altLang="en-US" dirty="0">
                <a:solidFill>
                  <a:schemeClr val="tx1"/>
                </a:solidFill>
              </a:rPr>
              <a:t>불필요 </a:t>
            </a:r>
            <a:r>
              <a:rPr lang="en-US" altLang="ko-KR" dirty="0">
                <a:solidFill>
                  <a:schemeClr val="tx1"/>
                </a:solidFill>
              </a:rPr>
              <a:t>column </a:t>
            </a:r>
            <a:r>
              <a:rPr lang="ko-KR" altLang="en-US" dirty="0">
                <a:solidFill>
                  <a:schemeClr val="tx1"/>
                </a:solidFill>
              </a:rPr>
              <a:t>삭제</a:t>
            </a:r>
          </a:p>
        </p:txBody>
      </p:sp>
      <p:sp>
        <p:nvSpPr>
          <p:cNvPr id="29" name="사각형: 둥근 모서리 28">
            <a:extLst>
              <a:ext uri="{FF2B5EF4-FFF2-40B4-BE49-F238E27FC236}">
                <a16:creationId xmlns:a16="http://schemas.microsoft.com/office/drawing/2014/main" id="{21353E0B-CFFB-770C-4FEE-887549569FBC}"/>
              </a:ext>
            </a:extLst>
          </p:cNvPr>
          <p:cNvSpPr/>
          <p:nvPr/>
        </p:nvSpPr>
        <p:spPr>
          <a:xfrm>
            <a:off x="644525" y="4489132"/>
            <a:ext cx="2774950" cy="1445976"/>
          </a:xfrm>
          <a:prstGeom prst="roundRect">
            <a:avLst/>
          </a:prstGeom>
          <a:solidFill>
            <a:srgbClr val="DDF8F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US" altLang="ko-KR" b="1" dirty="0">
                <a:solidFill>
                  <a:schemeClr val="tx1"/>
                </a:solidFill>
              </a:rPr>
              <a:t>4</a:t>
            </a:r>
            <a:r>
              <a:rPr lang="ko-KR" altLang="en-US" b="1" dirty="0">
                <a:solidFill>
                  <a:schemeClr val="tx1"/>
                </a:solidFill>
              </a:rPr>
              <a:t>단계</a:t>
            </a:r>
            <a:endParaRPr lang="en-US" altLang="ko-KR" b="1" dirty="0">
              <a:solidFill>
                <a:schemeClr val="tx1"/>
              </a:solidFill>
            </a:endParaRPr>
          </a:p>
          <a:p>
            <a:pPr algn="ctr"/>
            <a:endParaRPr lang="en-US" altLang="ko-KR" b="1" dirty="0">
              <a:solidFill>
                <a:schemeClr val="tx1"/>
              </a:solidFill>
            </a:endParaRPr>
          </a:p>
          <a:p>
            <a:pPr algn="ctr"/>
            <a:r>
              <a:rPr lang="ko-KR" altLang="en-US" dirty="0">
                <a:solidFill>
                  <a:schemeClr val="tx1"/>
                </a:solidFill>
              </a:rPr>
              <a:t>파생 변수 생성</a:t>
            </a:r>
            <a:endParaRPr lang="en-US" altLang="ko-KR" dirty="0">
              <a:solidFill>
                <a:schemeClr val="tx1"/>
              </a:solidFill>
            </a:endParaRPr>
          </a:p>
          <a:p>
            <a:pPr algn="ctr"/>
            <a:r>
              <a:rPr lang="en-US" altLang="ko-KR" dirty="0">
                <a:solidFill>
                  <a:schemeClr val="tx1"/>
                </a:solidFill>
              </a:rPr>
              <a:t>(</a:t>
            </a:r>
            <a:r>
              <a:rPr lang="ko-KR" altLang="en-US" dirty="0">
                <a:solidFill>
                  <a:schemeClr val="tx1"/>
                </a:solidFill>
              </a:rPr>
              <a:t>풍향 데이터 </a:t>
            </a:r>
            <a:r>
              <a:rPr lang="en-US" altLang="ko-KR" dirty="0">
                <a:solidFill>
                  <a:schemeClr val="tx1"/>
                </a:solidFill>
              </a:rPr>
              <a:t>encoding)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30" name="사각형: 둥근 모서리 29">
            <a:extLst>
              <a:ext uri="{FF2B5EF4-FFF2-40B4-BE49-F238E27FC236}">
                <a16:creationId xmlns:a16="http://schemas.microsoft.com/office/drawing/2014/main" id="{8F779067-023C-66A1-D608-EF7D84D22254}"/>
              </a:ext>
            </a:extLst>
          </p:cNvPr>
          <p:cNvSpPr/>
          <p:nvPr/>
        </p:nvSpPr>
        <p:spPr>
          <a:xfrm>
            <a:off x="4448175" y="4489132"/>
            <a:ext cx="3295650" cy="1445976"/>
          </a:xfrm>
          <a:prstGeom prst="roundRect">
            <a:avLst/>
          </a:prstGeom>
          <a:solidFill>
            <a:srgbClr val="DDF8F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US" altLang="ko-KR" b="1" dirty="0">
                <a:solidFill>
                  <a:schemeClr val="tx1"/>
                </a:solidFill>
              </a:rPr>
              <a:t>5</a:t>
            </a:r>
            <a:r>
              <a:rPr lang="ko-KR" altLang="en-US" b="1" dirty="0">
                <a:solidFill>
                  <a:schemeClr val="tx1"/>
                </a:solidFill>
              </a:rPr>
              <a:t>단계</a:t>
            </a:r>
            <a:endParaRPr lang="en-US" altLang="ko-KR" b="1" dirty="0">
              <a:solidFill>
                <a:schemeClr val="tx1"/>
              </a:solidFill>
            </a:endParaRPr>
          </a:p>
          <a:p>
            <a:pPr algn="ctr"/>
            <a:endParaRPr lang="en-US" altLang="ko-KR" b="1" dirty="0">
              <a:solidFill>
                <a:schemeClr val="tx1"/>
              </a:solidFill>
            </a:endParaRPr>
          </a:p>
          <a:p>
            <a:pPr algn="ctr"/>
            <a:r>
              <a:rPr lang="en-US" altLang="ko-KR" i="1" dirty="0">
                <a:solidFill>
                  <a:schemeClr val="tx1"/>
                </a:solidFill>
              </a:rPr>
              <a:t>Spearman’s correlation </a:t>
            </a:r>
            <a:r>
              <a:rPr lang="en-US" altLang="ko-KR" i="1" dirty="0" err="1">
                <a:solidFill>
                  <a:schemeClr val="tx1"/>
                </a:solidFill>
              </a:rPr>
              <a:t>coeff</a:t>
            </a:r>
            <a:r>
              <a:rPr lang="en-US" altLang="ko-KR" i="1" dirty="0">
                <a:solidFill>
                  <a:schemeClr val="tx1"/>
                </a:solidFill>
              </a:rPr>
              <a:t>.</a:t>
            </a:r>
          </a:p>
          <a:p>
            <a:pPr algn="ctr"/>
            <a:r>
              <a:rPr lang="ko-KR" altLang="en-US" dirty="0">
                <a:solidFill>
                  <a:schemeClr val="tx1"/>
                </a:solidFill>
              </a:rPr>
              <a:t>연관성 낮은 </a:t>
            </a:r>
            <a:r>
              <a:rPr lang="en-US" altLang="ko-KR" dirty="0">
                <a:solidFill>
                  <a:schemeClr val="tx1"/>
                </a:solidFill>
              </a:rPr>
              <a:t>column </a:t>
            </a:r>
            <a:r>
              <a:rPr lang="ko-KR" altLang="en-US" dirty="0">
                <a:solidFill>
                  <a:schemeClr val="tx1"/>
                </a:solidFill>
              </a:rPr>
              <a:t>삭제</a:t>
            </a:r>
          </a:p>
        </p:txBody>
      </p:sp>
      <p:sp>
        <p:nvSpPr>
          <p:cNvPr id="31" name="사각형: 둥근 모서리 30">
            <a:extLst>
              <a:ext uri="{FF2B5EF4-FFF2-40B4-BE49-F238E27FC236}">
                <a16:creationId xmlns:a16="http://schemas.microsoft.com/office/drawing/2014/main" id="{78DBEB80-84A8-794C-3CFE-CA048A9AD486}"/>
              </a:ext>
            </a:extLst>
          </p:cNvPr>
          <p:cNvSpPr/>
          <p:nvPr/>
        </p:nvSpPr>
        <p:spPr>
          <a:xfrm>
            <a:off x="8877561" y="4489132"/>
            <a:ext cx="2564878" cy="1445976"/>
          </a:xfrm>
          <a:prstGeom prst="roundRect">
            <a:avLst/>
          </a:prstGeom>
          <a:solidFill>
            <a:srgbClr val="DDF8F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US" altLang="ko-KR" b="1" dirty="0">
                <a:solidFill>
                  <a:schemeClr val="tx1"/>
                </a:solidFill>
              </a:rPr>
              <a:t>6</a:t>
            </a:r>
            <a:r>
              <a:rPr lang="ko-KR" altLang="en-US" b="1" dirty="0">
                <a:solidFill>
                  <a:schemeClr val="tx1"/>
                </a:solidFill>
              </a:rPr>
              <a:t>단계</a:t>
            </a:r>
            <a:endParaRPr lang="en-US" altLang="ko-KR" b="1" dirty="0">
              <a:solidFill>
                <a:schemeClr val="tx1"/>
              </a:solidFill>
            </a:endParaRPr>
          </a:p>
          <a:p>
            <a:pPr algn="ctr"/>
            <a:endParaRPr lang="en-US" altLang="ko-KR" b="1" dirty="0">
              <a:solidFill>
                <a:schemeClr val="tx1"/>
              </a:solidFill>
            </a:endParaRPr>
          </a:p>
          <a:p>
            <a:pPr algn="ctr"/>
            <a:r>
              <a:rPr lang="ko-KR" altLang="en-US" dirty="0">
                <a:solidFill>
                  <a:schemeClr val="tx1"/>
                </a:solidFill>
              </a:rPr>
              <a:t>파생변수 생성</a:t>
            </a:r>
            <a:endParaRPr lang="en-US" altLang="ko-KR" dirty="0">
              <a:solidFill>
                <a:schemeClr val="tx1"/>
              </a:solidFill>
            </a:endParaRPr>
          </a:p>
          <a:p>
            <a:pPr algn="ctr"/>
            <a:r>
              <a:rPr lang="en-US" altLang="ko-KR" dirty="0">
                <a:solidFill>
                  <a:schemeClr val="tx1"/>
                </a:solidFill>
              </a:rPr>
              <a:t>(</a:t>
            </a:r>
            <a:r>
              <a:rPr lang="ko-KR" altLang="en-US" dirty="0">
                <a:solidFill>
                  <a:schemeClr val="tx1"/>
                </a:solidFill>
              </a:rPr>
              <a:t>날짜 </a:t>
            </a:r>
            <a:r>
              <a:rPr lang="en-US" altLang="ko-KR" dirty="0">
                <a:solidFill>
                  <a:schemeClr val="tx1"/>
                </a:solidFill>
              </a:rPr>
              <a:t>encoding)</a:t>
            </a:r>
            <a:endParaRPr lang="ko-KR" altLang="en-US" dirty="0">
              <a:solidFill>
                <a:schemeClr val="tx1"/>
              </a:solidFill>
            </a:endParaRPr>
          </a:p>
        </p:txBody>
      </p:sp>
      <p:cxnSp>
        <p:nvCxnSpPr>
          <p:cNvPr id="47" name="직선 연결선 46">
            <a:extLst>
              <a:ext uri="{FF2B5EF4-FFF2-40B4-BE49-F238E27FC236}">
                <a16:creationId xmlns:a16="http://schemas.microsoft.com/office/drawing/2014/main" id="{215148C8-4AB9-57CC-9427-9682DD3238AC}"/>
              </a:ext>
            </a:extLst>
          </p:cNvPr>
          <p:cNvCxnSpPr>
            <a:cxnSpLocks/>
          </p:cNvCxnSpPr>
          <p:nvPr/>
        </p:nvCxnSpPr>
        <p:spPr>
          <a:xfrm>
            <a:off x="0" y="1136073"/>
            <a:ext cx="12192000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9" name="TextBox 48">
            <a:extLst>
              <a:ext uri="{FF2B5EF4-FFF2-40B4-BE49-F238E27FC236}">
                <a16:creationId xmlns:a16="http://schemas.microsoft.com/office/drawing/2014/main" id="{52FB95A7-F6B1-C955-7264-CAD64AA8CE7B}"/>
              </a:ext>
            </a:extLst>
          </p:cNvPr>
          <p:cNvSpPr txBox="1"/>
          <p:nvPr/>
        </p:nvSpPr>
        <p:spPr>
          <a:xfrm>
            <a:off x="321231" y="208112"/>
            <a:ext cx="647009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4000" b="1" dirty="0" err="1">
                <a:solidFill>
                  <a:srgbClr val="333F70"/>
                </a:solidFill>
                <a:cs typeface="ADLaM Display" panose="02010000000000000000" pitchFamily="2" charset="0"/>
              </a:rPr>
              <a:t>BackEnd</a:t>
            </a:r>
            <a:r>
              <a:rPr lang="en-US" altLang="ko-KR" sz="4000" b="1" dirty="0">
                <a:solidFill>
                  <a:srgbClr val="333F70"/>
                </a:solidFill>
                <a:cs typeface="ADLaM Display" panose="02010000000000000000" pitchFamily="2" charset="0"/>
              </a:rPr>
              <a:t> – </a:t>
            </a:r>
            <a:r>
              <a:rPr lang="ko-KR" altLang="en-US" sz="4000" b="1" dirty="0">
                <a:solidFill>
                  <a:srgbClr val="333F70"/>
                </a:solidFill>
                <a:cs typeface="ADLaM Display" panose="02010000000000000000" pitchFamily="2" charset="0"/>
              </a:rPr>
              <a:t>기상</a:t>
            </a:r>
            <a:r>
              <a:rPr lang="en-US" altLang="ko-KR" sz="4000" b="1" dirty="0">
                <a:solidFill>
                  <a:srgbClr val="333F70"/>
                </a:solidFill>
                <a:cs typeface="ADLaM Display" panose="02010000000000000000" pitchFamily="2" charset="0"/>
              </a:rPr>
              <a:t> </a:t>
            </a:r>
            <a:r>
              <a:rPr lang="ko-KR" altLang="en-US" sz="4000" b="1" dirty="0">
                <a:solidFill>
                  <a:srgbClr val="333F70"/>
                </a:solidFill>
                <a:cs typeface="ADLaM Display" panose="02010000000000000000" pitchFamily="2" charset="0"/>
              </a:rPr>
              <a:t>예측 모델</a:t>
            </a:r>
            <a:endParaRPr lang="en-US" altLang="ko-KR" sz="4000" b="1" dirty="0">
              <a:solidFill>
                <a:srgbClr val="333F70"/>
              </a:solidFill>
              <a:cs typeface="ADLaM Display" panose="02010000000000000000" pitchFamily="2" charset="0"/>
            </a:endParaRP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7079D645-1837-82BB-5C62-C8ECBEE9B050}"/>
              </a:ext>
            </a:extLst>
          </p:cNvPr>
          <p:cNvSpPr txBox="1"/>
          <p:nvPr/>
        </p:nvSpPr>
        <p:spPr>
          <a:xfrm>
            <a:off x="664358" y="1197015"/>
            <a:ext cx="3574268" cy="5037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2000" b="1" dirty="0">
                <a:latin typeface="Open Sans" panose="020B0606030504020204" pitchFamily="34" charset="0"/>
                <a:ea typeface="맑은 고딕" panose="020B0503020000020004" pitchFamily="50" charset="-127"/>
                <a:cs typeface="Open Sans" panose="020B0606030504020204" pitchFamily="34" charset="0"/>
              </a:rPr>
              <a:t>데이터 </a:t>
            </a:r>
            <a:r>
              <a:rPr lang="en-US" altLang="ko-KR" sz="2000" b="1" dirty="0">
                <a:latin typeface="Open Sans" panose="020B0606030504020204" pitchFamily="34" charset="0"/>
                <a:ea typeface="맑은 고딕" panose="020B0503020000020004" pitchFamily="50" charset="-127"/>
                <a:cs typeface="Open Sans" panose="020B0606030504020204" pitchFamily="34" charset="0"/>
              </a:rPr>
              <a:t>preprocessing</a:t>
            </a:r>
            <a:endParaRPr lang="en-US" altLang="ko-KR" sz="2000" b="1" dirty="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8097348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B5E5BC6-A0F7-B6AB-81A6-B6FCD3D40C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4FBEAAFC-76C7-8C34-C0D2-875E132D53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t>13</a:t>
            </a:r>
          </a:p>
        </p:txBody>
      </p:sp>
      <p:cxnSp>
        <p:nvCxnSpPr>
          <p:cNvPr id="47" name="직선 연결선 46">
            <a:extLst>
              <a:ext uri="{FF2B5EF4-FFF2-40B4-BE49-F238E27FC236}">
                <a16:creationId xmlns:a16="http://schemas.microsoft.com/office/drawing/2014/main" id="{89553B12-D44B-E6FB-486F-35C2E3C69B7D}"/>
              </a:ext>
            </a:extLst>
          </p:cNvPr>
          <p:cNvCxnSpPr>
            <a:cxnSpLocks/>
          </p:cNvCxnSpPr>
          <p:nvPr/>
        </p:nvCxnSpPr>
        <p:spPr>
          <a:xfrm>
            <a:off x="0" y="1136073"/>
            <a:ext cx="12192000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9" name="TextBox 48">
            <a:extLst>
              <a:ext uri="{FF2B5EF4-FFF2-40B4-BE49-F238E27FC236}">
                <a16:creationId xmlns:a16="http://schemas.microsoft.com/office/drawing/2014/main" id="{F6D46F7C-AF31-51AE-22EB-C62DF51F0891}"/>
              </a:ext>
            </a:extLst>
          </p:cNvPr>
          <p:cNvSpPr txBox="1"/>
          <p:nvPr/>
        </p:nvSpPr>
        <p:spPr>
          <a:xfrm>
            <a:off x="321231" y="208112"/>
            <a:ext cx="647009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4000" b="1" dirty="0" err="1">
                <a:solidFill>
                  <a:srgbClr val="333F70"/>
                </a:solidFill>
                <a:cs typeface="ADLaM Display" panose="02010000000000000000" pitchFamily="2" charset="0"/>
              </a:rPr>
              <a:t>BackEnd</a:t>
            </a:r>
            <a:r>
              <a:rPr lang="en-US" altLang="ko-KR" sz="4000" b="1" dirty="0">
                <a:solidFill>
                  <a:srgbClr val="333F70"/>
                </a:solidFill>
                <a:cs typeface="ADLaM Display" panose="02010000000000000000" pitchFamily="2" charset="0"/>
              </a:rPr>
              <a:t> – </a:t>
            </a:r>
            <a:r>
              <a:rPr lang="ko-KR" altLang="en-US" sz="4000" b="1" dirty="0">
                <a:solidFill>
                  <a:srgbClr val="333F70"/>
                </a:solidFill>
                <a:cs typeface="ADLaM Display" panose="02010000000000000000" pitchFamily="2" charset="0"/>
              </a:rPr>
              <a:t>기상</a:t>
            </a:r>
            <a:r>
              <a:rPr lang="en-US" altLang="ko-KR" sz="4000" b="1" dirty="0">
                <a:solidFill>
                  <a:srgbClr val="333F70"/>
                </a:solidFill>
                <a:cs typeface="ADLaM Display" panose="02010000000000000000" pitchFamily="2" charset="0"/>
              </a:rPr>
              <a:t> </a:t>
            </a:r>
            <a:r>
              <a:rPr lang="ko-KR" altLang="en-US" sz="4000" b="1" dirty="0">
                <a:solidFill>
                  <a:srgbClr val="333F70"/>
                </a:solidFill>
                <a:cs typeface="ADLaM Display" panose="02010000000000000000" pitchFamily="2" charset="0"/>
              </a:rPr>
              <a:t>예측 모델</a:t>
            </a:r>
            <a:endParaRPr lang="en-US" altLang="ko-KR" sz="4000" b="1" dirty="0">
              <a:solidFill>
                <a:srgbClr val="333F70"/>
              </a:solidFill>
              <a:cs typeface="ADLaM Display" panose="02010000000000000000" pitchFamily="2" charset="0"/>
            </a:endParaRP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FB043511-AEAC-3E8E-6ED7-9F8AD4C40F23}"/>
              </a:ext>
            </a:extLst>
          </p:cNvPr>
          <p:cNvSpPr txBox="1"/>
          <p:nvPr/>
        </p:nvSpPr>
        <p:spPr>
          <a:xfrm>
            <a:off x="664358" y="1197015"/>
            <a:ext cx="4563424" cy="5026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2000" b="1" dirty="0">
                <a:latin typeface="Open Sans" panose="020B0606030504020204" pitchFamily="34" charset="0"/>
                <a:ea typeface="맑은 고딕" panose="020B0503020000020004" pitchFamily="50" charset="-127"/>
                <a:cs typeface="Open Sans" panose="020B0606030504020204" pitchFamily="34" charset="0"/>
              </a:rPr>
              <a:t>데이터 </a:t>
            </a:r>
            <a:r>
              <a:rPr lang="en-US" altLang="ko-KR" sz="2000" b="1" dirty="0">
                <a:latin typeface="Open Sans" panose="020B0606030504020204" pitchFamily="34" charset="0"/>
                <a:ea typeface="맑은 고딕" panose="020B0503020000020004" pitchFamily="50" charset="-127"/>
                <a:cs typeface="Open Sans" panose="020B0606030504020204" pitchFamily="34" charset="0"/>
              </a:rPr>
              <a:t>preprocessing </a:t>
            </a:r>
            <a:r>
              <a:rPr lang="ko-KR" altLang="en-US" sz="2000" b="1" dirty="0">
                <a:latin typeface="Open Sans" panose="020B0606030504020204" pitchFamily="34" charset="0"/>
                <a:ea typeface="맑은 고딕" panose="020B0503020000020004" pitchFamily="50" charset="-127"/>
                <a:cs typeface="Open Sans" panose="020B0606030504020204" pitchFamily="34" charset="0"/>
              </a:rPr>
              <a:t>예시 코드</a:t>
            </a:r>
            <a:endParaRPr lang="en-US" altLang="ko-KR" sz="2000" b="1" dirty="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grpSp>
        <p:nvGrpSpPr>
          <p:cNvPr id="11" name="그룹 10">
            <a:extLst>
              <a:ext uri="{FF2B5EF4-FFF2-40B4-BE49-F238E27FC236}">
                <a16:creationId xmlns:a16="http://schemas.microsoft.com/office/drawing/2014/main" id="{E8054D44-CB27-852D-4564-24AE67B435E2}"/>
              </a:ext>
            </a:extLst>
          </p:cNvPr>
          <p:cNvGrpSpPr/>
          <p:nvPr/>
        </p:nvGrpSpPr>
        <p:grpSpPr>
          <a:xfrm>
            <a:off x="1328606" y="1861232"/>
            <a:ext cx="9534789" cy="2199817"/>
            <a:chOff x="1127894" y="1833524"/>
            <a:chExt cx="9534789" cy="2199817"/>
          </a:xfrm>
        </p:grpSpPr>
        <p:sp>
          <p:nvSpPr>
            <p:cNvPr id="30" name="사각형: 둥근 모서리 29">
              <a:extLst>
                <a:ext uri="{FF2B5EF4-FFF2-40B4-BE49-F238E27FC236}">
                  <a16:creationId xmlns:a16="http://schemas.microsoft.com/office/drawing/2014/main" id="{A2BF84AB-A136-71B5-BB7F-5C509333C2AA}"/>
                </a:ext>
              </a:extLst>
            </p:cNvPr>
            <p:cNvSpPr/>
            <p:nvPr/>
          </p:nvSpPr>
          <p:spPr>
            <a:xfrm>
              <a:off x="1127894" y="2210444"/>
              <a:ext cx="3295650" cy="1445976"/>
            </a:xfrm>
            <a:prstGeom prst="roundRect">
              <a:avLst/>
            </a:prstGeom>
            <a:solidFill>
              <a:srgbClr val="DDF8F2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algn="ctr"/>
              <a:r>
                <a:rPr lang="en-US" altLang="ko-KR" b="1" dirty="0">
                  <a:solidFill>
                    <a:schemeClr val="tx1"/>
                  </a:solidFill>
                </a:rPr>
                <a:t>5</a:t>
              </a:r>
              <a:r>
                <a:rPr lang="ko-KR" altLang="en-US" b="1" dirty="0">
                  <a:solidFill>
                    <a:schemeClr val="tx1"/>
                  </a:solidFill>
                </a:rPr>
                <a:t>단계</a:t>
              </a:r>
              <a:endParaRPr lang="en-US" altLang="ko-KR" b="1" dirty="0">
                <a:solidFill>
                  <a:schemeClr val="tx1"/>
                </a:solidFill>
              </a:endParaRPr>
            </a:p>
            <a:p>
              <a:pPr algn="ctr"/>
              <a:endParaRPr lang="en-US" altLang="ko-KR" b="1" dirty="0">
                <a:solidFill>
                  <a:schemeClr val="tx1"/>
                </a:solidFill>
              </a:endParaRPr>
            </a:p>
            <a:p>
              <a:pPr algn="ctr"/>
              <a:r>
                <a:rPr lang="en-US" altLang="ko-KR" i="1" dirty="0">
                  <a:solidFill>
                    <a:schemeClr val="tx1"/>
                  </a:solidFill>
                </a:rPr>
                <a:t>Spearman’s correlation </a:t>
              </a:r>
              <a:r>
                <a:rPr lang="en-US" altLang="ko-KR" i="1" dirty="0" err="1">
                  <a:solidFill>
                    <a:schemeClr val="tx1"/>
                  </a:solidFill>
                </a:rPr>
                <a:t>coeff</a:t>
              </a:r>
              <a:r>
                <a:rPr lang="en-US" altLang="ko-KR" i="1" dirty="0">
                  <a:solidFill>
                    <a:schemeClr val="tx1"/>
                  </a:solidFill>
                </a:rPr>
                <a:t>.</a:t>
              </a:r>
            </a:p>
            <a:p>
              <a:pPr algn="ctr"/>
              <a:r>
                <a:rPr lang="ko-KR" altLang="en-US" dirty="0">
                  <a:solidFill>
                    <a:schemeClr val="tx1"/>
                  </a:solidFill>
                </a:rPr>
                <a:t>연관성 낮은 </a:t>
              </a:r>
              <a:r>
                <a:rPr lang="en-US" altLang="ko-KR" dirty="0">
                  <a:solidFill>
                    <a:schemeClr val="tx1"/>
                  </a:solidFill>
                </a:rPr>
                <a:t>column </a:t>
              </a:r>
              <a:r>
                <a:rPr lang="ko-KR" altLang="en-US" dirty="0">
                  <a:solidFill>
                    <a:schemeClr val="tx1"/>
                  </a:solidFill>
                </a:rPr>
                <a:t>삭제</a:t>
              </a:r>
            </a:p>
          </p:txBody>
        </p:sp>
        <p:pic>
          <p:nvPicPr>
            <p:cNvPr id="7" name="그림 6">
              <a:extLst>
                <a:ext uri="{FF2B5EF4-FFF2-40B4-BE49-F238E27FC236}">
                  <a16:creationId xmlns:a16="http://schemas.microsoft.com/office/drawing/2014/main" id="{9367A243-5F31-3567-6F51-244A0620BB52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backgroundRemoval t="10000" b="90000" l="8788" r="89947">
                          <a14:foregroundMark x1="8855" y1="39494" x2="8788" y2="44937"/>
                        </a14:backgroundRemoval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7425" t="23030" r="7425" b="13019"/>
            <a:stretch>
              <a:fillRect/>
            </a:stretch>
          </p:blipFill>
          <p:spPr>
            <a:xfrm>
              <a:off x="5093662" y="1833524"/>
              <a:ext cx="5569021" cy="2199817"/>
            </a:xfrm>
            <a:prstGeom prst="rect">
              <a:avLst/>
            </a:prstGeom>
          </p:spPr>
        </p:pic>
      </p:grpSp>
      <p:grpSp>
        <p:nvGrpSpPr>
          <p:cNvPr id="10" name="그룹 9">
            <a:extLst>
              <a:ext uri="{FF2B5EF4-FFF2-40B4-BE49-F238E27FC236}">
                <a16:creationId xmlns:a16="http://schemas.microsoft.com/office/drawing/2014/main" id="{6CFEFED0-2F8D-CE48-0822-49390EBB38C2}"/>
              </a:ext>
            </a:extLst>
          </p:cNvPr>
          <p:cNvGrpSpPr/>
          <p:nvPr/>
        </p:nvGrpSpPr>
        <p:grpSpPr>
          <a:xfrm>
            <a:off x="1328606" y="4270610"/>
            <a:ext cx="9534789" cy="2406979"/>
            <a:chOff x="1127894" y="4242902"/>
            <a:chExt cx="9534789" cy="2406979"/>
          </a:xfrm>
        </p:grpSpPr>
        <p:sp>
          <p:nvSpPr>
            <p:cNvPr id="31" name="사각형: 둥근 모서리 30">
              <a:extLst>
                <a:ext uri="{FF2B5EF4-FFF2-40B4-BE49-F238E27FC236}">
                  <a16:creationId xmlns:a16="http://schemas.microsoft.com/office/drawing/2014/main" id="{CA3E45EB-EAE2-39C4-8CBE-844113F07CFA}"/>
                </a:ext>
              </a:extLst>
            </p:cNvPr>
            <p:cNvSpPr/>
            <p:nvPr/>
          </p:nvSpPr>
          <p:spPr>
            <a:xfrm>
              <a:off x="1127894" y="4723403"/>
              <a:ext cx="3295650" cy="1445976"/>
            </a:xfrm>
            <a:prstGeom prst="roundRect">
              <a:avLst/>
            </a:prstGeom>
            <a:solidFill>
              <a:srgbClr val="DDF8F2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algn="ctr"/>
              <a:r>
                <a:rPr lang="en-US" altLang="ko-KR" b="1" dirty="0">
                  <a:solidFill>
                    <a:schemeClr val="tx1"/>
                  </a:solidFill>
                </a:rPr>
                <a:t>6</a:t>
              </a:r>
              <a:r>
                <a:rPr lang="ko-KR" altLang="en-US" b="1" dirty="0">
                  <a:solidFill>
                    <a:schemeClr val="tx1"/>
                  </a:solidFill>
                </a:rPr>
                <a:t>단계</a:t>
              </a:r>
              <a:endParaRPr lang="en-US" altLang="ko-KR" b="1" dirty="0">
                <a:solidFill>
                  <a:schemeClr val="tx1"/>
                </a:solidFill>
              </a:endParaRPr>
            </a:p>
            <a:p>
              <a:pPr algn="ctr"/>
              <a:endParaRPr lang="en-US" altLang="ko-KR" b="1" dirty="0">
                <a:solidFill>
                  <a:schemeClr val="tx1"/>
                </a:solidFill>
              </a:endParaRPr>
            </a:p>
            <a:p>
              <a:pPr algn="ctr"/>
              <a:r>
                <a:rPr lang="ko-KR" altLang="en-US" dirty="0">
                  <a:solidFill>
                    <a:schemeClr val="tx1"/>
                  </a:solidFill>
                </a:rPr>
                <a:t>파생변수 생성</a:t>
              </a:r>
              <a:endParaRPr lang="en-US" altLang="ko-KR" dirty="0">
                <a:solidFill>
                  <a:schemeClr val="tx1"/>
                </a:solidFill>
              </a:endParaRPr>
            </a:p>
            <a:p>
              <a:pPr algn="ctr"/>
              <a:r>
                <a:rPr lang="en-US" altLang="ko-KR" dirty="0">
                  <a:solidFill>
                    <a:schemeClr val="tx1"/>
                  </a:solidFill>
                </a:rPr>
                <a:t>(</a:t>
              </a:r>
              <a:r>
                <a:rPr lang="ko-KR" altLang="en-US" dirty="0">
                  <a:solidFill>
                    <a:schemeClr val="tx1"/>
                  </a:solidFill>
                </a:rPr>
                <a:t>날짜 </a:t>
              </a:r>
              <a:r>
                <a:rPr lang="en-US" altLang="ko-KR" dirty="0">
                  <a:solidFill>
                    <a:schemeClr val="tx1"/>
                  </a:solidFill>
                </a:rPr>
                <a:t>encoding)</a:t>
              </a:r>
              <a:endParaRPr lang="ko-KR" altLang="en-US" dirty="0">
                <a:solidFill>
                  <a:schemeClr val="tx1"/>
                </a:solidFill>
              </a:endParaRPr>
            </a:p>
          </p:txBody>
        </p:sp>
        <p:pic>
          <p:nvPicPr>
            <p:cNvPr id="9" name="그림 8">
              <a:extLst>
                <a:ext uri="{FF2B5EF4-FFF2-40B4-BE49-F238E27FC236}">
                  <a16:creationId xmlns:a16="http://schemas.microsoft.com/office/drawing/2014/main" id="{67EC695B-E387-A9C7-2542-7CCF381D43B5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7293" t="21267" r="7216" b="13131"/>
            <a:stretch>
              <a:fillRect/>
            </a:stretch>
          </p:blipFill>
          <p:spPr>
            <a:xfrm>
              <a:off x="5093662" y="4242902"/>
              <a:ext cx="5569021" cy="2406979"/>
            </a:xfrm>
            <a:prstGeom prst="rect">
              <a:avLst/>
            </a:prstGeom>
          </p:spPr>
        </p:pic>
      </p:grpSp>
      <p:cxnSp>
        <p:nvCxnSpPr>
          <p:cNvPr id="12" name="직선 연결선 11">
            <a:extLst>
              <a:ext uri="{FF2B5EF4-FFF2-40B4-BE49-F238E27FC236}">
                <a16:creationId xmlns:a16="http://schemas.microsoft.com/office/drawing/2014/main" id="{8DC51C44-34BA-B380-EAAC-DB044A06799A}"/>
              </a:ext>
            </a:extLst>
          </p:cNvPr>
          <p:cNvCxnSpPr>
            <a:cxnSpLocks/>
          </p:cNvCxnSpPr>
          <p:nvPr/>
        </p:nvCxnSpPr>
        <p:spPr>
          <a:xfrm>
            <a:off x="591127" y="4152333"/>
            <a:ext cx="11120582" cy="0"/>
          </a:xfrm>
          <a:prstGeom prst="line">
            <a:avLst/>
          </a:prstGeom>
          <a:ln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6241569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5378F2-93AE-C101-AD8D-DEFCBF5A02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3E386669-4DBF-F31B-7138-6414E05EBF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t>14</a:t>
            </a:r>
          </a:p>
        </p:txBody>
      </p:sp>
      <p:cxnSp>
        <p:nvCxnSpPr>
          <p:cNvPr id="38" name="직선 연결선 37">
            <a:extLst>
              <a:ext uri="{FF2B5EF4-FFF2-40B4-BE49-F238E27FC236}">
                <a16:creationId xmlns:a16="http://schemas.microsoft.com/office/drawing/2014/main" id="{2D84CFEE-BE85-393A-D76C-979164329FE2}"/>
              </a:ext>
            </a:extLst>
          </p:cNvPr>
          <p:cNvCxnSpPr>
            <a:cxnSpLocks/>
          </p:cNvCxnSpPr>
          <p:nvPr/>
        </p:nvCxnSpPr>
        <p:spPr>
          <a:xfrm>
            <a:off x="0" y="1136073"/>
            <a:ext cx="12192000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TextBox 39">
            <a:extLst>
              <a:ext uri="{FF2B5EF4-FFF2-40B4-BE49-F238E27FC236}">
                <a16:creationId xmlns:a16="http://schemas.microsoft.com/office/drawing/2014/main" id="{35BE67AB-DF98-0717-7BB6-DAC182BA3B39}"/>
              </a:ext>
            </a:extLst>
          </p:cNvPr>
          <p:cNvSpPr txBox="1"/>
          <p:nvPr/>
        </p:nvSpPr>
        <p:spPr>
          <a:xfrm>
            <a:off x="321231" y="208112"/>
            <a:ext cx="647009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4000" b="1" dirty="0" err="1">
                <a:solidFill>
                  <a:srgbClr val="333F70"/>
                </a:solidFill>
                <a:cs typeface="ADLaM Display" panose="02010000000000000000" pitchFamily="2" charset="0"/>
              </a:rPr>
              <a:t>BackEnd</a:t>
            </a:r>
            <a:r>
              <a:rPr lang="en-US" altLang="ko-KR" sz="4000" b="1" dirty="0">
                <a:solidFill>
                  <a:srgbClr val="333F70"/>
                </a:solidFill>
                <a:cs typeface="ADLaM Display" panose="02010000000000000000" pitchFamily="2" charset="0"/>
              </a:rPr>
              <a:t> – </a:t>
            </a:r>
            <a:r>
              <a:rPr lang="ko-KR" altLang="en-US" sz="4000" b="1" dirty="0">
                <a:solidFill>
                  <a:srgbClr val="333F70"/>
                </a:solidFill>
                <a:cs typeface="ADLaM Display" panose="02010000000000000000" pitchFamily="2" charset="0"/>
              </a:rPr>
              <a:t>기상</a:t>
            </a:r>
            <a:r>
              <a:rPr lang="en-US" altLang="ko-KR" sz="4000" b="1" dirty="0">
                <a:solidFill>
                  <a:srgbClr val="333F70"/>
                </a:solidFill>
                <a:cs typeface="ADLaM Display" panose="02010000000000000000" pitchFamily="2" charset="0"/>
              </a:rPr>
              <a:t> </a:t>
            </a:r>
            <a:r>
              <a:rPr lang="ko-KR" altLang="en-US" sz="4000" b="1" dirty="0">
                <a:solidFill>
                  <a:srgbClr val="333F70"/>
                </a:solidFill>
                <a:cs typeface="ADLaM Display" panose="02010000000000000000" pitchFamily="2" charset="0"/>
              </a:rPr>
              <a:t>예측 모델</a:t>
            </a:r>
            <a:endParaRPr lang="en-US" altLang="ko-KR" sz="4000" b="1" dirty="0">
              <a:solidFill>
                <a:srgbClr val="333F70"/>
              </a:solidFill>
              <a:cs typeface="ADLaM Display" panose="02010000000000000000" pitchFamily="2" charset="0"/>
            </a:endParaRP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2A0DDDA9-F52F-FEA9-AB2D-542495834C84}"/>
              </a:ext>
            </a:extLst>
          </p:cNvPr>
          <p:cNvSpPr txBox="1"/>
          <p:nvPr/>
        </p:nvSpPr>
        <p:spPr>
          <a:xfrm>
            <a:off x="664358" y="1197015"/>
            <a:ext cx="4729678" cy="49449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2000" b="1" dirty="0">
                <a:latin typeface="맑은 고딕" panose="020B0503020000020004" pitchFamily="50" charset="-127"/>
                <a:ea typeface="맑은 고딕" panose="020B0503020000020004" pitchFamily="50" charset="-127"/>
                <a:cs typeface="Open Sans" panose="020B0606030504020204" pitchFamily="34" charset="0"/>
              </a:rPr>
              <a:t>Single</a:t>
            </a:r>
            <a:r>
              <a:rPr lang="ko-KR" altLang="en-US" sz="2000" b="1" dirty="0">
                <a:latin typeface="맑은 고딕" panose="020B0503020000020004" pitchFamily="50" charset="-127"/>
                <a:ea typeface="맑은 고딕" panose="020B0503020000020004" pitchFamily="50" charset="-127"/>
                <a:cs typeface="Open Sans" panose="020B0606030504020204" pitchFamily="34" charset="0"/>
              </a:rPr>
              <a:t> </a:t>
            </a:r>
            <a:r>
              <a:rPr lang="en-US" altLang="ko-KR" sz="2000" b="1" dirty="0">
                <a:latin typeface="맑은 고딕" panose="020B0503020000020004" pitchFamily="50" charset="-127"/>
                <a:ea typeface="맑은 고딕" panose="020B0503020000020004" pitchFamily="50" charset="-127"/>
                <a:cs typeface="Open Sans" panose="020B0606030504020204" pitchFamily="34" charset="0"/>
              </a:rPr>
              <a:t>stage</a:t>
            </a:r>
            <a:r>
              <a:rPr lang="ko-KR" altLang="en-US" sz="2000" b="1" dirty="0">
                <a:latin typeface="맑은 고딕" panose="020B0503020000020004" pitchFamily="50" charset="-127"/>
                <a:ea typeface="맑은 고딕" panose="020B0503020000020004" pitchFamily="50" charset="-127"/>
                <a:cs typeface="Open Sans" panose="020B0606030504020204" pitchFamily="34" charset="0"/>
              </a:rPr>
              <a:t> </a:t>
            </a:r>
            <a:r>
              <a:rPr lang="en-US" altLang="ko-KR" sz="2000" b="1" dirty="0">
                <a:latin typeface="맑은 고딕" panose="020B0503020000020004" pitchFamily="50" charset="-127"/>
                <a:ea typeface="맑은 고딕" panose="020B0503020000020004" pitchFamily="50" charset="-127"/>
                <a:cs typeface="Open Sans" panose="020B0606030504020204" pitchFamily="34" charset="0"/>
              </a:rPr>
              <a:t>Bi-directional</a:t>
            </a:r>
            <a:r>
              <a:rPr lang="ko-KR" altLang="en-US" sz="2000" b="1" dirty="0">
                <a:latin typeface="맑은 고딕" panose="020B0503020000020004" pitchFamily="50" charset="-127"/>
                <a:ea typeface="맑은 고딕" panose="020B0503020000020004" pitchFamily="50" charset="-127"/>
                <a:cs typeface="Open Sans" panose="020B0606030504020204" pitchFamily="34" charset="0"/>
              </a:rPr>
              <a:t> </a:t>
            </a:r>
            <a:r>
              <a:rPr lang="en-US" altLang="ko-KR" sz="2000" b="1" dirty="0">
                <a:latin typeface="맑은 고딕" panose="020B0503020000020004" pitchFamily="50" charset="-127"/>
                <a:ea typeface="맑은 고딕" panose="020B0503020000020004" pitchFamily="50" charset="-127"/>
                <a:cs typeface="Open Sans" panose="020B0606030504020204" pitchFamily="34" charset="0"/>
              </a:rPr>
              <a:t>LSTM</a:t>
            </a:r>
          </a:p>
        </p:txBody>
      </p:sp>
      <p:pic>
        <p:nvPicPr>
          <p:cNvPr id="85" name="그림 84">
            <a:extLst>
              <a:ext uri="{FF2B5EF4-FFF2-40B4-BE49-F238E27FC236}">
                <a16:creationId xmlns:a16="http://schemas.microsoft.com/office/drawing/2014/main" id="{712222C7-3E01-7048-CEAC-F7ADC441E29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1321" y="1936908"/>
            <a:ext cx="4966824" cy="4624874"/>
          </a:xfrm>
          <a:prstGeom prst="rect">
            <a:avLst/>
          </a:prstGeom>
        </p:spPr>
      </p:pic>
      <p:sp>
        <p:nvSpPr>
          <p:cNvPr id="87" name="TextBox 86">
            <a:extLst>
              <a:ext uri="{FF2B5EF4-FFF2-40B4-BE49-F238E27FC236}">
                <a16:creationId xmlns:a16="http://schemas.microsoft.com/office/drawing/2014/main" id="{01BEC4E6-B2C6-FA11-4D4D-7484B8DE9C70}"/>
              </a:ext>
            </a:extLst>
          </p:cNvPr>
          <p:cNvSpPr txBox="1"/>
          <p:nvPr/>
        </p:nvSpPr>
        <p:spPr>
          <a:xfrm>
            <a:off x="6734844" y="1778946"/>
            <a:ext cx="4803934" cy="14178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2000" b="1" dirty="0">
                <a:latin typeface="+mj-lt"/>
                <a:ea typeface="맑은 고딕" panose="020B0503020000020004" pitchFamily="50" charset="-127"/>
                <a:cs typeface="Open Sans" panose="020B0606030504020204" pitchFamily="34" charset="0"/>
              </a:rPr>
              <a:t>고정된 학습 형태</a:t>
            </a:r>
            <a:endParaRPr lang="en-US" altLang="ko-KR" sz="2000" b="1" dirty="0">
              <a:latin typeface="+mj-lt"/>
              <a:ea typeface="맑은 고딕" panose="020B0503020000020004" pitchFamily="50" charset="-127"/>
              <a:cs typeface="Open Sans" panose="020B0606030504020204" pitchFamily="34" charset="0"/>
            </a:endParaRPr>
          </a:p>
          <a:p>
            <a:pPr>
              <a:lnSpc>
                <a:spcPct val="150000"/>
              </a:lnSpc>
            </a:pPr>
            <a:r>
              <a:rPr lang="ko-KR" altLang="en-US" sz="2000" b="1" dirty="0">
                <a:latin typeface="+mj-lt"/>
                <a:ea typeface="맑은 고딕" panose="020B0503020000020004" pitchFamily="50" charset="-127"/>
                <a:cs typeface="Open Sans" panose="020B0606030504020204" pitchFamily="34" charset="0"/>
              </a:rPr>
              <a:t>예</a:t>
            </a:r>
            <a:r>
              <a:rPr lang="en-US" altLang="ko-KR" sz="2000" b="1" dirty="0">
                <a:latin typeface="+mj-lt"/>
                <a:ea typeface="맑은 고딕" panose="020B0503020000020004" pitchFamily="50" charset="-127"/>
                <a:cs typeface="Open Sans" panose="020B0606030504020204" pitchFamily="34" charset="0"/>
              </a:rPr>
              <a:t>) 2</a:t>
            </a:r>
            <a:r>
              <a:rPr lang="ko-KR" altLang="en-US" sz="2000" b="1" dirty="0">
                <a:latin typeface="+mj-lt"/>
                <a:ea typeface="맑은 고딕" panose="020B0503020000020004" pitchFamily="50" charset="-127"/>
                <a:cs typeface="Open Sans" panose="020B0606030504020204" pitchFamily="34" charset="0"/>
              </a:rPr>
              <a:t>주간의 기상 변수들</a:t>
            </a:r>
            <a:r>
              <a:rPr lang="en-US" altLang="ko-KR" sz="2000" b="1" dirty="0">
                <a:latin typeface="+mj-lt"/>
                <a:ea typeface="맑은 고딕" panose="020B0503020000020004" pitchFamily="50" charset="-127"/>
                <a:cs typeface="Open Sans" panose="020B0606030504020204" pitchFamily="34" charset="0"/>
              </a:rPr>
              <a:t>(X)</a:t>
            </a:r>
            <a:r>
              <a:rPr lang="ko-KR" altLang="en-US" sz="2000" b="1" dirty="0">
                <a:latin typeface="+mj-lt"/>
                <a:ea typeface="맑은 고딕" panose="020B0503020000020004" pitchFamily="50" charset="-127"/>
                <a:cs typeface="Open Sans" panose="020B0606030504020204" pitchFamily="34" charset="0"/>
              </a:rPr>
              <a:t>로 </a:t>
            </a:r>
            <a:r>
              <a:rPr lang="en-US" altLang="ko-KR" sz="2000" b="1" dirty="0">
                <a:solidFill>
                  <a:srgbClr val="FF0000"/>
                </a:solidFill>
                <a:latin typeface="+mj-lt"/>
                <a:ea typeface="맑은 고딕" panose="020B0503020000020004" pitchFamily="50" charset="-127"/>
                <a:cs typeface="Open Sans" panose="020B0606030504020204" pitchFamily="34" charset="0"/>
              </a:rPr>
              <a:t>3</a:t>
            </a:r>
            <a:r>
              <a:rPr lang="ko-KR" altLang="en-US" sz="2000" b="1" dirty="0">
                <a:solidFill>
                  <a:srgbClr val="FF0000"/>
                </a:solidFill>
                <a:latin typeface="+mj-lt"/>
                <a:ea typeface="맑은 고딕" panose="020B0503020000020004" pitchFamily="50" charset="-127"/>
                <a:cs typeface="Open Sans" panose="020B0606030504020204" pitchFamily="34" charset="0"/>
              </a:rPr>
              <a:t>일 뒤의 </a:t>
            </a:r>
            <a:r>
              <a:rPr lang="ko-KR" altLang="en-US" sz="2000" b="1" dirty="0">
                <a:latin typeface="+mj-lt"/>
                <a:ea typeface="맑은 고딕" panose="020B0503020000020004" pitchFamily="50" charset="-127"/>
                <a:cs typeface="Open Sans" panose="020B0606030504020204" pitchFamily="34" charset="0"/>
              </a:rPr>
              <a:t>일평균 기온</a:t>
            </a:r>
            <a:r>
              <a:rPr lang="en-US" altLang="ko-KR" sz="2000" b="1" dirty="0">
                <a:latin typeface="+mj-lt"/>
                <a:ea typeface="맑은 고딕" panose="020B0503020000020004" pitchFamily="50" charset="-127"/>
                <a:cs typeface="Open Sans" panose="020B0606030504020204" pitchFamily="34" charset="0"/>
              </a:rPr>
              <a:t>(Y)</a:t>
            </a:r>
            <a:r>
              <a:rPr lang="ko-KR" altLang="en-US" sz="2000" b="1" dirty="0">
                <a:latin typeface="+mj-lt"/>
                <a:ea typeface="맑은 고딕" panose="020B0503020000020004" pitchFamily="50" charset="-127"/>
                <a:cs typeface="Open Sans" panose="020B0606030504020204" pitchFamily="34" charset="0"/>
              </a:rPr>
              <a:t>을 예측해줘</a:t>
            </a:r>
            <a:endParaRPr lang="en-US" altLang="ko-KR" sz="2000" b="1" dirty="0">
              <a:latin typeface="+mj-lt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88" name="화살표: 아래쪽 87">
            <a:extLst>
              <a:ext uri="{FF2B5EF4-FFF2-40B4-BE49-F238E27FC236}">
                <a16:creationId xmlns:a16="http://schemas.microsoft.com/office/drawing/2014/main" id="{71ABD9CB-3C28-4387-21FF-88D8AC042391}"/>
              </a:ext>
            </a:extLst>
          </p:cNvPr>
          <p:cNvSpPr/>
          <p:nvPr/>
        </p:nvSpPr>
        <p:spPr>
          <a:xfrm>
            <a:off x="8257309" y="3461895"/>
            <a:ext cx="1459345" cy="350982"/>
          </a:xfrm>
          <a:prstGeom prst="downArrow">
            <a:avLst/>
          </a:prstGeom>
          <a:solidFill>
            <a:srgbClr val="B6F0E4"/>
          </a:solidFill>
          <a:ln>
            <a:solidFill>
              <a:srgbClr val="26A68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90" name="그래픽 89" descr="사용자 단색으로 채워진">
            <a:extLst>
              <a:ext uri="{FF2B5EF4-FFF2-40B4-BE49-F238E27FC236}">
                <a16:creationId xmlns:a16="http://schemas.microsoft.com/office/drawing/2014/main" id="{91AF42A3-1855-932C-65B9-D47137AD1D7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096000" y="4917130"/>
            <a:ext cx="1644652" cy="1644652"/>
          </a:xfrm>
          <a:prstGeom prst="rect">
            <a:avLst/>
          </a:prstGeom>
        </p:spPr>
      </p:pic>
      <p:sp>
        <p:nvSpPr>
          <p:cNvPr id="91" name="생각 풍선: 구름 모양 90">
            <a:extLst>
              <a:ext uri="{FF2B5EF4-FFF2-40B4-BE49-F238E27FC236}">
                <a16:creationId xmlns:a16="http://schemas.microsoft.com/office/drawing/2014/main" id="{6BD93C14-3D6C-9C76-51BC-3A42E7ED91F0}"/>
              </a:ext>
            </a:extLst>
          </p:cNvPr>
          <p:cNvSpPr/>
          <p:nvPr/>
        </p:nvSpPr>
        <p:spPr>
          <a:xfrm>
            <a:off x="7510032" y="3997604"/>
            <a:ext cx="4221019" cy="1472582"/>
          </a:xfrm>
          <a:prstGeom prst="cloudCallout">
            <a:avLst>
              <a:gd name="adj1" fmla="val -53683"/>
              <a:gd name="adj2" fmla="val 49169"/>
            </a:avLst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ysClr val="windowText" lastClr="000000"/>
                </a:solidFill>
              </a:rPr>
              <a:t>나는 </a:t>
            </a:r>
            <a:r>
              <a:rPr lang="en-US" altLang="ko-KR" dirty="0">
                <a:solidFill>
                  <a:sysClr val="windowText" lastClr="000000"/>
                </a:solidFill>
              </a:rPr>
              <a:t>30</a:t>
            </a:r>
            <a:r>
              <a:rPr lang="ko-KR" altLang="en-US" dirty="0">
                <a:solidFill>
                  <a:sysClr val="windowText" lastClr="000000"/>
                </a:solidFill>
              </a:rPr>
              <a:t>일 뒤에 출발이라 </a:t>
            </a:r>
            <a:r>
              <a:rPr lang="en-US" altLang="ko-KR" dirty="0">
                <a:solidFill>
                  <a:sysClr val="windowText" lastClr="000000"/>
                </a:solidFill>
              </a:rPr>
              <a:t>3</a:t>
            </a:r>
            <a:r>
              <a:rPr lang="ko-KR" altLang="en-US" dirty="0">
                <a:solidFill>
                  <a:sysClr val="windowText" lastClr="000000"/>
                </a:solidFill>
              </a:rPr>
              <a:t>일 뒤의 예측 값은 필요가 없는데</a:t>
            </a:r>
            <a:r>
              <a:rPr lang="en-US" altLang="ko-KR" dirty="0">
                <a:solidFill>
                  <a:sysClr val="windowText" lastClr="000000"/>
                </a:solidFill>
              </a:rPr>
              <a:t>?</a:t>
            </a:r>
            <a:endParaRPr lang="ko-KR" altLang="en-US" dirty="0">
              <a:solidFill>
                <a:sysClr val="windowText" lastClr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7074457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681673-A8AC-C28A-6C76-8E959D51C0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71D5A825-E548-DA6D-4308-E5AAC33112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t>15</a:t>
            </a:r>
          </a:p>
        </p:txBody>
      </p:sp>
      <p:grpSp>
        <p:nvGrpSpPr>
          <p:cNvPr id="41" name="그룹 40">
            <a:extLst>
              <a:ext uri="{FF2B5EF4-FFF2-40B4-BE49-F238E27FC236}">
                <a16:creationId xmlns:a16="http://schemas.microsoft.com/office/drawing/2014/main" id="{74EC0C5B-2B3E-DC20-12A5-F31F30A47B26}"/>
              </a:ext>
            </a:extLst>
          </p:cNvPr>
          <p:cNvGrpSpPr/>
          <p:nvPr/>
        </p:nvGrpSpPr>
        <p:grpSpPr>
          <a:xfrm>
            <a:off x="532282" y="1948873"/>
            <a:ext cx="11051237" cy="4268995"/>
            <a:chOff x="608482" y="1948873"/>
            <a:chExt cx="11051237" cy="4268995"/>
          </a:xfrm>
        </p:grpSpPr>
        <p:cxnSp>
          <p:nvCxnSpPr>
            <p:cNvPr id="19" name="직선 연결선 18">
              <a:extLst>
                <a:ext uri="{FF2B5EF4-FFF2-40B4-BE49-F238E27FC236}">
                  <a16:creationId xmlns:a16="http://schemas.microsoft.com/office/drawing/2014/main" id="{CFE19EEF-8EE8-B0B1-12A5-A623E6511C9C}"/>
                </a:ext>
              </a:extLst>
            </p:cNvPr>
            <p:cNvCxnSpPr>
              <a:cxnSpLocks/>
            </p:cNvCxnSpPr>
            <p:nvPr/>
          </p:nvCxnSpPr>
          <p:spPr>
            <a:xfrm>
              <a:off x="4967990" y="1948873"/>
              <a:ext cx="0" cy="4268995"/>
            </a:xfrm>
            <a:prstGeom prst="line">
              <a:avLst/>
            </a:prstGeom>
            <a:ln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5" name="사각형: 둥근 모서리 14">
              <a:extLst>
                <a:ext uri="{FF2B5EF4-FFF2-40B4-BE49-F238E27FC236}">
                  <a16:creationId xmlns:a16="http://schemas.microsoft.com/office/drawing/2014/main" id="{9B2D7806-C341-A198-08D6-0325F9C9A8D6}"/>
                </a:ext>
              </a:extLst>
            </p:cNvPr>
            <p:cNvSpPr/>
            <p:nvPr/>
          </p:nvSpPr>
          <p:spPr>
            <a:xfrm>
              <a:off x="608482" y="2174786"/>
              <a:ext cx="477305" cy="3154649"/>
            </a:xfrm>
            <a:prstGeom prst="round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b="1">
                  <a:solidFill>
                    <a:schemeClr val="tx1"/>
                  </a:solidFill>
                </a:rPr>
                <a:t>X</a:t>
              </a:r>
              <a:endParaRPr lang="ko-KR" altLang="en-US" b="1" dirty="0">
                <a:solidFill>
                  <a:schemeClr val="tx1"/>
                </a:solidFill>
              </a:endParaRPr>
            </a:p>
          </p:txBody>
        </p:sp>
        <p:sp>
          <p:nvSpPr>
            <p:cNvPr id="17" name="사각형: 둥근 모서리 16">
              <a:extLst>
                <a:ext uri="{FF2B5EF4-FFF2-40B4-BE49-F238E27FC236}">
                  <a16:creationId xmlns:a16="http://schemas.microsoft.com/office/drawing/2014/main" id="{305E7D6E-F491-3741-1735-EDB782E172AE}"/>
                </a:ext>
              </a:extLst>
            </p:cNvPr>
            <p:cNvSpPr/>
            <p:nvPr/>
          </p:nvSpPr>
          <p:spPr>
            <a:xfrm>
              <a:off x="1286662" y="2183596"/>
              <a:ext cx="1826931" cy="3147812"/>
            </a:xfrm>
            <a:prstGeom prst="roundRect">
              <a:avLst/>
            </a:prstGeom>
            <a:solidFill>
              <a:srgbClr val="DDF8F2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b="1">
                  <a:solidFill>
                    <a:schemeClr val="tx1"/>
                  </a:solidFill>
                </a:rPr>
                <a:t>Bi-directional LSTM</a:t>
              </a:r>
              <a:endParaRPr lang="ko-KR" altLang="en-US" b="1" dirty="0">
                <a:solidFill>
                  <a:schemeClr val="tx1"/>
                </a:solidFill>
              </a:endParaRPr>
            </a:p>
          </p:txBody>
        </p:sp>
        <p:sp>
          <p:nvSpPr>
            <p:cNvPr id="20" name="사각형: 둥근 모서리 19">
              <a:extLst>
                <a:ext uri="{FF2B5EF4-FFF2-40B4-BE49-F238E27FC236}">
                  <a16:creationId xmlns:a16="http://schemas.microsoft.com/office/drawing/2014/main" id="{2B416D47-B5BE-BB9F-C71E-83211B2E9141}"/>
                </a:ext>
              </a:extLst>
            </p:cNvPr>
            <p:cNvSpPr/>
            <p:nvPr/>
          </p:nvSpPr>
          <p:spPr>
            <a:xfrm>
              <a:off x="5215914" y="2183596"/>
              <a:ext cx="3819279" cy="1458935"/>
            </a:xfrm>
            <a:prstGeom prst="roundRect">
              <a:avLst/>
            </a:prstGeom>
            <a:solidFill>
              <a:srgbClr val="DDF8F2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b="1">
                  <a:solidFill>
                    <a:schemeClr val="tx1"/>
                  </a:solidFill>
                </a:rPr>
                <a:t>Bi-directional</a:t>
              </a:r>
              <a:br>
                <a:rPr lang="en-US" altLang="ko-KR" b="1">
                  <a:solidFill>
                    <a:schemeClr val="tx1"/>
                  </a:solidFill>
                </a:rPr>
              </a:br>
              <a:r>
                <a:rPr lang="en-US" altLang="ko-KR" b="1">
                  <a:solidFill>
                    <a:schemeClr val="tx1"/>
                  </a:solidFill>
                </a:rPr>
                <a:t>LSTM</a:t>
              </a:r>
              <a:endParaRPr lang="ko-KR" altLang="en-US" b="1" dirty="0">
                <a:solidFill>
                  <a:schemeClr val="tx1"/>
                </a:solidFill>
              </a:endParaRPr>
            </a:p>
          </p:txBody>
        </p:sp>
        <p:sp>
          <p:nvSpPr>
            <p:cNvPr id="21" name="사각형: 둥근 모서리 20">
              <a:extLst>
                <a:ext uri="{FF2B5EF4-FFF2-40B4-BE49-F238E27FC236}">
                  <a16:creationId xmlns:a16="http://schemas.microsoft.com/office/drawing/2014/main" id="{4BC52569-520A-3DBE-6DAA-EF3BAE3D1F48}"/>
                </a:ext>
              </a:extLst>
            </p:cNvPr>
            <p:cNvSpPr/>
            <p:nvPr/>
          </p:nvSpPr>
          <p:spPr>
            <a:xfrm>
              <a:off x="6859009" y="3872473"/>
              <a:ext cx="2176188" cy="1458935"/>
            </a:xfrm>
            <a:prstGeom prst="roundRect">
              <a:avLst/>
            </a:prstGeom>
            <a:solidFill>
              <a:srgbClr val="A2ECDC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b="1">
                  <a:solidFill>
                    <a:schemeClr val="tx1"/>
                  </a:solidFill>
                </a:rPr>
                <a:t>LightGBM</a:t>
              </a:r>
              <a:endParaRPr lang="ko-KR" altLang="en-US" b="1" dirty="0">
                <a:solidFill>
                  <a:schemeClr val="tx1"/>
                </a:solidFill>
              </a:endParaRPr>
            </a:p>
          </p:txBody>
        </p:sp>
        <p:sp>
          <p:nvSpPr>
            <p:cNvPr id="22" name="사각형: 둥근 모서리 21">
              <a:extLst>
                <a:ext uri="{FF2B5EF4-FFF2-40B4-BE49-F238E27FC236}">
                  <a16:creationId xmlns:a16="http://schemas.microsoft.com/office/drawing/2014/main" id="{300BF3EE-E938-A316-46C7-FC4802ADA97A}"/>
                </a:ext>
              </a:extLst>
            </p:cNvPr>
            <p:cNvSpPr/>
            <p:nvPr/>
          </p:nvSpPr>
          <p:spPr>
            <a:xfrm>
              <a:off x="5215914" y="3872473"/>
              <a:ext cx="1430160" cy="1458935"/>
            </a:xfrm>
            <a:prstGeom prst="roundRect">
              <a:avLst/>
            </a:prstGeom>
            <a:solidFill>
              <a:srgbClr val="A2ECDC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b="1">
                  <a:solidFill>
                    <a:schemeClr val="tx1"/>
                  </a:solidFill>
                </a:rPr>
                <a:t>Derived</a:t>
              </a:r>
              <a:br>
                <a:rPr lang="en-US" altLang="ko-KR" b="1">
                  <a:solidFill>
                    <a:schemeClr val="tx1"/>
                  </a:solidFill>
                </a:rPr>
              </a:br>
              <a:r>
                <a:rPr lang="en-US" altLang="ko-KR" b="1">
                  <a:solidFill>
                    <a:schemeClr val="tx1"/>
                  </a:solidFill>
                </a:rPr>
                <a:t>Feature</a:t>
              </a:r>
              <a:endParaRPr lang="ko-KR" altLang="en-US" b="1" dirty="0">
                <a:solidFill>
                  <a:schemeClr val="tx1"/>
                </a:solidFill>
              </a:endParaRPr>
            </a:p>
          </p:txBody>
        </p:sp>
        <p:sp>
          <p:nvSpPr>
            <p:cNvPr id="24" name="사각형: 둥근 모서리 23">
              <a:extLst>
                <a:ext uri="{FF2B5EF4-FFF2-40B4-BE49-F238E27FC236}">
                  <a16:creationId xmlns:a16="http://schemas.microsoft.com/office/drawing/2014/main" id="{8F7EBB3C-BA3B-85AB-ECCD-28C17E73768A}"/>
                </a:ext>
              </a:extLst>
            </p:cNvPr>
            <p:cNvSpPr/>
            <p:nvPr/>
          </p:nvSpPr>
          <p:spPr>
            <a:xfrm>
              <a:off x="9375029" y="2183596"/>
              <a:ext cx="1441406" cy="3147812"/>
            </a:xfrm>
            <a:prstGeom prst="round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b="1">
                  <a:solidFill>
                    <a:schemeClr val="tx1"/>
                  </a:solidFill>
                </a:rPr>
                <a:t>Dense</a:t>
              </a:r>
              <a:br>
                <a:rPr lang="en-US" altLang="ko-KR" b="1">
                  <a:solidFill>
                    <a:schemeClr val="tx1"/>
                  </a:solidFill>
                </a:rPr>
              </a:br>
              <a:r>
                <a:rPr lang="en-US" altLang="ko-KR" b="1">
                  <a:solidFill>
                    <a:schemeClr val="tx1"/>
                  </a:solidFill>
                </a:rPr>
                <a:t>stacking</a:t>
              </a:r>
            </a:p>
            <a:p>
              <a:pPr algn="ctr"/>
              <a:r>
                <a:rPr lang="en-US" altLang="ko-KR" b="1">
                  <a:solidFill>
                    <a:schemeClr val="tx1"/>
                  </a:solidFill>
                </a:rPr>
                <a:t>layer</a:t>
              </a:r>
              <a:endParaRPr lang="ko-KR" altLang="en-US" b="1" dirty="0">
                <a:solidFill>
                  <a:schemeClr val="tx1"/>
                </a:solidFill>
              </a:endParaRPr>
            </a:p>
          </p:txBody>
        </p:sp>
        <p:sp>
          <p:nvSpPr>
            <p:cNvPr id="25" name="사각형: 둥근 모서리 24">
              <a:extLst>
                <a:ext uri="{FF2B5EF4-FFF2-40B4-BE49-F238E27FC236}">
                  <a16:creationId xmlns:a16="http://schemas.microsoft.com/office/drawing/2014/main" id="{CE789198-F97E-2D08-2885-8AFC26DA60C9}"/>
                </a:ext>
              </a:extLst>
            </p:cNvPr>
            <p:cNvSpPr/>
            <p:nvPr/>
          </p:nvSpPr>
          <p:spPr>
            <a:xfrm>
              <a:off x="11156271" y="2183595"/>
              <a:ext cx="503448" cy="3147811"/>
            </a:xfrm>
            <a:prstGeom prst="round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b="1">
                  <a:solidFill>
                    <a:schemeClr val="tx1"/>
                  </a:solidFill>
                </a:rPr>
                <a:t>Y</a:t>
              </a:r>
              <a:endParaRPr lang="ko-KR" altLang="en-US" b="1" dirty="0">
                <a:solidFill>
                  <a:schemeClr val="tx1"/>
                </a:solidFill>
              </a:endParaRPr>
            </a:p>
          </p:txBody>
        </p:sp>
        <p:sp>
          <p:nvSpPr>
            <p:cNvPr id="30" name="사각형: 둥근 모서리 29">
              <a:extLst>
                <a:ext uri="{FF2B5EF4-FFF2-40B4-BE49-F238E27FC236}">
                  <a16:creationId xmlns:a16="http://schemas.microsoft.com/office/drawing/2014/main" id="{AC43488B-0DC1-4CB1-1D47-2A4F267D3AD5}"/>
                </a:ext>
              </a:extLst>
            </p:cNvPr>
            <p:cNvSpPr/>
            <p:nvPr/>
          </p:nvSpPr>
          <p:spPr>
            <a:xfrm>
              <a:off x="3326529" y="2186334"/>
              <a:ext cx="1416922" cy="3145688"/>
            </a:xfrm>
            <a:prstGeom prst="round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b="1">
                  <a:solidFill>
                    <a:schemeClr val="tx1"/>
                  </a:solidFill>
                </a:rPr>
                <a:t>Recursive</a:t>
              </a:r>
            </a:p>
            <a:p>
              <a:pPr algn="ctr"/>
              <a:r>
                <a:rPr lang="en-US" altLang="ko-KR" b="1">
                  <a:solidFill>
                    <a:schemeClr val="tx1"/>
                  </a:solidFill>
                </a:rPr>
                <a:t>predicted</a:t>
              </a:r>
            </a:p>
            <a:p>
              <a:pPr algn="ctr"/>
              <a:r>
                <a:rPr lang="en-US" altLang="ko-KR" b="1">
                  <a:solidFill>
                    <a:schemeClr val="tx1"/>
                  </a:solidFill>
                </a:rPr>
                <a:t>X</a:t>
              </a:r>
              <a:endParaRPr lang="ko-KR" altLang="en-US" b="1" dirty="0">
                <a:solidFill>
                  <a:schemeClr val="tx1"/>
                </a:solidFill>
              </a:endParaRPr>
            </a:p>
          </p:txBody>
        </p:sp>
      </p:grpSp>
      <p:sp>
        <p:nvSpPr>
          <p:cNvPr id="33" name="TextBox 32">
            <a:extLst>
              <a:ext uri="{FF2B5EF4-FFF2-40B4-BE49-F238E27FC236}">
                <a16:creationId xmlns:a16="http://schemas.microsoft.com/office/drawing/2014/main" id="{FA1454AF-2230-8885-DA23-929882369F51}"/>
              </a:ext>
            </a:extLst>
          </p:cNvPr>
          <p:cNvSpPr txBox="1"/>
          <p:nvPr/>
        </p:nvSpPr>
        <p:spPr>
          <a:xfrm>
            <a:off x="1162144" y="5501366"/>
            <a:ext cx="2895506" cy="88229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altLang="ko-KR" sz="2000" b="1" dirty="0">
                <a:latin typeface="맑은 고딕" panose="020B0503020000020004" pitchFamily="50" charset="-127"/>
                <a:ea typeface="맑은 고딕" panose="020B0503020000020004" pitchFamily="50" charset="-127"/>
                <a:cs typeface="Open Sans" panose="020B0606030504020204" pitchFamily="34" charset="0"/>
              </a:rPr>
              <a:t>Stage 1</a:t>
            </a:r>
          </a:p>
          <a:p>
            <a:pPr algn="ctr">
              <a:lnSpc>
                <a:spcPct val="150000"/>
              </a:lnSpc>
            </a:pPr>
            <a:r>
              <a:rPr lang="ko-KR" altLang="en-US" sz="1600" dirty="0">
                <a:latin typeface="맑은 고딕" panose="020B0503020000020004" pitchFamily="50" charset="-127"/>
                <a:ea typeface="맑은 고딕" panose="020B0503020000020004" pitchFamily="50" charset="-127"/>
                <a:cs typeface="Open Sans" panose="020B0606030504020204" pitchFamily="34" charset="0"/>
              </a:rPr>
              <a:t>기상</a:t>
            </a:r>
            <a:r>
              <a:rPr lang="en-US" altLang="ko-KR" sz="1600" dirty="0">
                <a:latin typeface="맑은 고딕" panose="020B0503020000020004" pitchFamily="50" charset="-127"/>
                <a:ea typeface="맑은 고딕" panose="020B0503020000020004" pitchFamily="50" charset="-127"/>
                <a:cs typeface="Open Sans" panose="020B0606030504020204" pitchFamily="34" charset="0"/>
              </a:rPr>
              <a:t> </a:t>
            </a:r>
            <a:r>
              <a:rPr lang="ko-KR" altLang="en-US" sz="1600" dirty="0">
                <a:latin typeface="맑은 고딕" panose="020B0503020000020004" pitchFamily="50" charset="-127"/>
                <a:ea typeface="맑은 고딕" panose="020B0503020000020004" pitchFamily="50" charset="-127"/>
                <a:cs typeface="Open Sans" panose="020B0606030504020204" pitchFamily="34" charset="0"/>
              </a:rPr>
              <a:t>변수</a:t>
            </a:r>
            <a:r>
              <a:rPr lang="en-US" altLang="ko-KR" sz="1600" dirty="0">
                <a:latin typeface="맑은 고딕" panose="020B0503020000020004" pitchFamily="50" charset="-127"/>
                <a:ea typeface="맑은 고딕" panose="020B0503020000020004" pitchFamily="50" charset="-127"/>
                <a:cs typeface="Open Sans" panose="020B0606030504020204" pitchFamily="34" charset="0"/>
              </a:rPr>
              <a:t>(X)</a:t>
            </a:r>
            <a:r>
              <a:rPr lang="ko-KR" altLang="en-US" sz="1600" dirty="0">
                <a:latin typeface="맑은 고딕" panose="020B0503020000020004" pitchFamily="50" charset="-127"/>
                <a:ea typeface="맑은 고딕" panose="020B0503020000020004" pitchFamily="50" charset="-127"/>
                <a:cs typeface="Open Sans" panose="020B0606030504020204" pitchFamily="34" charset="0"/>
              </a:rPr>
              <a:t> 재귀 예측</a:t>
            </a:r>
            <a:endParaRPr lang="en-US" altLang="ko-KR" sz="1600" dirty="0">
              <a:latin typeface="맑은 고딕" panose="020B0503020000020004" pitchFamily="50" charset="-127"/>
              <a:ea typeface="맑은 고딕" panose="020B0503020000020004" pitchFamily="50" charset="-127"/>
              <a:cs typeface="Open Sans" panose="020B0606030504020204" pitchFamily="34" charset="0"/>
            </a:endParaRP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9AB8CF71-4B3A-8CD4-0115-2A55882071A7}"/>
              </a:ext>
            </a:extLst>
          </p:cNvPr>
          <p:cNvSpPr txBox="1"/>
          <p:nvPr/>
        </p:nvSpPr>
        <p:spPr>
          <a:xfrm>
            <a:off x="7032607" y="5501366"/>
            <a:ext cx="2895506" cy="88229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altLang="ko-KR" sz="2000" b="1" dirty="0">
                <a:latin typeface="맑은 고딕" panose="020B0503020000020004" pitchFamily="50" charset="-127"/>
                <a:ea typeface="맑은 고딕" panose="020B0503020000020004" pitchFamily="50" charset="-127"/>
                <a:cs typeface="Open Sans" panose="020B0606030504020204" pitchFamily="34" charset="0"/>
              </a:rPr>
              <a:t>Stage 2</a:t>
            </a:r>
          </a:p>
          <a:p>
            <a:pPr algn="ctr">
              <a:lnSpc>
                <a:spcPct val="150000"/>
              </a:lnSpc>
            </a:pPr>
            <a:r>
              <a:rPr lang="en-US" altLang="ko-KR" sz="1600" dirty="0">
                <a:latin typeface="맑은 고딕" panose="020B0503020000020004" pitchFamily="50" charset="-127"/>
                <a:ea typeface="맑은 고딕" panose="020B0503020000020004" pitchFamily="50" charset="-127"/>
                <a:cs typeface="Open Sans" panose="020B0606030504020204" pitchFamily="34" charset="0"/>
              </a:rPr>
              <a:t>Y </a:t>
            </a:r>
            <a:r>
              <a:rPr lang="ko-KR" altLang="en-US" sz="1600" dirty="0">
                <a:latin typeface="맑은 고딕" panose="020B0503020000020004" pitchFamily="50" charset="-127"/>
                <a:ea typeface="맑은 고딕" panose="020B0503020000020004" pitchFamily="50" charset="-127"/>
                <a:cs typeface="Open Sans" panose="020B0606030504020204" pitchFamily="34" charset="0"/>
              </a:rPr>
              <a:t>예측 앙상블 모델</a:t>
            </a:r>
            <a:endParaRPr lang="en-US" altLang="ko-KR" sz="1600" dirty="0">
              <a:latin typeface="맑은 고딕" panose="020B0503020000020004" pitchFamily="50" charset="-127"/>
              <a:ea typeface="맑은 고딕" panose="020B0503020000020004" pitchFamily="50" charset="-127"/>
              <a:cs typeface="Open Sans" panose="020B0606030504020204" pitchFamily="34" charset="0"/>
            </a:endParaRPr>
          </a:p>
        </p:txBody>
      </p:sp>
      <p:cxnSp>
        <p:nvCxnSpPr>
          <p:cNvPr id="38" name="직선 연결선 37">
            <a:extLst>
              <a:ext uri="{FF2B5EF4-FFF2-40B4-BE49-F238E27FC236}">
                <a16:creationId xmlns:a16="http://schemas.microsoft.com/office/drawing/2014/main" id="{8F88C1E9-7628-21FA-5704-FAAE6F32E4DB}"/>
              </a:ext>
            </a:extLst>
          </p:cNvPr>
          <p:cNvCxnSpPr>
            <a:cxnSpLocks/>
          </p:cNvCxnSpPr>
          <p:nvPr/>
        </p:nvCxnSpPr>
        <p:spPr>
          <a:xfrm>
            <a:off x="0" y="1136073"/>
            <a:ext cx="12192000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TextBox 39">
            <a:extLst>
              <a:ext uri="{FF2B5EF4-FFF2-40B4-BE49-F238E27FC236}">
                <a16:creationId xmlns:a16="http://schemas.microsoft.com/office/drawing/2014/main" id="{682666AA-FC64-013A-6E96-3D0F70E84BB6}"/>
              </a:ext>
            </a:extLst>
          </p:cNvPr>
          <p:cNvSpPr txBox="1"/>
          <p:nvPr/>
        </p:nvSpPr>
        <p:spPr>
          <a:xfrm>
            <a:off x="321231" y="208112"/>
            <a:ext cx="647009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4000" b="1" dirty="0" err="1">
                <a:solidFill>
                  <a:srgbClr val="333F70"/>
                </a:solidFill>
                <a:cs typeface="ADLaM Display" panose="02010000000000000000" pitchFamily="2" charset="0"/>
              </a:rPr>
              <a:t>BackEnd</a:t>
            </a:r>
            <a:r>
              <a:rPr lang="en-US" altLang="ko-KR" sz="4000" b="1" dirty="0">
                <a:solidFill>
                  <a:srgbClr val="333F70"/>
                </a:solidFill>
                <a:cs typeface="ADLaM Display" panose="02010000000000000000" pitchFamily="2" charset="0"/>
              </a:rPr>
              <a:t> – </a:t>
            </a:r>
            <a:r>
              <a:rPr lang="ko-KR" altLang="en-US" sz="4000" b="1" dirty="0">
                <a:solidFill>
                  <a:srgbClr val="333F70"/>
                </a:solidFill>
                <a:cs typeface="ADLaM Display" panose="02010000000000000000" pitchFamily="2" charset="0"/>
              </a:rPr>
              <a:t>기상</a:t>
            </a:r>
            <a:r>
              <a:rPr lang="en-US" altLang="ko-KR" sz="4000" b="1" dirty="0">
                <a:solidFill>
                  <a:srgbClr val="333F70"/>
                </a:solidFill>
                <a:cs typeface="ADLaM Display" panose="02010000000000000000" pitchFamily="2" charset="0"/>
              </a:rPr>
              <a:t> </a:t>
            </a:r>
            <a:r>
              <a:rPr lang="ko-KR" altLang="en-US" sz="4000" b="1" dirty="0">
                <a:solidFill>
                  <a:srgbClr val="333F70"/>
                </a:solidFill>
                <a:cs typeface="ADLaM Display" panose="02010000000000000000" pitchFamily="2" charset="0"/>
              </a:rPr>
              <a:t>예측 모델</a:t>
            </a:r>
            <a:endParaRPr lang="en-US" altLang="ko-KR" sz="4000" b="1" dirty="0">
              <a:solidFill>
                <a:srgbClr val="333F70"/>
              </a:solidFill>
              <a:cs typeface="ADLaM Display" panose="02010000000000000000" pitchFamily="2" charset="0"/>
            </a:endParaRP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529AACB0-37BC-4A03-2864-CDD78A88CD83}"/>
              </a:ext>
            </a:extLst>
          </p:cNvPr>
          <p:cNvSpPr txBox="1"/>
          <p:nvPr/>
        </p:nvSpPr>
        <p:spPr>
          <a:xfrm>
            <a:off x="664358" y="1197015"/>
            <a:ext cx="4674260" cy="49449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2000" b="1" dirty="0">
                <a:latin typeface="맑은 고딕" panose="020B0503020000020004" pitchFamily="50" charset="-127"/>
                <a:ea typeface="맑은 고딕" panose="020B0503020000020004" pitchFamily="50" charset="-127"/>
                <a:cs typeface="Open Sans" panose="020B0606030504020204" pitchFamily="34" charset="0"/>
              </a:rPr>
              <a:t>Multi-stage</a:t>
            </a:r>
            <a:r>
              <a:rPr lang="ko-KR" altLang="en-US" sz="2000" b="1" dirty="0">
                <a:latin typeface="맑은 고딕" panose="020B0503020000020004" pitchFamily="50" charset="-127"/>
                <a:ea typeface="맑은 고딕" panose="020B0503020000020004" pitchFamily="50" charset="-127"/>
                <a:cs typeface="Open Sans" panose="020B0606030504020204" pitchFamily="34" charset="0"/>
              </a:rPr>
              <a:t> </a:t>
            </a:r>
            <a:r>
              <a:rPr lang="en-US" altLang="ko-KR" sz="2000" b="1" dirty="0">
                <a:latin typeface="맑은 고딕" panose="020B0503020000020004" pitchFamily="50" charset="-127"/>
                <a:ea typeface="맑은 고딕" panose="020B0503020000020004" pitchFamily="50" charset="-127"/>
                <a:cs typeface="Open Sans" panose="020B0606030504020204" pitchFamily="34" charset="0"/>
              </a:rPr>
              <a:t>Model Architecture</a:t>
            </a:r>
          </a:p>
        </p:txBody>
      </p:sp>
    </p:spTree>
    <p:extLst>
      <p:ext uri="{BB962C8B-B14F-4D97-AF65-F5344CB8AC3E}">
        <p14:creationId xmlns:p14="http://schemas.microsoft.com/office/powerpoint/2010/main" val="413685702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1617B8-5520-42EE-3E86-F1FCD7B15C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41384EBE-AC67-A542-A17A-CA8D0F8CC7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t>16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154D5FFC-E0FB-9197-E4F5-0FA051DAFC11}"/>
                  </a:ext>
                </a:extLst>
              </p:cNvPr>
              <p:cNvSpPr txBox="1"/>
              <p:nvPr/>
            </p:nvSpPr>
            <p:spPr>
              <a:xfrm>
                <a:off x="6968230" y="4646865"/>
                <a:ext cx="4887159" cy="129266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ko-KR" altLang="en-US" dirty="0">
                    <a:latin typeface="Open Sans" panose="020B0606030504020204" pitchFamily="34" charset="0"/>
                    <a:ea typeface="Open Sans" panose="020B0606030504020204" pitchFamily="34" charset="0"/>
                    <a:cs typeface="Open Sans" panose="020B0606030504020204" pitchFamily="34" charset="0"/>
                  </a:rPr>
                  <a:t>정해진 </a:t>
                </a:r>
                <a:r>
                  <a:rPr lang="en-US" altLang="ko-KR" dirty="0">
                    <a:latin typeface="Open Sans" panose="020B0606030504020204" pitchFamily="34" charset="0"/>
                    <a:ea typeface="Open Sans" panose="020B0606030504020204" pitchFamily="34" charset="0"/>
                    <a:cs typeface="Open Sans" panose="020B0606030504020204" pitchFamily="34" charset="0"/>
                  </a:rPr>
                  <a:t>time step(14</a:t>
                </a:r>
                <a:r>
                  <a:rPr lang="ko-KR" altLang="en-US" dirty="0">
                    <a:latin typeface="Open Sans" panose="020B0606030504020204" pitchFamily="34" charset="0"/>
                    <a:ea typeface="Open Sans" panose="020B0606030504020204" pitchFamily="34" charset="0"/>
                    <a:cs typeface="Open Sans" panose="020B0606030504020204" pitchFamily="34" charset="0"/>
                  </a:rPr>
                  <a:t>일</a:t>
                </a:r>
                <a:r>
                  <a:rPr lang="en-US" altLang="ko-KR" dirty="0">
                    <a:latin typeface="Open Sans" panose="020B0606030504020204" pitchFamily="34" charset="0"/>
                    <a:ea typeface="Open Sans" panose="020B0606030504020204" pitchFamily="34" charset="0"/>
                    <a:cs typeface="Open Sans" panose="020B0606030504020204" pitchFamily="34" charset="0"/>
                  </a:rPr>
                  <a:t>)</a:t>
                </a:r>
                <a:r>
                  <a:rPr lang="ko-KR" altLang="en-US" dirty="0">
                    <a:latin typeface="Open Sans" panose="020B0606030504020204" pitchFamily="34" charset="0"/>
                    <a:ea typeface="Open Sans" panose="020B0606030504020204" pitchFamily="34" charset="0"/>
                    <a:cs typeface="Open Sans" panose="020B0606030504020204" pitchFamily="34" charset="0"/>
                  </a:rPr>
                  <a:t>의 </a:t>
                </a:r>
                <a:endParaRPr lang="en-US" altLang="ko-KR" dirty="0"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endParaRPr>
              </a:p>
              <a:p>
                <a:pPr>
                  <a:lnSpc>
                    <a:spcPct val="150000"/>
                  </a:lnSpc>
                </a:pPr>
                <a:r>
                  <a:rPr lang="ko-KR" altLang="en-US" dirty="0">
                    <a:latin typeface="Open Sans" panose="020B0606030504020204" pitchFamily="34" charset="0"/>
                    <a:ea typeface="Open Sans" panose="020B0606030504020204" pitchFamily="34" charset="0"/>
                    <a:cs typeface="Open Sans" panose="020B0606030504020204" pitchFamily="34" charset="0"/>
                  </a:rPr>
                  <a:t>기상변수</a:t>
                </a:r>
                <a:r>
                  <a:rPr lang="en-US" altLang="ko-KR" dirty="0">
                    <a:latin typeface="Open Sans" panose="020B0606030504020204" pitchFamily="34" charset="0"/>
                    <a:ea typeface="Open Sans" panose="020B0606030504020204" pitchFamily="34" charset="0"/>
                    <a:cs typeface="Open Sans" panose="020B0606030504020204" pitchFamily="34" charset="0"/>
                  </a:rPr>
                  <a:t>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b="0" i="1" smtClean="0">
                            <a:latin typeface="Cambria Math" panose="02040503050406030204" pitchFamily="18" charset="0"/>
                            <a:ea typeface="Open Sans" panose="020B0606030504020204" pitchFamily="34" charset="0"/>
                            <a:cs typeface="Open Sans" panose="020B0606030504020204" pitchFamily="34" charset="0"/>
                          </a:rPr>
                        </m:ctrlPr>
                      </m:sSubPr>
                      <m:e>
                        <m:r>
                          <a:rPr lang="en-US" altLang="ko-KR" b="0" i="1" smtClean="0">
                            <a:latin typeface="Cambria Math" panose="02040503050406030204" pitchFamily="18" charset="0"/>
                            <a:ea typeface="Open Sans" panose="020B0606030504020204" pitchFamily="34" charset="0"/>
                            <a:cs typeface="Open Sans" panose="020B0606030504020204" pitchFamily="34" charset="0"/>
                          </a:rPr>
                          <m:t>𝑋</m:t>
                        </m:r>
                      </m:e>
                      <m:sub>
                        <m:r>
                          <a:rPr lang="en-US" altLang="ko-KR" b="0" i="1" smtClean="0">
                            <a:latin typeface="Cambria Math" panose="02040503050406030204" pitchFamily="18" charset="0"/>
                            <a:ea typeface="Open Sans" panose="020B0606030504020204" pitchFamily="34" charset="0"/>
                            <a:cs typeface="Open Sans" panose="020B0606030504020204" pitchFamily="34" charset="0"/>
                          </a:rPr>
                          <m:t>𝑡</m:t>
                        </m:r>
                        <m:r>
                          <a:rPr lang="en-US" altLang="ko-KR" b="0" i="1" smtClean="0">
                            <a:latin typeface="Cambria Math" panose="02040503050406030204" pitchFamily="18" charset="0"/>
                            <a:ea typeface="Open Sans" panose="020B0606030504020204" pitchFamily="34" charset="0"/>
                            <a:cs typeface="Open Sans" panose="020B0606030504020204" pitchFamily="34" charset="0"/>
                          </a:rPr>
                          <m:t>−13</m:t>
                        </m:r>
                      </m:sub>
                    </m:sSub>
                    <m:r>
                      <a:rPr lang="en-US" altLang="ko-KR" b="0" i="1" smtClean="0">
                        <a:latin typeface="Cambria Math" panose="02040503050406030204" pitchFamily="18" charset="0"/>
                        <a:ea typeface="Open Sans" panose="020B0606030504020204" pitchFamily="34" charset="0"/>
                        <a:cs typeface="Open Sans" panose="020B0606030504020204" pitchFamily="34" charset="0"/>
                      </a:rPr>
                      <m:t>,</m:t>
                    </m:r>
                    <m:sSub>
                      <m:sSubPr>
                        <m:ctrlPr>
                          <a:rPr lang="en-US" altLang="ko-KR" b="0" i="1" smtClean="0">
                            <a:latin typeface="Cambria Math" panose="02040503050406030204" pitchFamily="18" charset="0"/>
                            <a:ea typeface="Open Sans" panose="020B0606030504020204" pitchFamily="34" charset="0"/>
                            <a:cs typeface="Open Sans" panose="020B0606030504020204" pitchFamily="34" charset="0"/>
                          </a:rPr>
                        </m:ctrlPr>
                      </m:sSubPr>
                      <m:e>
                        <m:r>
                          <a:rPr lang="en-US" altLang="ko-KR" b="0" i="1" smtClean="0">
                            <a:latin typeface="Cambria Math" panose="02040503050406030204" pitchFamily="18" charset="0"/>
                            <a:ea typeface="Open Sans" panose="020B0606030504020204" pitchFamily="34" charset="0"/>
                            <a:cs typeface="Open Sans" panose="020B0606030504020204" pitchFamily="34" charset="0"/>
                          </a:rPr>
                          <m:t>𝑋</m:t>
                        </m:r>
                      </m:e>
                      <m:sub>
                        <m:r>
                          <a:rPr lang="en-US" altLang="ko-KR" b="0" i="1" smtClean="0">
                            <a:latin typeface="Cambria Math" panose="02040503050406030204" pitchFamily="18" charset="0"/>
                            <a:ea typeface="Open Sans" panose="020B0606030504020204" pitchFamily="34" charset="0"/>
                            <a:cs typeface="Open Sans" panose="020B0606030504020204" pitchFamily="34" charset="0"/>
                          </a:rPr>
                          <m:t>𝑡</m:t>
                        </m:r>
                        <m:r>
                          <a:rPr lang="en-US" altLang="ko-KR" b="0" i="1" smtClean="0">
                            <a:latin typeface="Cambria Math" panose="02040503050406030204" pitchFamily="18" charset="0"/>
                            <a:ea typeface="Open Sans" panose="020B0606030504020204" pitchFamily="34" charset="0"/>
                            <a:cs typeface="Open Sans" panose="020B0606030504020204" pitchFamily="34" charset="0"/>
                          </a:rPr>
                          <m:t>−12</m:t>
                        </m:r>
                      </m:sub>
                    </m:sSub>
                    <m:r>
                      <a:rPr lang="en-US" altLang="ko-KR" b="0" i="1" smtClean="0">
                        <a:latin typeface="Cambria Math" panose="02040503050406030204" pitchFamily="18" charset="0"/>
                        <a:ea typeface="Open Sans" panose="020B0606030504020204" pitchFamily="34" charset="0"/>
                        <a:cs typeface="Open Sans" panose="020B0606030504020204" pitchFamily="34" charset="0"/>
                      </a:rPr>
                      <m:t>,…,</m:t>
                    </m:r>
                    <m:sSub>
                      <m:sSubPr>
                        <m:ctrlPr>
                          <a:rPr lang="en-US" altLang="ko-KR" b="0" i="1" smtClean="0">
                            <a:latin typeface="Cambria Math" panose="02040503050406030204" pitchFamily="18" charset="0"/>
                            <a:ea typeface="Open Sans" panose="020B0606030504020204" pitchFamily="34" charset="0"/>
                            <a:cs typeface="Open Sans" panose="020B0606030504020204" pitchFamily="34" charset="0"/>
                          </a:rPr>
                        </m:ctrlPr>
                      </m:sSubPr>
                      <m:e>
                        <m:r>
                          <a:rPr lang="en-US" altLang="ko-KR" b="0" i="1" smtClean="0">
                            <a:latin typeface="Cambria Math" panose="02040503050406030204" pitchFamily="18" charset="0"/>
                            <a:ea typeface="Open Sans" panose="020B0606030504020204" pitchFamily="34" charset="0"/>
                            <a:cs typeface="Open Sans" panose="020B0606030504020204" pitchFamily="34" charset="0"/>
                          </a:rPr>
                          <m:t>𝑋</m:t>
                        </m:r>
                      </m:e>
                      <m:sub>
                        <m:r>
                          <a:rPr lang="en-US" altLang="ko-KR" b="0" i="1" smtClean="0">
                            <a:latin typeface="Cambria Math" panose="02040503050406030204" pitchFamily="18" charset="0"/>
                            <a:ea typeface="Open Sans" panose="020B0606030504020204" pitchFamily="34" charset="0"/>
                            <a:cs typeface="Open Sans" panose="020B0606030504020204" pitchFamily="34" charset="0"/>
                          </a:rPr>
                          <m:t>𝑡</m:t>
                        </m:r>
                      </m:sub>
                    </m:sSub>
                  </m:oMath>
                </a14:m>
                <a:r>
                  <a:rPr lang="en-US" altLang="ko-KR" dirty="0">
                    <a:latin typeface="Open Sans" panose="020B0606030504020204" pitchFamily="34" charset="0"/>
                    <a:ea typeface="Open Sans" panose="020B0606030504020204" pitchFamily="34" charset="0"/>
                    <a:cs typeface="Open Sans" panose="020B0606030504020204" pitchFamily="34" charset="0"/>
                  </a:rPr>
                  <a:t>)</a:t>
                </a:r>
                <a:r>
                  <a:rPr lang="ko-KR" altLang="en-US" dirty="0">
                    <a:latin typeface="Open Sans" panose="020B0606030504020204" pitchFamily="34" charset="0"/>
                    <a:ea typeface="Open Sans" panose="020B0606030504020204" pitchFamily="34" charset="0"/>
                    <a:cs typeface="Open Sans" panose="020B0606030504020204" pitchFamily="34" charset="0"/>
                  </a:rPr>
                  <a:t>와</a:t>
                </a:r>
                <a:endParaRPr lang="en-US" altLang="ko-KR" dirty="0"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endParaRPr>
              </a:p>
              <a:p>
                <a:pPr>
                  <a:lnSpc>
                    <a:spcPct val="150000"/>
                  </a:lnSpc>
                </a:pPr>
                <a:r>
                  <a:rPr lang="ko-KR" altLang="en-US" dirty="0">
                    <a:latin typeface="Open Sans" panose="020B0606030504020204" pitchFamily="34" charset="0"/>
                    <a:ea typeface="Open Sans" panose="020B0606030504020204" pitchFamily="34" charset="0"/>
                    <a:cs typeface="Open Sans" panose="020B0606030504020204" pitchFamily="34" charset="0"/>
                  </a:rPr>
                  <a:t>다음날의 기상변수</a:t>
                </a:r>
                <a:r>
                  <a:rPr lang="en-US" altLang="ko-KR" dirty="0">
                    <a:latin typeface="Open Sans" panose="020B0606030504020204" pitchFamily="34" charset="0"/>
                    <a:ea typeface="Open Sans" panose="020B0606030504020204" pitchFamily="34" charset="0"/>
                    <a:cs typeface="Open Sans" panose="020B0606030504020204" pitchFamily="34" charset="0"/>
                  </a:rPr>
                  <a:t>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b="0" i="1" smtClean="0">
                            <a:latin typeface="Cambria Math" panose="02040503050406030204" pitchFamily="18" charset="0"/>
                            <a:ea typeface="Open Sans" panose="020B0606030504020204" pitchFamily="34" charset="0"/>
                            <a:cs typeface="Open Sans" panose="020B0606030504020204" pitchFamily="34" charset="0"/>
                          </a:rPr>
                        </m:ctrlPr>
                      </m:sSubPr>
                      <m:e>
                        <m:r>
                          <a:rPr lang="en-US" altLang="ko-KR" b="0" i="1" smtClean="0">
                            <a:latin typeface="Cambria Math" panose="02040503050406030204" pitchFamily="18" charset="0"/>
                            <a:ea typeface="Open Sans" panose="020B0606030504020204" pitchFamily="34" charset="0"/>
                            <a:cs typeface="Open Sans" panose="020B0606030504020204" pitchFamily="34" charset="0"/>
                          </a:rPr>
                          <m:t>𝑋</m:t>
                        </m:r>
                      </m:e>
                      <m:sub>
                        <m:r>
                          <a:rPr lang="en-US" altLang="ko-KR" b="0" i="1" smtClean="0">
                            <a:latin typeface="Cambria Math" panose="02040503050406030204" pitchFamily="18" charset="0"/>
                            <a:ea typeface="Open Sans" panose="020B0606030504020204" pitchFamily="34" charset="0"/>
                            <a:cs typeface="Open Sans" panose="020B0606030504020204" pitchFamily="34" charset="0"/>
                          </a:rPr>
                          <m:t>𝑡</m:t>
                        </m:r>
                        <m:r>
                          <a:rPr lang="en-US" altLang="ko-KR" b="0" i="1" smtClean="0">
                            <a:latin typeface="Cambria Math" panose="02040503050406030204" pitchFamily="18" charset="0"/>
                            <a:ea typeface="Open Sans" panose="020B0606030504020204" pitchFamily="34" charset="0"/>
                            <a:cs typeface="Open Sans" panose="020B0606030504020204" pitchFamily="34" charset="0"/>
                          </a:rPr>
                          <m:t>+1</m:t>
                        </m:r>
                      </m:sub>
                    </m:sSub>
                  </m:oMath>
                </a14:m>
                <a:r>
                  <a:rPr lang="en-US" altLang="ko-KR" dirty="0">
                    <a:latin typeface="Open Sans" panose="020B0606030504020204" pitchFamily="34" charset="0"/>
                    <a:ea typeface="Open Sans" panose="020B0606030504020204" pitchFamily="34" charset="0"/>
                    <a:cs typeface="Open Sans" panose="020B0606030504020204" pitchFamily="34" charset="0"/>
                  </a:rPr>
                  <a:t>)</a:t>
                </a:r>
                <a:r>
                  <a:rPr lang="ko-KR" altLang="en-US" dirty="0">
                    <a:latin typeface="Open Sans" panose="020B0606030504020204" pitchFamily="34" charset="0"/>
                    <a:ea typeface="Open Sans" panose="020B0606030504020204" pitchFamily="34" charset="0"/>
                    <a:cs typeface="Open Sans" panose="020B0606030504020204" pitchFamily="34" charset="0"/>
                  </a:rPr>
                  <a:t>간의 관계를 학습</a:t>
                </a:r>
                <a:endParaRPr lang="en-US" altLang="ko-KR" dirty="0"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endParaRPr>
              </a:p>
            </p:txBody>
          </p:sp>
        </mc:Choice>
        <mc:Fallback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154D5FFC-E0FB-9197-E4F5-0FA051DAFC1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68230" y="4646865"/>
                <a:ext cx="4887159" cy="1292662"/>
              </a:xfrm>
              <a:prstGeom prst="rect">
                <a:avLst/>
              </a:prstGeom>
              <a:blipFill>
                <a:blip r:embed="rId2"/>
                <a:stretch>
                  <a:fillRect l="-998" b="-7075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0" name="직선 연결선 9">
            <a:extLst>
              <a:ext uri="{FF2B5EF4-FFF2-40B4-BE49-F238E27FC236}">
                <a16:creationId xmlns:a16="http://schemas.microsoft.com/office/drawing/2014/main" id="{F3CBA8FB-73BD-8657-B37C-1F65478A9071}"/>
              </a:ext>
            </a:extLst>
          </p:cNvPr>
          <p:cNvCxnSpPr>
            <a:cxnSpLocks/>
          </p:cNvCxnSpPr>
          <p:nvPr/>
        </p:nvCxnSpPr>
        <p:spPr>
          <a:xfrm>
            <a:off x="0" y="1136073"/>
            <a:ext cx="12192000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A4C56552-BAA3-494A-31FC-A42850D13191}"/>
              </a:ext>
            </a:extLst>
          </p:cNvPr>
          <p:cNvSpPr txBox="1"/>
          <p:nvPr/>
        </p:nvSpPr>
        <p:spPr>
          <a:xfrm>
            <a:off x="321231" y="208112"/>
            <a:ext cx="647009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4000" b="1" dirty="0" err="1">
                <a:solidFill>
                  <a:srgbClr val="333F70"/>
                </a:solidFill>
                <a:cs typeface="ADLaM Display" panose="02010000000000000000" pitchFamily="2" charset="0"/>
              </a:rPr>
              <a:t>BackEnd</a:t>
            </a:r>
            <a:r>
              <a:rPr lang="en-US" altLang="ko-KR" sz="4000" b="1" dirty="0">
                <a:solidFill>
                  <a:srgbClr val="333F70"/>
                </a:solidFill>
                <a:cs typeface="ADLaM Display" panose="02010000000000000000" pitchFamily="2" charset="0"/>
              </a:rPr>
              <a:t> – </a:t>
            </a:r>
            <a:r>
              <a:rPr lang="ko-KR" altLang="en-US" sz="4000" b="1" dirty="0">
                <a:solidFill>
                  <a:srgbClr val="333F70"/>
                </a:solidFill>
                <a:cs typeface="ADLaM Display" panose="02010000000000000000" pitchFamily="2" charset="0"/>
              </a:rPr>
              <a:t>기상</a:t>
            </a:r>
            <a:r>
              <a:rPr lang="en-US" altLang="ko-KR" sz="4000" b="1" dirty="0">
                <a:solidFill>
                  <a:srgbClr val="333F70"/>
                </a:solidFill>
                <a:cs typeface="ADLaM Display" panose="02010000000000000000" pitchFamily="2" charset="0"/>
              </a:rPr>
              <a:t> </a:t>
            </a:r>
            <a:r>
              <a:rPr lang="ko-KR" altLang="en-US" sz="4000" b="1" dirty="0">
                <a:solidFill>
                  <a:srgbClr val="333F70"/>
                </a:solidFill>
                <a:cs typeface="ADLaM Display" panose="02010000000000000000" pitchFamily="2" charset="0"/>
              </a:rPr>
              <a:t>예측 모델</a:t>
            </a:r>
            <a:endParaRPr lang="en-US" altLang="ko-KR" sz="4000" b="1" dirty="0">
              <a:solidFill>
                <a:srgbClr val="333F70"/>
              </a:solidFill>
              <a:cs typeface="ADLaM Display" panose="02010000000000000000" pitchFamily="2" charset="0"/>
            </a:endParaRPr>
          </a:p>
        </p:txBody>
      </p:sp>
      <p:pic>
        <p:nvPicPr>
          <p:cNvPr id="18" name="그림 17">
            <a:extLst>
              <a:ext uri="{FF2B5EF4-FFF2-40B4-BE49-F238E27FC236}">
                <a16:creationId xmlns:a16="http://schemas.microsoft.com/office/drawing/2014/main" id="{A589D995-50C3-7EDC-1BC3-1F3B7D7D186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673" t="19087" r="7673" b="10469"/>
          <a:stretch>
            <a:fillRect/>
          </a:stretch>
        </p:blipFill>
        <p:spPr>
          <a:xfrm>
            <a:off x="168831" y="1499435"/>
            <a:ext cx="6319508" cy="3899477"/>
          </a:xfrm>
          <a:prstGeom prst="rect">
            <a:avLst/>
          </a:prstGeom>
        </p:spPr>
      </p:pic>
      <p:sp>
        <p:nvSpPr>
          <p:cNvPr id="26" name="TextBox 25">
            <a:extLst>
              <a:ext uri="{FF2B5EF4-FFF2-40B4-BE49-F238E27FC236}">
                <a16:creationId xmlns:a16="http://schemas.microsoft.com/office/drawing/2014/main" id="{2381E1E1-A63B-D3C5-C9DA-E60ED426DAF0}"/>
              </a:ext>
            </a:extLst>
          </p:cNvPr>
          <p:cNvSpPr txBox="1"/>
          <p:nvPr/>
        </p:nvSpPr>
        <p:spPr>
          <a:xfrm>
            <a:off x="321231" y="5762273"/>
            <a:ext cx="4660806" cy="8876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1200" b="1" dirty="0">
                <a:latin typeface="맑은 고딕" panose="020B0503020000020004" pitchFamily="50" charset="-127"/>
                <a:ea typeface="맑은 고딕" panose="020B0503020000020004" pitchFamily="50" charset="-127"/>
                <a:cs typeface="Open Sans" panose="020B0606030504020204" pitchFamily="34" charset="0"/>
              </a:rPr>
              <a:t>기상</a:t>
            </a:r>
            <a:r>
              <a:rPr lang="en-US" altLang="ko-KR" sz="1200" b="1" dirty="0">
                <a:latin typeface="맑은 고딕" panose="020B0503020000020004" pitchFamily="50" charset="-127"/>
                <a:ea typeface="맑은 고딕" panose="020B0503020000020004" pitchFamily="50" charset="-127"/>
                <a:cs typeface="Open Sans" panose="020B0606030504020204" pitchFamily="34" charset="0"/>
              </a:rPr>
              <a:t> </a:t>
            </a:r>
            <a:r>
              <a:rPr lang="ko-KR" altLang="en-US" sz="1200" b="1" dirty="0">
                <a:latin typeface="맑은 고딕" panose="020B0503020000020004" pitchFamily="50" charset="-127"/>
                <a:ea typeface="맑은 고딕" panose="020B0503020000020004" pitchFamily="50" charset="-127"/>
                <a:cs typeface="Open Sans" panose="020B0606030504020204" pitchFamily="34" charset="0"/>
              </a:rPr>
              <a:t>변수</a:t>
            </a:r>
            <a:r>
              <a:rPr lang="en-US" altLang="ko-KR" sz="1200" b="1" dirty="0">
                <a:latin typeface="맑은 고딕" panose="020B0503020000020004" pitchFamily="50" charset="-127"/>
                <a:ea typeface="맑은 고딕" panose="020B0503020000020004" pitchFamily="50" charset="-127"/>
                <a:cs typeface="Open Sans" panose="020B0606030504020204" pitchFamily="34" charset="0"/>
              </a:rPr>
              <a:t>(X)</a:t>
            </a:r>
            <a:r>
              <a:rPr lang="ko-KR" altLang="en-US" sz="1200" b="1" dirty="0">
                <a:latin typeface="맑은 고딕" panose="020B0503020000020004" pitchFamily="50" charset="-127"/>
                <a:ea typeface="맑은 고딕" panose="020B0503020000020004" pitchFamily="50" charset="-127"/>
                <a:cs typeface="Open Sans" panose="020B0606030504020204" pitchFamily="34" charset="0"/>
              </a:rPr>
              <a:t> 재귀 예측 모델</a:t>
            </a:r>
            <a:r>
              <a:rPr lang="en-US" altLang="ko-KR" sz="1200" b="1" dirty="0">
                <a:latin typeface="맑은 고딕" panose="020B0503020000020004" pitchFamily="50" charset="-127"/>
                <a:ea typeface="맑은 고딕" panose="020B0503020000020004" pitchFamily="50" charset="-127"/>
                <a:cs typeface="Open Sans" panose="020B0606030504020204" pitchFamily="34" charset="0"/>
              </a:rPr>
              <a:t> </a:t>
            </a:r>
            <a:r>
              <a:rPr lang="ko-KR" altLang="en-US" sz="1200" b="1" dirty="0">
                <a:latin typeface="맑은 고딕" panose="020B0503020000020004" pitchFamily="50" charset="-127"/>
                <a:ea typeface="맑은 고딕" panose="020B0503020000020004" pitchFamily="50" charset="-127"/>
                <a:cs typeface="Open Sans" panose="020B0606030504020204" pitchFamily="34" charset="0"/>
              </a:rPr>
              <a:t>코드</a:t>
            </a:r>
            <a:endParaRPr lang="en-US" altLang="ko-KR" sz="1200" b="1" dirty="0">
              <a:latin typeface="맑은 고딕" panose="020B0503020000020004" pitchFamily="50" charset="-127"/>
              <a:ea typeface="맑은 고딕" panose="020B0503020000020004" pitchFamily="50" charset="-127"/>
              <a:cs typeface="Open Sans" panose="020B0606030504020204" pitchFamily="34" charset="0"/>
            </a:endParaRPr>
          </a:p>
          <a:p>
            <a:pPr>
              <a:lnSpc>
                <a:spcPct val="150000"/>
              </a:lnSpc>
            </a:pPr>
            <a:r>
              <a:rPr lang="en-US" altLang="ko-KR" sz="1200" dirty="0">
                <a:latin typeface="맑은 고딕" panose="020B0503020000020004" pitchFamily="50" charset="-127"/>
                <a:ea typeface="맑은 고딕" panose="020B0503020000020004" pitchFamily="50" charset="-127"/>
                <a:cs typeface="Open Sans" panose="020B0606030504020204" pitchFamily="34" charset="0"/>
              </a:rPr>
              <a:t>10</a:t>
            </a:r>
            <a:r>
              <a:rPr lang="ko-KR" altLang="en-US" sz="1200" dirty="0">
                <a:latin typeface="맑은 고딕" panose="020B0503020000020004" pitchFamily="50" charset="-127"/>
                <a:ea typeface="맑은 고딕" panose="020B0503020000020004" pitchFamily="50" charset="-127"/>
                <a:cs typeface="Open Sans" panose="020B0606030504020204" pitchFamily="34" charset="0"/>
              </a:rPr>
              <a:t>년치의 데이터를 기반으로 </a:t>
            </a:r>
            <a:r>
              <a:rPr lang="en-US" altLang="ko-KR" sz="1200" dirty="0">
                <a:latin typeface="맑은 고딕" panose="020B0503020000020004" pitchFamily="50" charset="-127"/>
                <a:ea typeface="맑은 고딕" panose="020B0503020000020004" pitchFamily="50" charset="-127"/>
                <a:cs typeface="Open Sans" panose="020B0606030504020204" pitchFamily="34" charset="0"/>
              </a:rPr>
              <a:t>2</a:t>
            </a:r>
            <a:r>
              <a:rPr lang="ko-KR" altLang="en-US" sz="1200" dirty="0">
                <a:latin typeface="맑은 고딕" panose="020B0503020000020004" pitchFamily="50" charset="-127"/>
                <a:ea typeface="맑은 고딕" panose="020B0503020000020004" pitchFamily="50" charset="-127"/>
                <a:cs typeface="Open Sans" panose="020B0606030504020204" pitchFamily="34" charset="0"/>
              </a:rPr>
              <a:t>주</a:t>
            </a:r>
            <a:r>
              <a:rPr lang="en-US" altLang="ko-KR" sz="1200" dirty="0">
                <a:latin typeface="맑은 고딕" panose="020B0503020000020004" pitchFamily="50" charset="-127"/>
                <a:ea typeface="맑은 고딕" panose="020B0503020000020004" pitchFamily="50" charset="-127"/>
                <a:cs typeface="Open Sans" panose="020B0606030504020204" pitchFamily="34" charset="0"/>
              </a:rPr>
              <a:t>(14</a:t>
            </a:r>
            <a:r>
              <a:rPr lang="ko-KR" altLang="en-US" sz="1200" dirty="0">
                <a:latin typeface="맑은 고딕" panose="020B0503020000020004" pitchFamily="50" charset="-127"/>
                <a:ea typeface="맑은 고딕" panose="020B0503020000020004" pitchFamily="50" charset="-127"/>
                <a:cs typeface="Open Sans" panose="020B0606030504020204" pitchFamily="34" charset="0"/>
              </a:rPr>
              <a:t>일</a:t>
            </a:r>
            <a:r>
              <a:rPr lang="en-US" altLang="ko-KR" sz="1200" dirty="0">
                <a:latin typeface="맑은 고딕" panose="020B0503020000020004" pitchFamily="50" charset="-127"/>
                <a:ea typeface="맑은 고딕" panose="020B0503020000020004" pitchFamily="50" charset="-127"/>
                <a:cs typeface="Open Sans" panose="020B0606030504020204" pitchFamily="34" charset="0"/>
              </a:rPr>
              <a:t>)</a:t>
            </a:r>
            <a:r>
              <a:rPr lang="ko-KR" altLang="en-US" sz="1200" dirty="0">
                <a:latin typeface="맑은 고딕" panose="020B0503020000020004" pitchFamily="50" charset="-127"/>
                <a:ea typeface="맑은 고딕" panose="020B0503020000020004" pitchFamily="50" charset="-127"/>
                <a:cs typeface="Open Sans" panose="020B0606030504020204" pitchFamily="34" charset="0"/>
              </a:rPr>
              <a:t>의 </a:t>
            </a:r>
            <a:r>
              <a:rPr lang="en-US" altLang="ko-KR" sz="1200" dirty="0">
                <a:latin typeface="맑은 고딕" panose="020B0503020000020004" pitchFamily="50" charset="-127"/>
                <a:ea typeface="맑은 고딕" panose="020B0503020000020004" pitchFamily="50" charset="-127"/>
                <a:cs typeface="Open Sans" panose="020B0606030504020204" pitchFamily="34" charset="0"/>
              </a:rPr>
              <a:t>time step</a:t>
            </a:r>
            <a:r>
              <a:rPr lang="ko-KR" altLang="en-US" sz="1200" dirty="0">
                <a:latin typeface="맑은 고딕" panose="020B0503020000020004" pitchFamily="50" charset="-127"/>
                <a:ea typeface="맑은 고딕" panose="020B0503020000020004" pitchFamily="50" charset="-127"/>
                <a:cs typeface="Open Sans" panose="020B0606030504020204" pitchFamily="34" charset="0"/>
              </a:rPr>
              <a:t>을 적용하여 </a:t>
            </a:r>
            <a:endParaRPr lang="en-US" altLang="ko-KR" sz="1200" dirty="0">
              <a:latin typeface="맑은 고딕" panose="020B0503020000020004" pitchFamily="50" charset="-127"/>
              <a:ea typeface="맑은 고딕" panose="020B0503020000020004" pitchFamily="50" charset="-127"/>
              <a:cs typeface="Open Sans" panose="020B0606030504020204" pitchFamily="34" charset="0"/>
            </a:endParaRPr>
          </a:p>
          <a:p>
            <a:pPr>
              <a:lnSpc>
                <a:spcPct val="150000"/>
              </a:lnSpc>
            </a:pPr>
            <a:r>
              <a:rPr lang="ko-KR" altLang="en-US" sz="1200" dirty="0">
                <a:latin typeface="맑은 고딕" panose="020B0503020000020004" pitchFamily="50" charset="-127"/>
                <a:ea typeface="맑은 고딕" panose="020B0503020000020004" pitchFamily="50" charset="-127"/>
                <a:cs typeface="Open Sans" panose="020B0606030504020204" pitchFamily="34" charset="0"/>
              </a:rPr>
              <a:t>다음날의 기상 변수</a:t>
            </a:r>
            <a:r>
              <a:rPr lang="en-US" altLang="ko-KR" sz="1200" dirty="0">
                <a:latin typeface="맑은 고딕" panose="020B0503020000020004" pitchFamily="50" charset="-127"/>
                <a:ea typeface="맑은 고딕" panose="020B0503020000020004" pitchFamily="50" charset="-127"/>
                <a:cs typeface="Open Sans" panose="020B0606030504020204" pitchFamily="34" charset="0"/>
              </a:rPr>
              <a:t>(X)</a:t>
            </a:r>
            <a:r>
              <a:rPr lang="ko-KR" altLang="en-US" sz="1200" dirty="0">
                <a:latin typeface="맑은 고딕" panose="020B0503020000020004" pitchFamily="50" charset="-127"/>
                <a:ea typeface="맑은 고딕" panose="020B0503020000020004" pitchFamily="50" charset="-127"/>
                <a:cs typeface="Open Sans" panose="020B0606030504020204" pitchFamily="34" charset="0"/>
              </a:rPr>
              <a:t>를 예측</a:t>
            </a:r>
            <a:endParaRPr lang="en-US" altLang="ko-KR" sz="1200" dirty="0">
              <a:latin typeface="맑은 고딕" panose="020B0503020000020004" pitchFamily="50" charset="-127"/>
              <a:ea typeface="맑은 고딕" panose="020B0503020000020004" pitchFamily="50" charset="-127"/>
              <a:cs typeface="Open Sans" panose="020B0606030504020204" pitchFamily="34" charset="0"/>
            </a:endParaRPr>
          </a:p>
        </p:txBody>
      </p:sp>
      <p:pic>
        <p:nvPicPr>
          <p:cNvPr id="65" name="그림 64">
            <a:extLst>
              <a:ext uri="{FF2B5EF4-FFF2-40B4-BE49-F238E27FC236}">
                <a16:creationId xmlns:a16="http://schemas.microsoft.com/office/drawing/2014/main" id="{114761BD-DB4C-C8DC-CB5B-08633D0B387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84994" y="1689405"/>
            <a:ext cx="3738681" cy="2254321"/>
          </a:xfrm>
          <a:prstGeom prst="rect">
            <a:avLst/>
          </a:prstGeom>
        </p:spPr>
      </p:pic>
      <p:pic>
        <p:nvPicPr>
          <p:cNvPr id="102" name="그림 101">
            <a:extLst>
              <a:ext uri="{FF2B5EF4-FFF2-40B4-BE49-F238E27FC236}">
                <a16:creationId xmlns:a16="http://schemas.microsoft.com/office/drawing/2014/main" id="{A173ED8D-9501-9C12-CFBB-D6BD5AA3A56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25678" y="72183"/>
            <a:ext cx="3017693" cy="975433"/>
          </a:xfrm>
          <a:prstGeom prst="rect">
            <a:avLst/>
          </a:prstGeom>
        </p:spPr>
      </p:pic>
      <p:sp>
        <p:nvSpPr>
          <p:cNvPr id="104" name="직사각형 103">
            <a:extLst>
              <a:ext uri="{FF2B5EF4-FFF2-40B4-BE49-F238E27FC236}">
                <a16:creationId xmlns:a16="http://schemas.microsoft.com/office/drawing/2014/main" id="{E5B2C15B-74A3-982D-9313-1E868A3FBDC2}"/>
              </a:ext>
            </a:extLst>
          </p:cNvPr>
          <p:cNvSpPr/>
          <p:nvPr/>
        </p:nvSpPr>
        <p:spPr>
          <a:xfrm>
            <a:off x="7989409" y="65678"/>
            <a:ext cx="1202216" cy="981929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9757956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66F58A-B348-5347-C640-05DC97C37E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C58BF528-F925-190B-9DBC-D5AE75B533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t>17</a:t>
            </a:r>
          </a:p>
        </p:txBody>
      </p:sp>
      <p:cxnSp>
        <p:nvCxnSpPr>
          <p:cNvPr id="6" name="직선 연결선 5">
            <a:extLst>
              <a:ext uri="{FF2B5EF4-FFF2-40B4-BE49-F238E27FC236}">
                <a16:creationId xmlns:a16="http://schemas.microsoft.com/office/drawing/2014/main" id="{E066F64E-51C4-4F13-0BB0-9C5C0C3FCA35}"/>
              </a:ext>
            </a:extLst>
          </p:cNvPr>
          <p:cNvCxnSpPr>
            <a:cxnSpLocks/>
          </p:cNvCxnSpPr>
          <p:nvPr/>
        </p:nvCxnSpPr>
        <p:spPr>
          <a:xfrm>
            <a:off x="0" y="1136073"/>
            <a:ext cx="12192000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D64C69BD-FBD7-5DEF-E8DB-546B604EB3D5}"/>
              </a:ext>
            </a:extLst>
          </p:cNvPr>
          <p:cNvSpPr txBox="1"/>
          <p:nvPr/>
        </p:nvSpPr>
        <p:spPr>
          <a:xfrm>
            <a:off x="321231" y="208112"/>
            <a:ext cx="647009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4000" b="1" dirty="0" err="1">
                <a:solidFill>
                  <a:srgbClr val="333F70"/>
                </a:solidFill>
                <a:cs typeface="ADLaM Display" panose="02010000000000000000" pitchFamily="2" charset="0"/>
              </a:rPr>
              <a:t>BackEnd</a:t>
            </a:r>
            <a:r>
              <a:rPr lang="en-US" altLang="ko-KR" sz="4000" b="1" dirty="0">
                <a:solidFill>
                  <a:srgbClr val="333F70"/>
                </a:solidFill>
                <a:cs typeface="ADLaM Display" panose="02010000000000000000" pitchFamily="2" charset="0"/>
              </a:rPr>
              <a:t> – </a:t>
            </a:r>
            <a:r>
              <a:rPr lang="ko-KR" altLang="en-US" sz="4000" b="1" dirty="0">
                <a:solidFill>
                  <a:srgbClr val="333F70"/>
                </a:solidFill>
                <a:cs typeface="ADLaM Display" panose="02010000000000000000" pitchFamily="2" charset="0"/>
              </a:rPr>
              <a:t>기상</a:t>
            </a:r>
            <a:r>
              <a:rPr lang="en-US" altLang="ko-KR" sz="4000" b="1" dirty="0">
                <a:solidFill>
                  <a:srgbClr val="333F70"/>
                </a:solidFill>
                <a:cs typeface="ADLaM Display" panose="02010000000000000000" pitchFamily="2" charset="0"/>
              </a:rPr>
              <a:t> </a:t>
            </a:r>
            <a:r>
              <a:rPr lang="ko-KR" altLang="en-US" sz="4000" b="1" dirty="0">
                <a:solidFill>
                  <a:srgbClr val="333F70"/>
                </a:solidFill>
                <a:cs typeface="ADLaM Display" panose="02010000000000000000" pitchFamily="2" charset="0"/>
              </a:rPr>
              <a:t>예측 모델</a:t>
            </a:r>
            <a:endParaRPr lang="en-US" altLang="ko-KR" sz="4000" b="1" dirty="0">
              <a:solidFill>
                <a:srgbClr val="333F70"/>
              </a:solidFill>
              <a:cs typeface="ADLaM Display" panose="02010000000000000000" pitchFamily="2" charset="0"/>
            </a:endParaRPr>
          </a:p>
        </p:txBody>
      </p:sp>
      <p:pic>
        <p:nvPicPr>
          <p:cNvPr id="10" name="그림 9">
            <a:extLst>
              <a:ext uri="{FF2B5EF4-FFF2-40B4-BE49-F238E27FC236}">
                <a16:creationId xmlns:a16="http://schemas.microsoft.com/office/drawing/2014/main" id="{22DD6827-18C6-62CF-DB81-9F27A83F3F9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25678" y="72183"/>
            <a:ext cx="3017693" cy="975433"/>
          </a:xfrm>
          <a:prstGeom prst="rect">
            <a:avLst/>
          </a:prstGeom>
        </p:spPr>
      </p:pic>
      <p:sp>
        <p:nvSpPr>
          <p:cNvPr id="12" name="직사각형 11">
            <a:extLst>
              <a:ext uri="{FF2B5EF4-FFF2-40B4-BE49-F238E27FC236}">
                <a16:creationId xmlns:a16="http://schemas.microsoft.com/office/drawing/2014/main" id="{69BD5659-91D9-FB2E-F754-FAE90234CAD2}"/>
              </a:ext>
            </a:extLst>
          </p:cNvPr>
          <p:cNvSpPr/>
          <p:nvPr/>
        </p:nvSpPr>
        <p:spPr>
          <a:xfrm>
            <a:off x="9249045" y="569119"/>
            <a:ext cx="1120505" cy="454819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14" name="그림 13">
            <a:extLst>
              <a:ext uri="{FF2B5EF4-FFF2-40B4-BE49-F238E27FC236}">
                <a16:creationId xmlns:a16="http://schemas.microsoft.com/office/drawing/2014/main" id="{8675A7B0-C54C-BE8E-9EA2-3A5A0BF9547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059" t="24086" r="12059" b="14223"/>
          <a:stretch>
            <a:fillRect/>
          </a:stretch>
        </p:blipFill>
        <p:spPr>
          <a:xfrm>
            <a:off x="7960571" y="1380558"/>
            <a:ext cx="4003099" cy="2825324"/>
          </a:xfrm>
          <a:prstGeom prst="rect">
            <a:avLst/>
          </a:prstGeom>
        </p:spPr>
      </p:pic>
      <p:pic>
        <p:nvPicPr>
          <p:cNvPr id="17" name="그림 16">
            <a:extLst>
              <a:ext uri="{FF2B5EF4-FFF2-40B4-BE49-F238E27FC236}">
                <a16:creationId xmlns:a16="http://schemas.microsoft.com/office/drawing/2014/main" id="{224D921B-9436-F973-C760-443ACAD35F3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014" t="13447" r="5855" b="8360"/>
          <a:stretch>
            <a:fillRect/>
          </a:stretch>
        </p:blipFill>
        <p:spPr>
          <a:xfrm>
            <a:off x="161925" y="1380558"/>
            <a:ext cx="7639050" cy="4783743"/>
          </a:xfrm>
          <a:prstGeom prst="rect">
            <a:avLst/>
          </a:prstGeom>
        </p:spPr>
      </p:pic>
      <p:sp>
        <p:nvSpPr>
          <p:cNvPr id="19" name="TextBox 18">
            <a:extLst>
              <a:ext uri="{FF2B5EF4-FFF2-40B4-BE49-F238E27FC236}">
                <a16:creationId xmlns:a16="http://schemas.microsoft.com/office/drawing/2014/main" id="{D544ACD9-98B4-7B2B-89DB-FF3DD9E3C2D1}"/>
              </a:ext>
            </a:extLst>
          </p:cNvPr>
          <p:cNvSpPr txBox="1"/>
          <p:nvPr/>
        </p:nvSpPr>
        <p:spPr>
          <a:xfrm>
            <a:off x="7892050" y="4776409"/>
            <a:ext cx="4299950" cy="11592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16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재귀예측으로 생성된 기상변수</a:t>
            </a:r>
            <a:r>
              <a:rPr lang="en-US" altLang="ko-KR" sz="16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(X)</a:t>
            </a:r>
            <a:r>
              <a:rPr lang="ko-KR" altLang="en-US" sz="16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를 바탕으로 파생변수</a:t>
            </a:r>
            <a:r>
              <a:rPr lang="en-US" altLang="ko-KR" sz="16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(LAG-1/365, Rolling, </a:t>
            </a:r>
            <a:r>
              <a:rPr lang="ko-KR" altLang="en-US" sz="16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일교차</a:t>
            </a:r>
            <a:r>
              <a:rPr lang="en-US" altLang="ko-KR" sz="16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)</a:t>
            </a:r>
            <a:r>
              <a:rPr lang="ko-KR" altLang="en-US" sz="16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생성</a:t>
            </a:r>
            <a:r>
              <a:rPr lang="en-US" altLang="ko-KR" sz="16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.</a:t>
            </a:r>
          </a:p>
          <a:p>
            <a:pPr>
              <a:lnSpc>
                <a:spcPct val="150000"/>
              </a:lnSpc>
            </a:pPr>
            <a:r>
              <a:rPr lang="ko-KR" altLang="en-US" sz="16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앙상블 모델의 </a:t>
            </a:r>
            <a:r>
              <a:rPr lang="en-US" altLang="ko-KR" sz="1600" dirty="0" err="1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LightGBM</a:t>
            </a:r>
            <a:r>
              <a:rPr lang="en-US" altLang="ko-KR" sz="16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regressor</a:t>
            </a:r>
            <a:r>
              <a:rPr lang="ko-KR" altLang="en-US" sz="16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를 학습</a:t>
            </a:r>
            <a:r>
              <a:rPr lang="en-US" altLang="ko-KR" sz="16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86664251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8DE87D-40C8-D195-C76B-EB8B506A58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BDCBAA70-18DC-1D20-A354-F5C2CE379E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t>18</a:t>
            </a:r>
          </a:p>
        </p:txBody>
      </p:sp>
      <p:cxnSp>
        <p:nvCxnSpPr>
          <p:cNvPr id="3" name="직선 연결선 2">
            <a:extLst>
              <a:ext uri="{FF2B5EF4-FFF2-40B4-BE49-F238E27FC236}">
                <a16:creationId xmlns:a16="http://schemas.microsoft.com/office/drawing/2014/main" id="{F12FA2E2-2525-5746-5A6B-F6228B184215}"/>
              </a:ext>
            </a:extLst>
          </p:cNvPr>
          <p:cNvCxnSpPr>
            <a:cxnSpLocks/>
          </p:cNvCxnSpPr>
          <p:nvPr/>
        </p:nvCxnSpPr>
        <p:spPr>
          <a:xfrm>
            <a:off x="0" y="1136073"/>
            <a:ext cx="12192000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CBB336F5-5C37-E596-D925-EF85BF424B74}"/>
              </a:ext>
            </a:extLst>
          </p:cNvPr>
          <p:cNvSpPr txBox="1"/>
          <p:nvPr/>
        </p:nvSpPr>
        <p:spPr>
          <a:xfrm>
            <a:off x="321231" y="208112"/>
            <a:ext cx="65000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defRPr sz="2800" b="1">
                <a:solidFill>
                  <a:srgbClr val="223B6B"/>
                </a:solidFill>
                <a:latin typeface="Malgun Gothic"/>
              </a:defRPr>
            </a:pPr>
            <a:r>
              <a:t>CI/CD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64358" y="1197015"/>
            <a:ext cx="6500000" cy="49449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800" b="1">
                <a:solidFill>
                  <a:srgbClr val="475569"/>
                </a:solidFill>
                <a:latin typeface="Malgun Gothic"/>
              </a:defRPr>
            </a:pPr>
            <a:r>
              <a:t>Two-stage Continuous Integration &amp; Deployment Architecture</a:t>
            </a:r>
          </a:p>
        </p:txBody>
      </p:sp>
      <p:sp>
        <p:nvSpPr>
          <p:cNvPr id="6" name="Rectangle 5"/>
          <p:cNvSpPr/>
          <p:nvPr/>
        </p:nvSpPr>
        <p:spPr>
          <a:xfrm>
            <a:off x="5050000" y="1950000"/>
            <a:ext cx="19050" cy="3450000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00000" y="2180000"/>
            <a:ext cx="580000" cy="3150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ctr">
              <a:defRPr sz="1600" b="1">
                <a:solidFill>
                  <a:srgbClr val="0F172A"/>
                </a:solidFill>
                <a:latin typeface="Malgun Gothic"/>
              </a:defRPr>
            </a:pPr>
            <a:r>
              <a:t>코</a:t>
            </a:r>
          </a:p>
          <a:p>
            <a:pPr algn="ctr">
              <a:defRPr sz="1600" b="1">
                <a:solidFill>
                  <a:srgbClr val="0F172A"/>
                </a:solidFill>
                <a:latin typeface="Malgun Gothic"/>
              </a:defRPr>
            </a:pPr>
            <a:r>
              <a:t>드</a:t>
            </a:r>
          </a:p>
          <a:p>
            <a:pPr algn="ctr">
              <a:defRPr sz="400" b="0">
                <a:solidFill>
                  <a:srgbClr val="0F172A"/>
                </a:solidFill>
                <a:latin typeface="Malgun Gothic"/>
              </a:defRPr>
            </a:pPr>
          </a:p>
          <a:p>
            <a:pPr algn="ctr">
              <a:defRPr sz="1600" b="1">
                <a:solidFill>
                  <a:srgbClr val="0F172A"/>
                </a:solidFill>
                <a:latin typeface="Malgun Gothic"/>
              </a:defRPr>
            </a:pPr>
            <a:r>
              <a:t>푸</a:t>
            </a:r>
          </a:p>
          <a:p>
            <a:pPr algn="ctr">
              <a:defRPr sz="1600" b="1">
                <a:solidFill>
                  <a:srgbClr val="0F172A"/>
                </a:solidFill>
                <a:latin typeface="Malgun Gothic"/>
              </a:defRPr>
            </a:pPr>
            <a:r>
              <a:t>시</a:t>
            </a:r>
          </a:p>
          <a:p>
            <a:pPr algn="ctr">
              <a:defRPr sz="400" b="0">
                <a:solidFill>
                  <a:srgbClr val="0F172A"/>
                </a:solidFill>
                <a:latin typeface="Malgun Gothic"/>
              </a:defRPr>
            </a:pPr>
          </a:p>
          <a:p>
            <a:pPr algn="ctr">
              <a:defRPr sz="1300" b="0">
                <a:solidFill>
                  <a:srgbClr val="475569"/>
                </a:solidFill>
                <a:latin typeface="Malgun Gothic"/>
              </a:defRPr>
            </a:pPr>
            <a:r>
              <a:t>(main)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500000" y="2180000"/>
            <a:ext cx="2050000" cy="1460000"/>
          </a:xfrm>
          <a:prstGeom prst="roundRect">
            <a:avLst/>
          </a:prstGeom>
          <a:solidFill>
            <a:srgbClr val="DDF8F2"/>
          </a:solidFill>
          <a:ln w="19050">
            <a:solidFill>
              <a:srgbClr val="5EEA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ctr">
              <a:defRPr sz="1600" b="1">
                <a:solidFill>
                  <a:srgbClr val="064E3B"/>
                </a:solidFill>
                <a:latin typeface="Malgun Gothic"/>
              </a:defRPr>
            </a:pPr>
            <a:r>
              <a:t>GitHub Cloud Runner</a:t>
            </a:r>
          </a:p>
          <a:p>
            <a:pPr algn="ctr">
              <a:defRPr sz="400" b="0">
                <a:solidFill>
                  <a:srgbClr val="0F172A"/>
                </a:solidFill>
                <a:latin typeface="Malgun Gothic"/>
              </a:defRPr>
            </a:pPr>
          </a:p>
          <a:p>
            <a:pPr algn="ctr">
              <a:defRPr sz="1300" b="0">
                <a:solidFill>
                  <a:srgbClr val="475569"/>
                </a:solidFill>
                <a:latin typeface="Malgun Gothic"/>
              </a:defRPr>
            </a:pPr>
            <a:r>
              <a:t>(ubuntu-latest)</a:t>
            </a:r>
          </a:p>
          <a:p>
            <a:pPr algn="ctr">
              <a:defRPr sz="1200" b="0">
                <a:solidFill>
                  <a:srgbClr val="047857"/>
                </a:solidFill>
                <a:latin typeface="Malgun Gothic"/>
              </a:defRPr>
            </a:pPr>
            <a:r>
              <a:t>EC2 서버 부하 0% 사전 격리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500000" y="3870000"/>
            <a:ext cx="2050000" cy="1460000"/>
          </a:xfrm>
          <a:prstGeom prst="roundRect">
            <a:avLst/>
          </a:prstGeom>
          <a:solidFill>
            <a:srgbClr val="A2ECDC"/>
          </a:solidFill>
          <a:ln w="19050">
            <a:solidFill>
              <a:srgbClr val="2DD4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ctr">
              <a:defRPr sz="1600" b="1">
                <a:solidFill>
                  <a:srgbClr val="115E59"/>
                </a:solidFill>
                <a:latin typeface="Malgun Gothic"/>
              </a:defRPr>
            </a:pPr>
            <a:r>
              <a:t>Vite 빌드 &amp; tsc 검증</a:t>
            </a:r>
          </a:p>
          <a:p>
            <a:pPr algn="ctr">
              <a:defRPr sz="400" b="0">
                <a:solidFill>
                  <a:srgbClr val="0F172A"/>
                </a:solidFill>
                <a:latin typeface="Malgun Gothic"/>
              </a:defRPr>
            </a:pPr>
          </a:p>
          <a:p>
            <a:pPr algn="ctr">
              <a:defRPr sz="1300" b="0">
                <a:solidFill>
                  <a:srgbClr val="475569"/>
                </a:solidFill>
                <a:latin typeface="Malgun Gothic"/>
              </a:defRPr>
            </a:pPr>
            <a:r>
              <a:t>(Fail-Fast 조기 방어)</a:t>
            </a:r>
          </a:p>
          <a:p>
            <a:pPr algn="ctr">
              <a:defRPr sz="1200" b="0">
                <a:solidFill>
                  <a:srgbClr val="0D9488"/>
                </a:solidFill>
                <a:latin typeface="Malgun Gothic"/>
              </a:defRPr>
            </a:pPr>
            <a:r>
              <a:t>에러 시 즉시 중단 &amp; PR 알림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970000" y="2180000"/>
            <a:ext cx="950000" cy="3150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ctr">
              <a:defRPr sz="1600" b="1">
                <a:solidFill>
                  <a:srgbClr val="0F172A"/>
                </a:solidFill>
                <a:latin typeface="Malgun Gothic"/>
              </a:defRPr>
            </a:pPr>
            <a:r>
              <a:t>dist/</a:t>
            </a:r>
          </a:p>
          <a:p>
            <a:pPr algn="ctr">
              <a:defRPr sz="1600" b="1">
                <a:solidFill>
                  <a:srgbClr val="0F172A"/>
                </a:solidFill>
                <a:latin typeface="Malgun Gothic"/>
              </a:defRPr>
            </a:pPr>
            <a:r>
              <a:t>빌드</a:t>
            </a:r>
          </a:p>
          <a:p>
            <a:pPr algn="ctr">
              <a:defRPr sz="1600" b="1">
                <a:solidFill>
                  <a:srgbClr val="0F172A"/>
                </a:solidFill>
                <a:latin typeface="Malgun Gothic"/>
              </a:defRPr>
            </a:pPr>
            <a:r>
              <a:t>아티팩트</a:t>
            </a:r>
          </a:p>
          <a:p>
            <a:pPr algn="ctr">
              <a:defRPr sz="400" b="0">
                <a:solidFill>
                  <a:srgbClr val="0F172A"/>
                </a:solidFill>
                <a:latin typeface="Malgun Gothic"/>
              </a:defRPr>
            </a:pPr>
          </a:p>
          <a:p>
            <a:pPr algn="ctr">
              <a:defRPr sz="1200" b="0">
                <a:solidFill>
                  <a:srgbClr val="475569"/>
                </a:solidFill>
                <a:latin typeface="Malgun Gothic"/>
              </a:defRPr>
            </a:pPr>
            <a:r>
              <a:t>(upload-artifact)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00000" y="5450000"/>
            <a:ext cx="3200000" cy="88229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700" b="1">
                <a:solidFill>
                  <a:srgbClr val="0F172A"/>
                </a:solidFill>
                <a:latin typeface="Malgun Gothic"/>
              </a:defRPr>
            </a:pPr>
            <a:r>
              <a:t>Stage 1</a:t>
            </a:r>
          </a:p>
          <a:p>
            <a:pPr algn="ctr">
              <a:defRPr sz="1400" b="0">
                <a:solidFill>
                  <a:srgbClr val="475569"/>
                </a:solidFill>
                <a:latin typeface="Malgun Gothic"/>
              </a:defRPr>
            </a:pPr>
            <a:r>
              <a:t>GitHub Cloud 사전 격리 빌드 (CI)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360000" y="2180000"/>
            <a:ext cx="2200000" cy="1460000"/>
          </a:xfrm>
          <a:prstGeom prst="roundRect">
            <a:avLst/>
          </a:prstGeom>
          <a:solidFill>
            <a:srgbClr val="DDF8F2"/>
          </a:solidFill>
          <a:ln w="19050">
            <a:solidFill>
              <a:srgbClr val="5EEA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ctr">
              <a:defRPr sz="1600" b="1">
                <a:solidFill>
                  <a:srgbClr val="064E3B"/>
                </a:solidFill>
                <a:latin typeface="Malgun Gothic"/>
              </a:defRPr>
            </a:pPr>
            <a:r>
              <a:t>EC2 Self-Hosted Runner</a:t>
            </a:r>
          </a:p>
          <a:p>
            <a:pPr algn="ctr">
              <a:defRPr sz="400" b="0">
                <a:solidFill>
                  <a:srgbClr val="0F172A"/>
                </a:solidFill>
                <a:latin typeface="Malgun Gothic"/>
              </a:defRPr>
            </a:pPr>
          </a:p>
          <a:p>
            <a:pPr algn="ctr">
              <a:defRPr sz="1300" b="0">
                <a:solidFill>
                  <a:srgbClr val="475569"/>
                </a:solidFill>
                <a:latin typeface="Malgun Gothic"/>
              </a:defRPr>
            </a:pPr>
            <a:r>
              <a:t>(SSH 미개방 보안 수신)</a:t>
            </a:r>
          </a:p>
          <a:p>
            <a:pPr algn="ctr">
              <a:defRPr sz="1200" b="0">
                <a:solidFill>
                  <a:srgbClr val="047857"/>
                </a:solidFill>
                <a:latin typeface="Malgun Gothic"/>
              </a:defRPr>
            </a:pPr>
            <a:r>
              <a:t>인바운드 22번 포트 차단 통신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360000" y="3870000"/>
            <a:ext cx="2200000" cy="1460000"/>
          </a:xfrm>
          <a:prstGeom prst="roundRect">
            <a:avLst/>
          </a:prstGeom>
          <a:solidFill>
            <a:srgbClr val="A2ECDC"/>
          </a:solidFill>
          <a:ln w="19050">
            <a:solidFill>
              <a:srgbClr val="2DD4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ctr">
              <a:defRPr sz="1600" b="1">
                <a:solidFill>
                  <a:srgbClr val="115E59"/>
                </a:solidFill>
                <a:latin typeface="Malgun Gothic"/>
              </a:defRPr>
            </a:pPr>
            <a:r>
              <a:t>사전 백업 &amp; 핫스왑</a:t>
            </a:r>
          </a:p>
          <a:p>
            <a:pPr algn="ctr">
              <a:defRPr sz="400" b="0">
                <a:solidFill>
                  <a:srgbClr val="0F172A"/>
                </a:solidFill>
                <a:latin typeface="Malgun Gothic"/>
              </a:defRPr>
            </a:pPr>
          </a:p>
          <a:p>
            <a:pPr algn="ctr">
              <a:defRPr sz="1300" b="0">
                <a:solidFill>
                  <a:srgbClr val="475569"/>
                </a:solidFill>
                <a:latin typeface="Malgun Gothic"/>
              </a:defRPr>
            </a:pPr>
            <a:r>
              <a:t>(backups/ &amp; --no-deps)</a:t>
            </a:r>
          </a:p>
          <a:p>
            <a:pPr algn="ctr">
              <a:defRPr sz="1200" b="0">
                <a:solidFill>
                  <a:srgbClr val="0D9488"/>
                </a:solidFill>
                <a:latin typeface="Malgun Gothic"/>
              </a:defRPr>
            </a:pPr>
            <a:r>
              <a:t>압축 백업 및 1초 롤백 보장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980000" y="2180000"/>
            <a:ext cx="2250000" cy="3150000"/>
          </a:xfrm>
          <a:prstGeom prst="roundRect">
            <a:avLst/>
          </a:prstGeom>
          <a:solidFill>
            <a:srgbClr val="DDF8F2"/>
          </a:solidFill>
          <a:ln w="19050">
            <a:solidFill>
              <a:srgbClr val="5EEA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ctr">
              <a:defRPr sz="1700" b="1">
                <a:solidFill>
                  <a:srgbClr val="064E3B"/>
                </a:solidFill>
                <a:latin typeface="Malgun Gothic"/>
              </a:defRPr>
            </a:pPr>
            <a:r>
              <a:t>Docker Compose</a:t>
            </a:r>
          </a:p>
          <a:p>
            <a:pPr algn="ctr">
              <a:defRPr sz="1700" b="1">
                <a:solidFill>
                  <a:srgbClr val="064E3B"/>
                </a:solidFill>
                <a:latin typeface="Malgun Gothic"/>
              </a:defRPr>
            </a:pPr>
            <a:r>
              <a:t>&amp; 자가 치유</a:t>
            </a:r>
          </a:p>
          <a:p>
            <a:pPr algn="ctr">
              <a:defRPr sz="400" b="0">
                <a:solidFill>
                  <a:srgbClr val="0F172A"/>
                </a:solidFill>
                <a:latin typeface="Malgun Gothic"/>
              </a:defRPr>
            </a:pPr>
          </a:p>
          <a:p>
            <a:pPr algn="ctr">
              <a:defRPr sz="1300" b="0">
                <a:solidFill>
                  <a:srgbClr val="0F172A"/>
                </a:solidFill>
                <a:latin typeface="Malgun Gothic"/>
              </a:defRPr>
            </a:pPr>
            <a:r>
              <a:t>/api/health 5회 헬스체크</a:t>
            </a:r>
          </a:p>
          <a:p>
            <a:pPr algn="ctr">
              <a:defRPr sz="400" b="0">
                <a:solidFill>
                  <a:srgbClr val="0F172A"/>
                </a:solidFill>
                <a:latin typeface="Malgun Gothic"/>
              </a:defRPr>
            </a:pPr>
          </a:p>
          <a:p>
            <a:pPr algn="ctr">
              <a:defRPr sz="1300" b="0">
                <a:solidFill>
                  <a:srgbClr val="0F172A"/>
                </a:solidFill>
                <a:latin typeface="Malgun Gothic"/>
              </a:defRPr>
            </a:pPr>
            <a:r>
              <a:t>restart: always 3초 부활</a:t>
            </a:r>
          </a:p>
          <a:p>
            <a:pPr algn="ctr">
              <a:defRPr sz="400" b="0">
                <a:solidFill>
                  <a:srgbClr val="0F172A"/>
                </a:solidFill>
                <a:latin typeface="Malgun Gothic"/>
              </a:defRPr>
            </a:pPr>
          </a:p>
          <a:p>
            <a:pPr algn="ctr">
              <a:defRPr sz="1300" b="0">
                <a:solidFill>
                  <a:srgbClr val="0F172A"/>
                </a:solidFill>
                <a:latin typeface="Malgun Gothic"/>
              </a:defRPr>
            </a:pPr>
            <a:r>
              <a:t>PostgreSQL 호스트 DB 격리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0650000" y="2180000"/>
            <a:ext cx="950000" cy="3150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ctr">
              <a:defRPr sz="1600" b="1">
                <a:solidFill>
                  <a:srgbClr val="0F172A"/>
                </a:solidFill>
                <a:latin typeface="Malgun Gothic"/>
              </a:defRPr>
            </a:pPr>
            <a:r>
              <a:t>무중단</a:t>
            </a:r>
          </a:p>
          <a:p>
            <a:pPr algn="ctr">
              <a:defRPr sz="1600" b="1">
                <a:solidFill>
                  <a:srgbClr val="0F172A"/>
                </a:solidFill>
                <a:latin typeface="Malgun Gothic"/>
              </a:defRPr>
            </a:pPr>
            <a:r>
              <a:t>서비스</a:t>
            </a:r>
          </a:p>
          <a:p>
            <a:pPr algn="ctr">
              <a:defRPr sz="1600" b="1">
                <a:solidFill>
                  <a:srgbClr val="0F172A"/>
                </a:solidFill>
                <a:latin typeface="Malgun Gothic"/>
              </a:defRPr>
            </a:pPr>
            <a:r>
              <a:t>배포</a:t>
            </a:r>
          </a:p>
          <a:p>
            <a:pPr algn="ctr">
              <a:defRPr sz="1600" b="1">
                <a:solidFill>
                  <a:srgbClr val="0F172A"/>
                </a:solidFill>
                <a:latin typeface="Malgun Gothic"/>
              </a:defRPr>
            </a:pPr>
            <a:r>
              <a:t>완료</a:t>
            </a:r>
          </a:p>
          <a:p>
            <a:pPr algn="ctr">
              <a:defRPr sz="400" b="0">
                <a:solidFill>
                  <a:srgbClr val="0F172A"/>
                </a:solidFill>
                <a:latin typeface="Malgun Gothic"/>
              </a:defRPr>
            </a:pPr>
          </a:p>
          <a:p>
            <a:pPr algn="ctr">
              <a:defRPr sz="1200" b="0">
                <a:solidFill>
                  <a:srgbClr val="475569"/>
                </a:solidFill>
                <a:latin typeface="Malgun Gothic"/>
              </a:defRPr>
            </a:pPr>
            <a:r>
              <a:t>(Zero-Downtime)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000000" y="5450000"/>
            <a:ext cx="4000000" cy="88229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700" b="1">
                <a:solidFill>
                  <a:srgbClr val="0F172A"/>
                </a:solidFill>
                <a:latin typeface="Malgun Gothic"/>
              </a:defRPr>
            </a:pPr>
            <a:r>
              <a:t>Stage 2</a:t>
            </a:r>
          </a:p>
          <a:p>
            <a:pPr algn="ctr">
              <a:defRPr sz="1400" b="0">
                <a:solidFill>
                  <a:srgbClr val="475569"/>
                </a:solidFill>
                <a:latin typeface="Malgun Gothic"/>
              </a:defRPr>
            </a:pPr>
            <a:r>
              <a:t>EC2 인하우스 러너 무중단 롤아웃 (CD)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1090000" y="3755000"/>
            <a:ext cx="390000" cy="0"/>
          </a:xfrm>
          <a:prstGeom prst="line">
            <a:avLst/>
          </a:prstGeom>
          <a:ln w="31750">
            <a:solidFill>
              <a:srgbClr val="0D948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3560000" y="3755000"/>
            <a:ext cx="390000" cy="0"/>
          </a:xfrm>
          <a:prstGeom prst="line">
            <a:avLst/>
          </a:prstGeom>
          <a:ln w="31750">
            <a:solidFill>
              <a:srgbClr val="0D948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4930000" y="3755000"/>
            <a:ext cx="410000" cy="0"/>
          </a:xfrm>
          <a:prstGeom prst="line">
            <a:avLst/>
          </a:prstGeom>
          <a:ln w="31750">
            <a:solidFill>
              <a:srgbClr val="0D948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7570000" y="3755000"/>
            <a:ext cx="390000" cy="0"/>
          </a:xfrm>
          <a:prstGeom prst="line">
            <a:avLst/>
          </a:prstGeom>
          <a:ln w="31750">
            <a:solidFill>
              <a:srgbClr val="0D948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10240000" y="3755000"/>
            <a:ext cx="390000" cy="0"/>
          </a:xfrm>
          <a:prstGeom prst="line">
            <a:avLst/>
          </a:prstGeom>
          <a:ln w="31750">
            <a:solidFill>
              <a:srgbClr val="0D948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48569028"/>
      </p:ext>
    </p:extLst>
  </p:cSld>
  <p:clrMapOvr>
    <a:masterClrMapping/>
  </p:clrMapOvr>
</p:sld>
</file>

<file path=ppt/slides/slide17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t>19</a:t>
            </a:r>
          </a:p>
        </p:txBody>
      </p:sp>
      <p:cxnSp>
        <p:nvCxnSpPr>
          <p:cNvPr id="3" name="직선 연결선 2"/>
          <p:cNvCxnSpPr/>
          <p:nvPr/>
        </p:nvCxnSpPr>
        <p:spPr>
          <a:xfrm>
            <a:off x="0" y="1136073"/>
            <a:ext cx="12192000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321231" y="208112"/>
            <a:ext cx="9800000" cy="9425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0a3981"/>
                </a:solidFill>
                <a:latin typeface="맑은 고딕"/>
              </a:defRPr>
            </a:pPr>
            <a:r>
              <a:rPr lang="ko-KR" altLang="en-US"/>
              <a:t>CI/CD – GitHub Actions &amp; Docker 무중단 자동 배포 파이프라인</a:t>
            </a:r>
            <a:endParaRPr lang="ko-KR" altLang="en-US"/>
          </a:p>
        </p:txBody>
      </p:sp>
      <p:pic>
        <p:nvPicPr>
          <p:cNvPr id="5" name="Picture 4" descr="slide_15_body.png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320000" y="1220000"/>
            <a:ext cx="11552000" cy="54080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500"/>
    </mc:Choice>
    <mc:Fallback>
      <p:transition/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A5F2BD-723D-0A98-A890-134F0EB3A6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9DD2319E-49B1-F71D-5603-D363EB0689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t>20</a:t>
            </a:r>
          </a:p>
        </p:txBody>
      </p:sp>
      <p:cxnSp>
        <p:nvCxnSpPr>
          <p:cNvPr id="3" name="직선 연결선 2">
            <a:extLst>
              <a:ext uri="{FF2B5EF4-FFF2-40B4-BE49-F238E27FC236}">
                <a16:creationId xmlns:a16="http://schemas.microsoft.com/office/drawing/2014/main" id="{E93F3DD2-AAF1-719F-9045-CF1DA461D938}"/>
              </a:ext>
            </a:extLst>
          </p:cNvPr>
          <p:cNvCxnSpPr>
            <a:cxnSpLocks/>
          </p:cNvCxnSpPr>
          <p:nvPr/>
        </p:nvCxnSpPr>
        <p:spPr>
          <a:xfrm>
            <a:off x="0" y="1136073"/>
            <a:ext cx="12192000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5AF175DF-A53B-8792-C18A-06D53BADED40}"/>
              </a:ext>
            </a:extLst>
          </p:cNvPr>
          <p:cNvSpPr txBox="1"/>
          <p:nvPr/>
        </p:nvSpPr>
        <p:spPr>
          <a:xfrm>
            <a:off x="321231" y="208112"/>
            <a:ext cx="647009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4000" b="1" dirty="0">
                <a:solidFill>
                  <a:srgbClr val="333F70"/>
                </a:solidFill>
                <a:cs typeface="ADLaM Display" panose="02010000000000000000" pitchFamily="2" charset="0"/>
              </a:rPr>
              <a:t>Future work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914E7C1-24F3-2572-E739-827F86B59D78}"/>
              </a:ext>
            </a:extLst>
          </p:cNvPr>
          <p:cNvSpPr txBox="1"/>
          <p:nvPr/>
        </p:nvSpPr>
        <p:spPr>
          <a:xfrm>
            <a:off x="664358" y="1197015"/>
            <a:ext cx="4674260" cy="49449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2000" b="1" dirty="0">
                <a:latin typeface="맑은 고딕" panose="020B0503020000020004" pitchFamily="50" charset="-127"/>
                <a:ea typeface="맑은 고딕" panose="020B0503020000020004" pitchFamily="50" charset="-127"/>
                <a:cs typeface="Open Sans" panose="020B0606030504020204" pitchFamily="34" charset="0"/>
              </a:rPr>
              <a:t>Model performance</a:t>
            </a:r>
          </a:p>
        </p:txBody>
      </p:sp>
    </p:spTree>
    <p:extLst>
      <p:ext uri="{BB962C8B-B14F-4D97-AF65-F5344CB8AC3E}">
        <p14:creationId xmlns:p14="http://schemas.microsoft.com/office/powerpoint/2010/main" val="91035046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6D8052-71C6-EF7A-87DF-72CB1C8AEC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xtBox 15">
            <a:extLst>
              <a:ext uri="{FF2B5EF4-FFF2-40B4-BE49-F238E27FC236}">
                <a16:creationId xmlns:a16="http://schemas.microsoft.com/office/drawing/2014/main" id="{E0171FFF-FF56-4F75-F6DE-6DFC66207588}"/>
              </a:ext>
            </a:extLst>
          </p:cNvPr>
          <p:cNvSpPr txBox="1"/>
          <p:nvPr/>
        </p:nvSpPr>
        <p:spPr>
          <a:xfrm>
            <a:off x="4960071" y="3136613"/>
            <a:ext cx="227185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3200" b="1" dirty="0">
                <a:solidFill>
                  <a:srgbClr val="333F7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DLaM Display" panose="02010000000000000000" pitchFamily="2" charset="0"/>
              </a:rPr>
              <a:t>Q&amp;A</a:t>
            </a:r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D52617C6-59A6-BCA5-827C-CF260F9618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t>21</a:t>
            </a:r>
          </a:p>
        </p:txBody>
      </p:sp>
    </p:spTree>
    <p:extLst>
      <p:ext uri="{BB962C8B-B14F-4D97-AF65-F5344CB8AC3E}">
        <p14:creationId xmlns:p14="http://schemas.microsoft.com/office/powerpoint/2010/main" val="39845717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090DE8-DEFC-A1AD-0AE0-AA5B7342FE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xtBox 15">
            <a:extLst>
              <a:ext uri="{FF2B5EF4-FFF2-40B4-BE49-F238E27FC236}">
                <a16:creationId xmlns:a16="http://schemas.microsoft.com/office/drawing/2014/main" id="{D6D6D3C4-C08E-7BFC-BF6D-5653BE893AA2}"/>
              </a:ext>
            </a:extLst>
          </p:cNvPr>
          <p:cNvSpPr txBox="1"/>
          <p:nvPr/>
        </p:nvSpPr>
        <p:spPr>
          <a:xfrm>
            <a:off x="4960071" y="3136613"/>
            <a:ext cx="227185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3200" b="1" dirty="0">
                <a:solidFill>
                  <a:srgbClr val="333F7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DLaM Display" panose="02010000000000000000" pitchFamily="2" charset="0"/>
              </a:rPr>
              <a:t>감사합니다</a:t>
            </a:r>
            <a:endParaRPr lang="en-US" altLang="ko-KR" sz="3200" b="1" dirty="0">
              <a:solidFill>
                <a:srgbClr val="333F70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ADLaM Display" panose="02010000000000000000" pitchFamily="2" charset="0"/>
            </a:endParaRPr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714DB2DF-648F-9E80-3E57-23BE888DDE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t>22</a:t>
            </a:r>
          </a:p>
        </p:txBody>
      </p:sp>
    </p:spTree>
    <p:extLst>
      <p:ext uri="{BB962C8B-B14F-4D97-AF65-F5344CB8AC3E}">
        <p14:creationId xmlns:p14="http://schemas.microsoft.com/office/powerpoint/2010/main" val="165384179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E55C8CF-7502-261F-B0BF-62FC1D77DB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584FD551-E534-199A-131E-453C4CCD09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t>23</a:t>
            </a:r>
          </a:p>
        </p:txBody>
      </p:sp>
      <p:cxnSp>
        <p:nvCxnSpPr>
          <p:cNvPr id="3" name="직선 연결선 2">
            <a:extLst>
              <a:ext uri="{FF2B5EF4-FFF2-40B4-BE49-F238E27FC236}">
                <a16:creationId xmlns:a16="http://schemas.microsoft.com/office/drawing/2014/main" id="{FEDADB96-7C47-0EED-6A0E-2FBD8B6F752D}"/>
              </a:ext>
            </a:extLst>
          </p:cNvPr>
          <p:cNvCxnSpPr>
            <a:cxnSpLocks/>
          </p:cNvCxnSpPr>
          <p:nvPr/>
        </p:nvCxnSpPr>
        <p:spPr>
          <a:xfrm>
            <a:off x="0" y="1136073"/>
            <a:ext cx="12192000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D0489754-D391-024C-8AC6-BA71A3E20735}"/>
              </a:ext>
            </a:extLst>
          </p:cNvPr>
          <p:cNvSpPr txBox="1"/>
          <p:nvPr/>
        </p:nvSpPr>
        <p:spPr>
          <a:xfrm>
            <a:off x="321231" y="208112"/>
            <a:ext cx="647009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4000" b="1" dirty="0">
                <a:solidFill>
                  <a:srgbClr val="333F70"/>
                </a:solidFill>
                <a:latin typeface="맑은 고딕" panose="020B0503020000020004" pitchFamily="50" charset="-127"/>
                <a:cs typeface="ADLaM Display" panose="02010000000000000000" pitchFamily="2" charset="0"/>
              </a:rPr>
              <a:t>Appendix</a:t>
            </a:r>
          </a:p>
        </p:txBody>
      </p:sp>
    </p:spTree>
    <p:extLst>
      <p:ext uri="{BB962C8B-B14F-4D97-AF65-F5344CB8AC3E}">
        <p14:creationId xmlns:p14="http://schemas.microsoft.com/office/powerpoint/2010/main" val="163416612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772F035-5072-E220-9039-8C1621C442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B73E5282-84E1-358D-7B63-87FD648B06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t>24</a:t>
            </a:r>
          </a:p>
        </p:txBody>
      </p:sp>
      <p:cxnSp>
        <p:nvCxnSpPr>
          <p:cNvPr id="3" name="직선 연결선 2">
            <a:extLst>
              <a:ext uri="{FF2B5EF4-FFF2-40B4-BE49-F238E27FC236}">
                <a16:creationId xmlns:a16="http://schemas.microsoft.com/office/drawing/2014/main" id="{2224AF07-EC2D-F397-E991-31C61A8F48B0}"/>
              </a:ext>
            </a:extLst>
          </p:cNvPr>
          <p:cNvCxnSpPr>
            <a:cxnSpLocks/>
          </p:cNvCxnSpPr>
          <p:nvPr/>
        </p:nvCxnSpPr>
        <p:spPr>
          <a:xfrm>
            <a:off x="0" y="1136073"/>
            <a:ext cx="12192000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AC9FF2F8-C8D8-4918-F20C-67EAE97F94C8}"/>
              </a:ext>
            </a:extLst>
          </p:cNvPr>
          <p:cNvSpPr txBox="1"/>
          <p:nvPr/>
        </p:nvSpPr>
        <p:spPr>
          <a:xfrm>
            <a:off x="321230" y="208112"/>
            <a:ext cx="912756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4000" b="1" dirty="0">
                <a:solidFill>
                  <a:srgbClr val="333F70"/>
                </a:solidFill>
                <a:latin typeface="맑은 고딕" panose="020B0503020000020004" pitchFamily="50" charset="-127"/>
                <a:cs typeface="ADLaM Display" panose="02010000000000000000" pitchFamily="2" charset="0"/>
              </a:rPr>
              <a:t>Appendix – E2E </a:t>
            </a:r>
            <a:r>
              <a:rPr lang="ko-KR" altLang="en-US" sz="4000" b="1" dirty="0">
                <a:solidFill>
                  <a:srgbClr val="333F70"/>
                </a:solidFill>
                <a:latin typeface="맑은 고딕" panose="020B0503020000020004" pitchFamily="50" charset="-127"/>
                <a:cs typeface="ADLaM Display" panose="02010000000000000000" pitchFamily="2" charset="0"/>
              </a:rPr>
              <a:t>비즈니스 파이프라인</a:t>
            </a:r>
            <a:r>
              <a:rPr lang="en-US" altLang="ko-KR" sz="4000" b="1" dirty="0">
                <a:solidFill>
                  <a:srgbClr val="333F70"/>
                </a:solidFill>
                <a:latin typeface="맑은 고딕" panose="020B0503020000020004" pitchFamily="50" charset="-127"/>
                <a:cs typeface="ADLaM Display" panose="02010000000000000000" pitchFamily="2" charset="0"/>
              </a:rPr>
              <a:t> </a:t>
            </a: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30A72DD7-849A-7082-25EC-DAA055BD056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9887" b="4297"/>
          <a:stretch>
            <a:fillRect/>
          </a:stretch>
        </p:blipFill>
        <p:spPr>
          <a:xfrm>
            <a:off x="0" y="1212273"/>
            <a:ext cx="12192000" cy="56457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5326797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19CA9B-413D-BD5E-EBF9-EA1A817217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BE262871-87F3-9F2D-234F-6D838D3352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t>25</a:t>
            </a:r>
          </a:p>
        </p:txBody>
      </p:sp>
      <p:cxnSp>
        <p:nvCxnSpPr>
          <p:cNvPr id="3" name="직선 연결선 2">
            <a:extLst>
              <a:ext uri="{FF2B5EF4-FFF2-40B4-BE49-F238E27FC236}">
                <a16:creationId xmlns:a16="http://schemas.microsoft.com/office/drawing/2014/main" id="{33BC110A-BF06-08D8-8A01-DC2D7F18254C}"/>
              </a:ext>
            </a:extLst>
          </p:cNvPr>
          <p:cNvCxnSpPr>
            <a:cxnSpLocks/>
          </p:cNvCxnSpPr>
          <p:nvPr/>
        </p:nvCxnSpPr>
        <p:spPr>
          <a:xfrm>
            <a:off x="0" y="1136073"/>
            <a:ext cx="12192000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AF6E07C3-AAC9-FA87-6DFF-139119908234}"/>
              </a:ext>
            </a:extLst>
          </p:cNvPr>
          <p:cNvSpPr txBox="1"/>
          <p:nvPr/>
        </p:nvSpPr>
        <p:spPr>
          <a:xfrm>
            <a:off x="321230" y="208112"/>
            <a:ext cx="912756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4000" b="1" dirty="0">
                <a:solidFill>
                  <a:srgbClr val="333F70"/>
                </a:solidFill>
                <a:latin typeface="맑은 고딕" panose="020B0503020000020004" pitchFamily="50" charset="-127"/>
                <a:cs typeface="ADLaM Display" panose="02010000000000000000" pitchFamily="2" charset="0"/>
              </a:rPr>
              <a:t>Appendix – CI/CD </a:t>
            </a:r>
            <a:r>
              <a:rPr lang="ko-KR" altLang="en-US" sz="4000" b="1" dirty="0">
                <a:solidFill>
                  <a:srgbClr val="333F70"/>
                </a:solidFill>
                <a:latin typeface="맑은 고딕" panose="020B0503020000020004" pitchFamily="50" charset="-127"/>
                <a:cs typeface="ADLaM Display" panose="02010000000000000000" pitchFamily="2" charset="0"/>
              </a:rPr>
              <a:t>자동배포</a:t>
            </a:r>
            <a:endParaRPr lang="en-US" altLang="ko-KR" sz="4000" b="1" dirty="0">
              <a:solidFill>
                <a:srgbClr val="333F70"/>
              </a:solidFill>
              <a:latin typeface="맑은 고딕" panose="020B0503020000020004" pitchFamily="50" charset="-127"/>
              <a:cs typeface="ADLaM Display" panose="02010000000000000000" pitchFamily="2" charset="0"/>
            </a:endParaRPr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0BAE5145-3196-7FFB-99AF-6D72D88C5C9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1167" b="4797"/>
          <a:stretch>
            <a:fillRect/>
          </a:stretch>
        </p:blipFill>
        <p:spPr>
          <a:xfrm>
            <a:off x="0" y="1250372"/>
            <a:ext cx="12192000" cy="56076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98123149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0D4FC9-CF5B-01A3-D548-14FD4438E1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CF16CF20-6E03-B9FC-4358-298E3FBDAB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t>26</a:t>
            </a:r>
          </a:p>
        </p:txBody>
      </p:sp>
      <p:cxnSp>
        <p:nvCxnSpPr>
          <p:cNvPr id="3" name="직선 연결선 2">
            <a:extLst>
              <a:ext uri="{FF2B5EF4-FFF2-40B4-BE49-F238E27FC236}">
                <a16:creationId xmlns:a16="http://schemas.microsoft.com/office/drawing/2014/main" id="{24112D3E-757E-6E40-ECA3-6211545393C0}"/>
              </a:ext>
            </a:extLst>
          </p:cNvPr>
          <p:cNvCxnSpPr>
            <a:cxnSpLocks/>
          </p:cNvCxnSpPr>
          <p:nvPr/>
        </p:nvCxnSpPr>
        <p:spPr>
          <a:xfrm>
            <a:off x="0" y="1136073"/>
            <a:ext cx="12192000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21F25770-B3AD-E576-9272-97278FB23DF8}"/>
              </a:ext>
            </a:extLst>
          </p:cNvPr>
          <p:cNvSpPr txBox="1"/>
          <p:nvPr/>
        </p:nvSpPr>
        <p:spPr>
          <a:xfrm>
            <a:off x="321230" y="208112"/>
            <a:ext cx="912756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4000" b="1" dirty="0">
                <a:solidFill>
                  <a:srgbClr val="333F70"/>
                </a:solidFill>
                <a:latin typeface="맑은 고딕" panose="020B0503020000020004" pitchFamily="50" charset="-127"/>
                <a:cs typeface="ADLaM Display" panose="02010000000000000000" pitchFamily="2" charset="0"/>
              </a:rPr>
              <a:t>Appendix – </a:t>
            </a:r>
            <a:r>
              <a:rPr lang="ko-KR" altLang="en-US" sz="3200" b="1" dirty="0">
                <a:solidFill>
                  <a:srgbClr val="333F70"/>
                </a:solidFill>
                <a:latin typeface="맑은 고딕" panose="020B0503020000020004" pitchFamily="50" charset="-127"/>
                <a:cs typeface="ADLaM Display" panose="02010000000000000000" pitchFamily="2" charset="0"/>
              </a:rPr>
              <a:t>기상예측 </a:t>
            </a:r>
            <a:r>
              <a:rPr lang="en-US" altLang="ko-KR" sz="3200" b="1" dirty="0">
                <a:solidFill>
                  <a:srgbClr val="333F70"/>
                </a:solidFill>
                <a:latin typeface="맑은 고딕" panose="020B0503020000020004" pitchFamily="50" charset="-127"/>
                <a:cs typeface="ADLaM Display" panose="02010000000000000000" pitchFamily="2" charset="0"/>
              </a:rPr>
              <a:t>&amp;</a:t>
            </a:r>
            <a:r>
              <a:rPr lang="ko-KR" altLang="en-US" sz="3200" b="1" dirty="0">
                <a:solidFill>
                  <a:srgbClr val="333F70"/>
                </a:solidFill>
                <a:latin typeface="맑은 고딕" panose="020B0503020000020004" pitchFamily="50" charset="-127"/>
                <a:cs typeface="ADLaM Display" panose="02010000000000000000" pitchFamily="2" charset="0"/>
              </a:rPr>
              <a:t> 맞춤 코스 추천</a:t>
            </a:r>
            <a:endParaRPr lang="en-US" altLang="ko-KR" sz="4000" b="1" dirty="0">
              <a:solidFill>
                <a:srgbClr val="333F70"/>
              </a:solidFill>
              <a:latin typeface="맑은 고딕" panose="020B0503020000020004" pitchFamily="50" charset="-127"/>
              <a:cs typeface="ADLaM Display" panose="02010000000000000000" pitchFamily="2" charset="0"/>
            </a:endParaRPr>
          </a:p>
        </p:txBody>
      </p:sp>
      <p:pic>
        <p:nvPicPr>
          <p:cNvPr id="11" name="그림 10">
            <a:extLst>
              <a:ext uri="{FF2B5EF4-FFF2-40B4-BE49-F238E27FC236}">
                <a16:creationId xmlns:a16="http://schemas.microsoft.com/office/drawing/2014/main" id="{93D23CB8-B87C-5174-E7D7-B7E582AFE3B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0318" b="5108"/>
          <a:stretch>
            <a:fillRect/>
          </a:stretch>
        </p:blipFill>
        <p:spPr>
          <a:xfrm>
            <a:off x="0" y="1214583"/>
            <a:ext cx="12192000" cy="56434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70091881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21F48F-D69F-57A7-F0E6-AB130F275A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DFE70AF0-DCDB-AF43-DD02-A5D7331EBC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t>27</a:t>
            </a:r>
          </a:p>
        </p:txBody>
      </p:sp>
      <p:cxnSp>
        <p:nvCxnSpPr>
          <p:cNvPr id="3" name="직선 연결선 2">
            <a:extLst>
              <a:ext uri="{FF2B5EF4-FFF2-40B4-BE49-F238E27FC236}">
                <a16:creationId xmlns:a16="http://schemas.microsoft.com/office/drawing/2014/main" id="{56AE13C3-A697-FE3D-8501-AC6A786B8281}"/>
              </a:ext>
            </a:extLst>
          </p:cNvPr>
          <p:cNvCxnSpPr>
            <a:cxnSpLocks/>
          </p:cNvCxnSpPr>
          <p:nvPr/>
        </p:nvCxnSpPr>
        <p:spPr>
          <a:xfrm>
            <a:off x="0" y="1136073"/>
            <a:ext cx="12192000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D68753FF-E7A8-B06D-349C-D490229905F0}"/>
              </a:ext>
            </a:extLst>
          </p:cNvPr>
          <p:cNvSpPr txBox="1"/>
          <p:nvPr/>
        </p:nvSpPr>
        <p:spPr>
          <a:xfrm>
            <a:off x="321230" y="208112"/>
            <a:ext cx="912756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4000" b="1" dirty="0">
                <a:solidFill>
                  <a:srgbClr val="333F70"/>
                </a:solidFill>
                <a:latin typeface="맑은 고딕" panose="020B0503020000020004" pitchFamily="50" charset="-127"/>
                <a:cs typeface="ADLaM Display" panose="02010000000000000000" pitchFamily="2" charset="0"/>
              </a:rPr>
              <a:t>Appendix – </a:t>
            </a:r>
            <a:r>
              <a:rPr lang="ko-KR" altLang="en-US" sz="3200" b="1" dirty="0">
                <a:solidFill>
                  <a:srgbClr val="333F70"/>
                </a:solidFill>
                <a:latin typeface="맑은 고딕" panose="020B0503020000020004" pitchFamily="50" charset="-127"/>
                <a:cs typeface="ADLaM Display" panose="02010000000000000000" pitchFamily="2" charset="0"/>
              </a:rPr>
              <a:t>경로 최적화</a:t>
            </a:r>
            <a:r>
              <a:rPr lang="en-US" altLang="ko-KR" sz="3200" b="1" dirty="0">
                <a:solidFill>
                  <a:srgbClr val="333F70"/>
                </a:solidFill>
                <a:latin typeface="맑은 고딕" panose="020B0503020000020004" pitchFamily="50" charset="-127"/>
                <a:cs typeface="ADLaM Display" panose="02010000000000000000" pitchFamily="2" charset="0"/>
              </a:rPr>
              <a:t> &amp; </a:t>
            </a:r>
            <a:r>
              <a:rPr lang="ko-KR" altLang="en-US" sz="3200" b="1" dirty="0">
                <a:solidFill>
                  <a:srgbClr val="333F70"/>
                </a:solidFill>
                <a:latin typeface="맑은 고딕" panose="020B0503020000020004" pitchFamily="50" charset="-127"/>
                <a:cs typeface="ADLaM Display" panose="02010000000000000000" pitchFamily="2" charset="0"/>
              </a:rPr>
              <a:t>명소 큐레이션 </a:t>
            </a:r>
            <a:endParaRPr lang="en-US" altLang="ko-KR" sz="3200" b="1" dirty="0">
              <a:solidFill>
                <a:srgbClr val="333F70"/>
              </a:solidFill>
              <a:latin typeface="맑은 고딕" panose="020B0503020000020004" pitchFamily="50" charset="-127"/>
              <a:cs typeface="ADLaM Display" panose="02010000000000000000" pitchFamily="2" charset="0"/>
            </a:endParaRP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DE060173-033A-FB07-76C0-48C4803E91F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0135" b="4409"/>
          <a:stretch>
            <a:fillRect/>
          </a:stretch>
        </p:blipFill>
        <p:spPr>
          <a:xfrm>
            <a:off x="0" y="1155702"/>
            <a:ext cx="12192000" cy="57022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67463471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179375-0449-925C-1137-2BD7FA1B03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5EDA1F8E-3A9F-7B3B-CD3D-EC6F9E2C73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t>28</a:t>
            </a:r>
          </a:p>
        </p:txBody>
      </p:sp>
      <p:cxnSp>
        <p:nvCxnSpPr>
          <p:cNvPr id="3" name="직선 연결선 2">
            <a:extLst>
              <a:ext uri="{FF2B5EF4-FFF2-40B4-BE49-F238E27FC236}">
                <a16:creationId xmlns:a16="http://schemas.microsoft.com/office/drawing/2014/main" id="{7632F1A4-CDC3-00CA-4657-FF293E767BA8}"/>
              </a:ext>
            </a:extLst>
          </p:cNvPr>
          <p:cNvCxnSpPr>
            <a:cxnSpLocks/>
          </p:cNvCxnSpPr>
          <p:nvPr/>
        </p:nvCxnSpPr>
        <p:spPr>
          <a:xfrm>
            <a:off x="0" y="1136073"/>
            <a:ext cx="12192000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1CF92082-BEEB-7703-34C6-941C161CA0A0}"/>
              </a:ext>
            </a:extLst>
          </p:cNvPr>
          <p:cNvSpPr txBox="1"/>
          <p:nvPr/>
        </p:nvSpPr>
        <p:spPr>
          <a:xfrm>
            <a:off x="321230" y="208112"/>
            <a:ext cx="912756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4000" b="1" dirty="0">
                <a:solidFill>
                  <a:srgbClr val="333F70"/>
                </a:solidFill>
                <a:latin typeface="맑은 고딕" panose="020B0503020000020004" pitchFamily="50" charset="-127"/>
                <a:cs typeface="ADLaM Display" panose="02010000000000000000" pitchFamily="2" charset="0"/>
              </a:rPr>
              <a:t>Appendix – </a:t>
            </a:r>
            <a:r>
              <a:rPr lang="en-US" altLang="ko-KR" sz="3200" b="1" dirty="0">
                <a:solidFill>
                  <a:srgbClr val="333F70"/>
                </a:solidFill>
                <a:latin typeface="맑은 고딕" panose="020B0503020000020004" pitchFamily="50" charset="-127"/>
                <a:cs typeface="ADLaM Display" panose="02010000000000000000" pitchFamily="2" charset="0"/>
              </a:rPr>
              <a:t>AI </a:t>
            </a:r>
            <a:r>
              <a:rPr lang="ko-KR" altLang="en-US" sz="3200" b="1" dirty="0" err="1">
                <a:solidFill>
                  <a:srgbClr val="333F70"/>
                </a:solidFill>
                <a:latin typeface="맑은 고딕" panose="020B0503020000020004" pitchFamily="50" charset="-127"/>
                <a:cs typeface="ADLaM Display" panose="02010000000000000000" pitchFamily="2" charset="0"/>
              </a:rPr>
              <a:t>플래너</a:t>
            </a:r>
            <a:r>
              <a:rPr lang="ko-KR" altLang="en-US" sz="3200" b="1" dirty="0">
                <a:solidFill>
                  <a:srgbClr val="333F70"/>
                </a:solidFill>
                <a:latin typeface="맑은 고딕" panose="020B0503020000020004" pitchFamily="50" charset="-127"/>
                <a:cs typeface="ADLaM Display" panose="02010000000000000000" pitchFamily="2" charset="0"/>
              </a:rPr>
              <a:t> </a:t>
            </a:r>
            <a:r>
              <a:rPr lang="en-US" altLang="ko-KR" sz="3200" b="1" dirty="0">
                <a:solidFill>
                  <a:srgbClr val="333F70"/>
                </a:solidFill>
                <a:latin typeface="맑은 고딕" panose="020B0503020000020004" pitchFamily="50" charset="-127"/>
                <a:cs typeface="ADLaM Display" panose="02010000000000000000" pitchFamily="2" charset="0"/>
              </a:rPr>
              <a:t>&amp; </a:t>
            </a:r>
            <a:r>
              <a:rPr lang="ko-KR" altLang="en-US" sz="3200" b="1" dirty="0">
                <a:solidFill>
                  <a:srgbClr val="333F70"/>
                </a:solidFill>
                <a:latin typeface="맑은 고딕" panose="020B0503020000020004" pitchFamily="50" charset="-127"/>
                <a:cs typeface="ADLaM Display" panose="02010000000000000000" pitchFamily="2" charset="0"/>
              </a:rPr>
              <a:t>지능형 취향 매핑</a:t>
            </a:r>
            <a:endParaRPr lang="en-US" altLang="ko-KR" sz="4000" b="1" dirty="0">
              <a:solidFill>
                <a:srgbClr val="333F70"/>
              </a:solidFill>
              <a:latin typeface="맑은 고딕" panose="020B0503020000020004" pitchFamily="50" charset="-127"/>
              <a:cs typeface="ADLaM Display" panose="02010000000000000000" pitchFamily="2" charset="0"/>
            </a:endParaRP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9211B339-FFFC-CBEA-9960-3C9D6852EC2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0842" b="5225"/>
          <a:stretch>
            <a:fillRect/>
          </a:stretch>
        </p:blipFill>
        <p:spPr>
          <a:xfrm>
            <a:off x="0" y="1257300"/>
            <a:ext cx="12192000" cy="5600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09495231"/>
      </p:ext>
    </p:extLst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36811" y="182562"/>
            <a:ext cx="2743200" cy="36512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2400" b="0">
                <a:solidFill>
                  <a:srgbClr val="475569"/>
                </a:solidFill>
                <a:latin typeface="Malgun Gothic"/>
              </a:defRPr>
            </a:pPr>
            <a:r>
              <a:t>8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0" y="1136073"/>
            <a:ext cx="12192000" cy="0"/>
          </a:xfrm>
          <a:prstGeom prst="line">
            <a:avLst/>
          </a:prstGeom>
          <a:ln w="19050">
            <a:solidFill>
              <a:srgbClr val="223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321231" y="208112"/>
            <a:ext cx="6500000" cy="70788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800" b="1">
                <a:solidFill>
                  <a:srgbClr val="223B6B"/>
                </a:solidFill>
                <a:latin typeface="Malgun Gothic"/>
              </a:defRPr>
            </a:pPr>
            <a:r>
              <a:t>BackEnd – 여행 경로 생성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64358" y="1197015"/>
            <a:ext cx="6500000" cy="49449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800" b="1">
                <a:solidFill>
                  <a:srgbClr val="475569"/>
                </a:solidFill>
                <a:latin typeface="Malgun Gothic"/>
              </a:defRPr>
            </a:pPr>
            <a:r>
              <a:t>OpenRouteService 연동 및 타임라인 선형 보간 알고리즘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64358" y="1850000"/>
            <a:ext cx="4200000" cy="1300000"/>
          </a:xfrm>
          <a:prstGeom prst="roundRect">
            <a:avLst/>
          </a:prstGeom>
          <a:solidFill>
            <a:srgbClr val="DDF8F2"/>
          </a:solidFill>
          <a:ln w="19050">
            <a:solidFill>
              <a:srgbClr val="5EEA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l">
              <a:defRPr sz="1600" b="1">
                <a:solidFill>
                  <a:srgbClr val="064E3B"/>
                </a:solidFill>
                <a:latin typeface="Malgun Gothic"/>
              </a:defRPr>
            </a:pPr>
            <a:r>
              <a:t>1단계 : 24h 캐시 및 ORS 엔진 연동</a:t>
            </a:r>
          </a:p>
          <a:p>
            <a:pPr algn="ctr">
              <a:defRPr sz="400" b="0">
                <a:solidFill>
                  <a:srgbClr val="0F172A"/>
                </a:solidFill>
                <a:latin typeface="Malgun Gothic"/>
              </a:defRPr>
            </a:pPr>
          </a:p>
          <a:p>
            <a:pPr algn="l">
              <a:defRPr sz="1300" b="0">
                <a:solidFill>
                  <a:srgbClr val="0F172A"/>
                </a:solidFill>
                <a:latin typeface="Malgun Gothic"/>
              </a:defRPr>
            </a:pPr>
            <a:r>
              <a:t>• 출발·도착 좌표 SHA-256 해시 키 검증으로 캐시 히트(10ms)</a:t>
            </a:r>
          </a:p>
          <a:p>
            <a:pPr algn="l">
              <a:defRPr sz="1300" b="0">
                <a:solidFill>
                  <a:srgbClr val="0F172A"/>
                </a:solidFill>
                <a:latin typeface="Malgun Gothic"/>
              </a:defRPr>
            </a:pPr>
            <a:r>
              <a:t>• 캐시 미스 시 OpenRouteService 호출 (호출량 85% 절감)</a:t>
            </a:r>
          </a:p>
          <a:p>
            <a:pPr algn="l">
              <a:defRPr sz="1200" b="0">
                <a:solidFill>
                  <a:srgbClr val="475569"/>
                </a:solidFill>
                <a:latin typeface="Malgun Gothic"/>
              </a:defRPr>
            </a:pPr>
            <a:r>
              <a:t>• 권장 경로(Driving-Car) 및 최단 대안 경로 동시 산출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64358" y="3350000"/>
            <a:ext cx="4200000" cy="1300000"/>
          </a:xfrm>
          <a:prstGeom prst="roundRect">
            <a:avLst/>
          </a:prstGeom>
          <a:solidFill>
            <a:srgbClr val="A2ECDC"/>
          </a:solidFill>
          <a:ln w="19050">
            <a:solidFill>
              <a:srgbClr val="2DD4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l">
              <a:defRPr sz="1600" b="1">
                <a:solidFill>
                  <a:srgbClr val="115E59"/>
                </a:solidFill>
                <a:latin typeface="Malgun Gothic"/>
              </a:defRPr>
            </a:pPr>
            <a:r>
              <a:t>2단계 : GeoJSON 도로 궤적 수집</a:t>
            </a:r>
          </a:p>
          <a:p>
            <a:pPr algn="ctr">
              <a:defRPr sz="400" b="0">
                <a:solidFill>
                  <a:srgbClr val="0F172A"/>
                </a:solidFill>
                <a:latin typeface="Malgun Gothic"/>
              </a:defRPr>
            </a:pPr>
          </a:p>
          <a:p>
            <a:pPr algn="l">
              <a:defRPr sz="1300" b="0">
                <a:solidFill>
                  <a:srgbClr val="0F172A"/>
                </a:solidFill>
                <a:latin typeface="Malgun Gothic"/>
              </a:defRPr>
            </a:pPr>
            <a:r>
              <a:t>• 수천 개의 도로 곡면 위·경도 좌표열(LineString) 수신</a:t>
            </a:r>
          </a:p>
          <a:p>
            <a:pPr algn="l">
              <a:defRPr sz="1300" b="0">
                <a:solidFill>
                  <a:srgbClr val="0F172A"/>
                </a:solidFill>
                <a:latin typeface="Malgun Gothic"/>
              </a:defRPr>
            </a:pPr>
            <a:r>
              <a:t>• 프론트엔드 Leaflet 지도 라이브러리와 실시간 바인딩</a:t>
            </a:r>
          </a:p>
          <a:p>
            <a:pPr algn="l">
              <a:defRPr sz="1200" b="0">
                <a:solidFill>
                  <a:srgbClr val="475569"/>
                </a:solidFill>
                <a:latin typeface="Malgun Gothic"/>
              </a:defRPr>
            </a:pPr>
            <a:r>
              <a:t>• 실제 고속도로/국도 형상 그대로 매끄러운 궤적 표출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64358" y="4850000"/>
            <a:ext cx="4200000" cy="1500000"/>
          </a:xfrm>
          <a:prstGeom prst="roundRect">
            <a:avLst/>
          </a:prstGeom>
          <a:solidFill>
            <a:srgbClr val="DDF8F2"/>
          </a:solidFill>
          <a:ln w="19050">
            <a:solidFill>
              <a:srgbClr val="5EEA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l">
              <a:defRPr sz="1600" b="1">
                <a:solidFill>
                  <a:srgbClr val="064E3B"/>
                </a:solidFill>
                <a:latin typeface="Malgun Gothic"/>
              </a:defRPr>
            </a:pPr>
            <a:r>
              <a:t>3단계 : 타임라인 선형 보간 (Linear Interpolation)</a:t>
            </a:r>
          </a:p>
          <a:p>
            <a:pPr algn="ctr">
              <a:defRPr sz="400" b="0">
                <a:solidFill>
                  <a:srgbClr val="0F172A"/>
                </a:solidFill>
                <a:latin typeface="Malgun Gothic"/>
              </a:defRPr>
            </a:pPr>
          </a:p>
          <a:p>
            <a:pPr algn="l">
              <a:defRPr sz="1300" b="0">
                <a:solidFill>
                  <a:srgbClr val="0F172A"/>
                </a:solidFill>
                <a:latin typeface="Malgun Gothic"/>
              </a:defRPr>
            </a:pPr>
            <a:r>
              <a:t>• 도로 구간별 소요 시간(timeSpans)을 누적 합산</a:t>
            </a:r>
          </a:p>
          <a:p>
            <a:pPr algn="l">
              <a:defRPr sz="1300" b="0">
                <a:solidFill>
                  <a:srgbClr val="0F172A"/>
                </a:solidFill>
                <a:latin typeface="Malgun Gothic"/>
              </a:defRPr>
            </a:pPr>
            <a:r>
              <a:t>• 비례식(alpha)으로 특정 시점(예: 12:30 점심) 통과 지점 역산</a:t>
            </a:r>
          </a:p>
          <a:p>
            <a:pPr algn="l">
              <a:defRPr sz="1200" b="0">
                <a:solidFill>
                  <a:srgbClr val="475569"/>
                </a:solidFill>
                <a:latin typeface="Malgun Gothic"/>
              </a:defRPr>
            </a:pPr>
            <a:r>
              <a:t>• 길목 맛집 및 휴게소 추천의 정확한 위경도 기준점 제공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100000" y="1850000"/>
            <a:ext cx="6427642" cy="450000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l">
              <a:defRPr sz="1300" b="1">
                <a:solidFill>
                  <a:srgbClr val="0D9488"/>
                </a:solidFill>
                <a:latin typeface="Malgun Gothic"/>
              </a:defRPr>
            </a:pPr>
            <a:r>
              <a:t>/* timeline-calculator.ts — 선형 보간 좌표 역산 */</a:t>
            </a:r>
          </a:p>
          <a:p>
            <a:pPr algn="ctr">
              <a:defRPr sz="400" b="0">
                <a:solidFill>
                  <a:srgbClr val="0F172A"/>
                </a:solidFill>
                <a:latin typeface="Malgun Gothic"/>
              </a:defRPr>
            </a:pPr>
          </a:p>
          <a:p>
            <a:pPr algn="l">
              <a:defRPr sz="1400" b="1">
                <a:solidFill>
                  <a:srgbClr val="223B6B"/>
                </a:solidFill>
                <a:latin typeface="Malgun Gothic"/>
              </a:defRPr>
            </a:pPr>
            <a:r>
              <a:t>export function findCoordinateAtElapsedSeconds(</a:t>
            </a:r>
          </a:p>
          <a:p>
            <a:pPr algn="l">
              <a:defRPr sz="1300" b="0">
                <a:solidFill>
                  <a:srgbClr val="0F172A"/>
                </a:solidFill>
                <a:latin typeface="Malgun Gothic"/>
              </a:defRPr>
            </a:pPr>
            <a:r>
              <a:t>coordinates: Coordinate[], timeSpans: TimeSpan[],</a:t>
            </a:r>
          </a:p>
          <a:p>
            <a:pPr algn="l">
              <a:defRPr sz="1300" b="0">
                <a:solidFill>
                  <a:srgbClr val="0F172A"/>
                </a:solidFill>
                <a:latin typeface="Malgun Gothic"/>
              </a:defRPr>
            </a:pPr>
            <a:r>
              <a:t>totalDuration: number, elapsedSeconds: number</a:t>
            </a:r>
          </a:p>
          <a:p>
            <a:pPr algn="l">
              <a:defRPr sz="1400" b="1">
                <a:solidFill>
                  <a:srgbClr val="223B6B"/>
                </a:solidFill>
                <a:latin typeface="Malgun Gothic"/>
              </a:defRPr>
            </a:pPr>
            <a:r>
              <a:t>): Coordinate {</a:t>
            </a:r>
          </a:p>
          <a:p>
            <a:pPr algn="l">
              <a:defRPr sz="1300" b="0">
                <a:solidFill>
                  <a:srgbClr val="0F172A"/>
                </a:solidFill>
                <a:latin typeface="Malgun Gothic"/>
              </a:defRPr>
            </a:pPr>
            <a:r>
              <a:t>let cumulative = 0;</a:t>
            </a:r>
          </a:p>
          <a:p>
            <a:pPr algn="l">
              <a:defRPr sz="1300" b="0">
                <a:solidFill>
                  <a:srgbClr val="0F172A"/>
                </a:solidFill>
                <a:latin typeface="Malgun Gothic"/>
              </a:defRPr>
            </a:pPr>
            <a:r>
              <a:t>for (const span of timeSpans) {</a:t>
            </a:r>
          </a:p>
          <a:p>
            <a:pPr algn="l">
              <a:defRPr sz="1300" b="0">
                <a:solidFill>
                  <a:srgbClr val="0F172A"/>
                </a:solidFill>
                <a:latin typeface="Malgun Gothic"/>
              </a:defRPr>
            </a:pPr>
            <a:r>
              <a:t>const prev = cumulative;</a:t>
            </a:r>
          </a:p>
          <a:p>
            <a:pPr algn="l">
              <a:defRPr sz="1300" b="0">
                <a:solidFill>
                  <a:srgbClr val="0F172A"/>
                </a:solidFill>
                <a:latin typeface="Malgun Gothic"/>
              </a:defRPr>
            </a:pPr>
            <a:r>
              <a:t>cumulative += span.durationSeconds;</a:t>
            </a:r>
          </a:p>
          <a:p>
            <a:pPr algn="l">
              <a:defRPr sz="1300" b="1">
                <a:solidFill>
                  <a:srgbClr val="064E3B"/>
                </a:solidFill>
                <a:latin typeface="Malgun Gothic"/>
              </a:defRPr>
            </a:pPr>
            <a:r>
              <a:t>if (cumulative &gt;= elapsedSeconds) {</a:t>
            </a:r>
          </a:p>
          <a:p>
            <a:pPr algn="l">
              <a:defRPr sz="1200" b="0">
                <a:solidFill>
                  <a:srgbClr val="475569"/>
                </a:solidFill>
                <a:latin typeface="Malgun Gothic"/>
              </a:defRPr>
            </a:pPr>
            <a:r>
              <a:t>// 비례 계수(alpha) 계산</a:t>
            </a:r>
          </a:p>
          <a:p>
            <a:pPr algn="l">
              <a:defRPr sz="1300" b="1">
                <a:solidFill>
                  <a:srgbClr val="B45309"/>
                </a:solidFill>
                <a:latin typeface="Malgun Gothic"/>
              </a:defRPr>
            </a:pPr>
            <a:r>
              <a:t>const alpha = (elapsedSeconds - prev) / span.durationSeconds;</a:t>
            </a:r>
          </a:p>
          <a:p>
            <a:pPr algn="l">
              <a:defRPr sz="1300" b="0">
                <a:solidFill>
                  <a:srgbClr val="0F172A"/>
                </a:solidFill>
                <a:latin typeface="Malgun Gothic"/>
              </a:defRPr>
            </a:pPr>
            <a:r>
              <a:t>const pFrom = coordinates[span.fromIndex];</a:t>
            </a:r>
          </a:p>
          <a:p>
            <a:pPr algn="l">
              <a:defRPr sz="1300" b="0">
                <a:solidFill>
                  <a:srgbClr val="0F172A"/>
                </a:solidFill>
                <a:latin typeface="Malgun Gothic"/>
              </a:defRPr>
            </a:pPr>
            <a:r>
              <a:t>const pTo   = coordinates[span.toIndex];</a:t>
            </a:r>
          </a:p>
          <a:p>
            <a:pPr algn="l">
              <a:defRPr sz="1200" b="0">
                <a:solidFill>
                  <a:srgbClr val="475569"/>
                </a:solidFill>
                <a:latin typeface="Malgun Gothic"/>
              </a:defRPr>
            </a:pPr>
            <a:r>
              <a:t>// 위도·경도 선형 보간</a:t>
            </a:r>
          </a:p>
          <a:p>
            <a:pPr algn="l">
              <a:defRPr sz="1300" b="1">
                <a:solidFill>
                  <a:srgbClr val="047857"/>
                </a:solidFill>
                <a:latin typeface="Malgun Gothic"/>
              </a:defRPr>
            </a:pPr>
            <a:r>
              <a:t>const lon = pFrom[0] + alpha * (pTo[0] - pFrom[0]);</a:t>
            </a:r>
          </a:p>
          <a:p>
            <a:pPr algn="l">
              <a:defRPr sz="1300" b="1">
                <a:solidFill>
                  <a:srgbClr val="047857"/>
                </a:solidFill>
                <a:latin typeface="Malgun Gothic"/>
              </a:defRPr>
            </a:pPr>
            <a:r>
              <a:t>const lat = pFrom[1] + alpha * (pTo[1] - pFrom[1]);</a:t>
            </a:r>
          </a:p>
          <a:p>
            <a:pPr algn="l">
              <a:defRPr sz="1300" b="0">
                <a:solidFill>
                  <a:srgbClr val="0F172A"/>
                </a:solidFill>
                <a:latin typeface="Malgun Gothic"/>
              </a:defRPr>
            </a:pPr>
            <a:r>
              <a:t>return [round(lon, 7), round(lat, 7)];</a:t>
            </a:r>
          </a:p>
          <a:p>
            <a:pPr algn="l">
              <a:defRPr sz="1300" b="0">
                <a:solidFill>
                  <a:srgbClr val="0F172A"/>
                </a:solidFill>
                <a:latin typeface="Malgun Gothic"/>
              </a:defRPr>
            </a:pPr>
            <a:r>
              <a:t>}</a:t>
            </a:r>
          </a:p>
          <a:p>
            <a:pPr algn="l">
              <a:defRPr sz="1300" b="0">
                <a:solidFill>
                  <a:srgbClr val="0F172A"/>
                </a:solidFill>
                <a:latin typeface="Malgun Gothic"/>
              </a:defRPr>
            </a:pPr>
            <a:r>
              <a:t>}</a:t>
            </a:r>
          </a:p>
          <a:p>
            <a:pPr algn="l">
              <a:defRPr sz="1300" b="0">
                <a:solidFill>
                  <a:srgbClr val="0F172A"/>
                </a:solidFill>
                <a:latin typeface="Malgun Gothic"/>
              </a:defRPr>
            </a:pPr>
            <a:r>
              <a:t>return coordinates[coordinates.length - 1];</a:t>
            </a:r>
          </a:p>
          <a:p>
            <a:pPr algn="l">
              <a:defRPr sz="1400" b="1">
                <a:solidFill>
                  <a:srgbClr val="223B6B"/>
                </a:solidFill>
                <a:latin typeface="Malgun Gothic"/>
              </a:defRPr>
            </a:pPr>
            <a:r>
              <a:t>}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36811" y="182562"/>
            <a:ext cx="2743200" cy="36512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2400" b="0">
                <a:solidFill>
                  <a:srgbClr val="475569"/>
                </a:solidFill>
                <a:latin typeface="Malgun Gothic"/>
              </a:defRPr>
            </a:pPr>
            <a:r>
              <a:t>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0" y="1136073"/>
            <a:ext cx="12192000" cy="0"/>
          </a:xfrm>
          <a:prstGeom prst="line">
            <a:avLst/>
          </a:prstGeom>
          <a:ln w="19050">
            <a:solidFill>
              <a:srgbClr val="223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321231" y="208112"/>
            <a:ext cx="6500000" cy="70788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800" b="1">
                <a:solidFill>
                  <a:srgbClr val="223B6B"/>
                </a:solidFill>
                <a:latin typeface="Malgun Gothic"/>
              </a:defRPr>
            </a:pPr>
            <a:r>
              <a:t>BackEnd – 여행지 추천 로직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64358" y="1197015"/>
            <a:ext cx="6500000" cy="49449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800" b="1">
                <a:solidFill>
                  <a:srgbClr val="475569"/>
                </a:solidFill>
                <a:latin typeface="Malgun Gothic"/>
              </a:defRPr>
            </a:pPr>
            <a:r>
              <a:t>Multi-stage Spot Filtering &amp; AI Curation Architecture</a:t>
            </a:r>
          </a:p>
        </p:txBody>
      </p:sp>
      <p:sp>
        <p:nvSpPr>
          <p:cNvPr id="6" name="Rectangle 5"/>
          <p:cNvSpPr/>
          <p:nvPr/>
        </p:nvSpPr>
        <p:spPr>
          <a:xfrm>
            <a:off x="5050000" y="1950000"/>
            <a:ext cx="19050" cy="3450000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00000" y="2180000"/>
            <a:ext cx="580000" cy="3150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ctr">
              <a:defRPr sz="1600" b="1">
                <a:solidFill>
                  <a:srgbClr val="0F172A"/>
                </a:solidFill>
                <a:latin typeface="Malgun Gothic"/>
              </a:defRPr>
            </a:pPr>
            <a:r>
              <a:t>경</a:t>
            </a:r>
          </a:p>
          <a:p>
            <a:pPr algn="ctr">
              <a:defRPr sz="1600" b="1">
                <a:solidFill>
                  <a:srgbClr val="0F172A"/>
                </a:solidFill>
                <a:latin typeface="Malgun Gothic"/>
              </a:defRPr>
            </a:pPr>
            <a:r>
              <a:t>로</a:t>
            </a:r>
          </a:p>
          <a:p>
            <a:pPr algn="ctr">
              <a:defRPr sz="1600" b="1">
                <a:solidFill>
                  <a:srgbClr val="0F172A"/>
                </a:solidFill>
                <a:latin typeface="Malgun Gothic"/>
              </a:defRPr>
            </a:pPr>
            <a:r>
              <a:t>좌</a:t>
            </a:r>
          </a:p>
          <a:p>
            <a:pPr algn="ctr">
              <a:defRPr sz="1600" b="1">
                <a:solidFill>
                  <a:srgbClr val="0F172A"/>
                </a:solidFill>
                <a:latin typeface="Malgun Gothic"/>
              </a:defRPr>
            </a:pPr>
            <a:r>
              <a:t>표</a:t>
            </a:r>
          </a:p>
          <a:p>
            <a:pPr algn="ctr">
              <a:defRPr sz="1600" b="1">
                <a:solidFill>
                  <a:srgbClr val="0F172A"/>
                </a:solidFill>
                <a:latin typeface="Malgun Gothic"/>
              </a:defRPr>
            </a:pPr>
            <a:r>
              <a:t>열</a:t>
            </a:r>
          </a:p>
          <a:p>
            <a:pPr algn="ctr">
              <a:defRPr sz="400" b="0">
                <a:solidFill>
                  <a:srgbClr val="0F172A"/>
                </a:solidFill>
                <a:latin typeface="Malgun Gothic"/>
              </a:defRPr>
            </a:pPr>
          </a:p>
          <a:p>
            <a:pPr algn="ctr">
              <a:defRPr sz="1100" b="0">
                <a:solidFill>
                  <a:srgbClr val="475569"/>
                </a:solidFill>
                <a:latin typeface="Malgun Gothic"/>
              </a:defRPr>
            </a:pPr>
            <a:r>
              <a:t>(GeoJSON)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1090000" y="3755000"/>
            <a:ext cx="390000" cy="0"/>
          </a:xfrm>
          <a:prstGeom prst="line">
            <a:avLst/>
          </a:prstGeom>
          <a:ln w="31750">
            <a:solidFill>
              <a:srgbClr val="0D948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1500000" y="2180000"/>
            <a:ext cx="2050000" cy="1460000"/>
          </a:xfrm>
          <a:prstGeom prst="roundRect">
            <a:avLst/>
          </a:prstGeom>
          <a:solidFill>
            <a:srgbClr val="DDF8F2"/>
          </a:solidFill>
          <a:ln w="19050">
            <a:solidFill>
              <a:srgbClr val="5EEA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ctr">
              <a:defRPr sz="1600" b="1">
                <a:solidFill>
                  <a:srgbClr val="064E3B"/>
                </a:solidFill>
                <a:latin typeface="Malgun Gothic"/>
              </a:defRPr>
            </a:pPr>
            <a:r>
              <a:t>RouteProximity 평면 투영</a:t>
            </a:r>
          </a:p>
          <a:p>
            <a:pPr algn="ctr">
              <a:defRPr sz="400" b="0">
                <a:solidFill>
                  <a:srgbClr val="0F172A"/>
                </a:solidFill>
                <a:latin typeface="Malgun Gothic"/>
              </a:defRPr>
            </a:pPr>
          </a:p>
          <a:p>
            <a:pPr algn="ctr">
              <a:defRPr sz="1200" b="0">
                <a:solidFill>
                  <a:srgbClr val="475569"/>
                </a:solidFill>
                <a:latin typeface="Malgun Gothic"/>
              </a:defRPr>
            </a:pPr>
            <a:r>
              <a:t>(Equirectangular Projection)</a:t>
            </a:r>
          </a:p>
          <a:p>
            <a:pPr algn="ctr">
              <a:defRPr sz="1200" b="0">
                <a:solidFill>
                  <a:srgbClr val="047857"/>
                </a:solidFill>
                <a:latin typeface="Malgun Gothic"/>
              </a:defRPr>
            </a:pPr>
            <a:r>
              <a:t>곡면 위경도를 직교 지역 평면 변환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500000" y="3870000"/>
            <a:ext cx="2050000" cy="1460000"/>
          </a:xfrm>
          <a:prstGeom prst="roundRect">
            <a:avLst/>
          </a:prstGeom>
          <a:solidFill>
            <a:srgbClr val="A2ECDC"/>
          </a:solidFill>
          <a:ln w="19050">
            <a:solidFill>
              <a:srgbClr val="2DD4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ctr">
              <a:defRPr sz="1600" b="1">
                <a:solidFill>
                  <a:srgbClr val="115E59"/>
                </a:solidFill>
                <a:latin typeface="Malgun Gothic"/>
              </a:defRPr>
            </a:pPr>
            <a:r>
              <a:t>공간 그리드 인덱싱</a:t>
            </a:r>
          </a:p>
          <a:p>
            <a:pPr algn="ctr">
              <a:defRPr sz="400" b="0">
                <a:solidFill>
                  <a:srgbClr val="0F172A"/>
                </a:solidFill>
                <a:latin typeface="Malgun Gothic"/>
              </a:defRPr>
            </a:pPr>
          </a:p>
          <a:p>
            <a:pPr algn="ctr">
              <a:defRPr sz="1300" b="0">
                <a:solidFill>
                  <a:srgbClr val="475569"/>
                </a:solidFill>
                <a:latin typeface="Malgun Gothic"/>
              </a:defRPr>
            </a:pPr>
            <a:r>
              <a:t>(Spatial Grid Index)</a:t>
            </a:r>
          </a:p>
          <a:p>
            <a:pPr algn="ctr">
              <a:defRPr sz="1200" b="0">
                <a:solidFill>
                  <a:srgbClr val="0D9488"/>
                </a:solidFill>
                <a:latin typeface="Malgun Gothic"/>
              </a:defRPr>
            </a:pPr>
            <a:r>
              <a:t>도로변 5km 이내 후보군 30ms 추출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3560000" y="3755000"/>
            <a:ext cx="390000" cy="0"/>
          </a:xfrm>
          <a:prstGeom prst="line">
            <a:avLst/>
          </a:prstGeom>
          <a:ln w="31750">
            <a:solidFill>
              <a:srgbClr val="0D948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3970000" y="2180000"/>
            <a:ext cx="950000" cy="3150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ctr">
              <a:defRPr sz="1550" b="1">
                <a:solidFill>
                  <a:srgbClr val="0F172A"/>
                </a:solidFill>
                <a:latin typeface="Malgun Gothic"/>
              </a:defRPr>
            </a:pPr>
            <a:r>
              <a:t>반경 5km</a:t>
            </a:r>
          </a:p>
          <a:p>
            <a:pPr algn="ctr">
              <a:defRPr sz="1550" b="1">
                <a:solidFill>
                  <a:srgbClr val="0F172A"/>
                </a:solidFill>
                <a:latin typeface="Malgun Gothic"/>
              </a:defRPr>
            </a:pPr>
            <a:r>
              <a:t>후보</a:t>
            </a:r>
          </a:p>
          <a:p>
            <a:pPr algn="ctr">
              <a:defRPr sz="1550" b="1">
                <a:solidFill>
                  <a:srgbClr val="0F172A"/>
                </a:solidFill>
                <a:latin typeface="Malgun Gothic"/>
              </a:defRPr>
            </a:pPr>
            <a:r>
              <a:t>장소군</a:t>
            </a:r>
          </a:p>
          <a:p>
            <a:pPr algn="ctr">
              <a:defRPr sz="400" b="0">
                <a:solidFill>
                  <a:srgbClr val="0F172A"/>
                </a:solidFill>
                <a:latin typeface="Malgun Gothic"/>
              </a:defRPr>
            </a:pPr>
          </a:p>
          <a:p>
            <a:pPr algn="ctr">
              <a:defRPr sz="1200" b="0">
                <a:solidFill>
                  <a:srgbClr val="475569"/>
                </a:solidFill>
                <a:latin typeface="Malgun Gothic"/>
              </a:defRPr>
            </a:pPr>
            <a:r>
              <a:t>(Places Pool)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00000" y="5450000"/>
            <a:ext cx="3200000" cy="88229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700" b="1">
                <a:solidFill>
                  <a:srgbClr val="0F172A"/>
                </a:solidFill>
                <a:latin typeface="Malgun Gothic"/>
              </a:defRPr>
            </a:pPr>
            <a:r>
              <a:t>Stage 1</a:t>
            </a:r>
          </a:p>
          <a:p>
            <a:pPr algn="ctr">
              <a:defRPr sz="1400" b="0">
                <a:solidFill>
                  <a:srgbClr val="475569"/>
                </a:solidFill>
                <a:latin typeface="Malgun Gothic"/>
              </a:defRPr>
            </a:pPr>
            <a:r>
              <a:t>공간 인덱싱 기반 경로변 5km 후보지 고속 추출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4930000" y="3755000"/>
            <a:ext cx="410000" cy="0"/>
          </a:xfrm>
          <a:prstGeom prst="line">
            <a:avLst/>
          </a:prstGeom>
          <a:ln w="31750">
            <a:solidFill>
              <a:srgbClr val="0D948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5360000" y="2180000"/>
            <a:ext cx="2200000" cy="1460000"/>
          </a:xfrm>
          <a:prstGeom prst="roundRect">
            <a:avLst/>
          </a:prstGeom>
          <a:solidFill>
            <a:srgbClr val="DDF8F2"/>
          </a:solidFill>
          <a:ln w="19050">
            <a:solidFill>
              <a:srgbClr val="5EEA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ctr">
              <a:defRPr sz="1600" b="1">
                <a:solidFill>
                  <a:srgbClr val="064E3B"/>
                </a:solidFill>
                <a:latin typeface="Malgun Gothic"/>
              </a:defRPr>
            </a:pPr>
            <a:r>
              <a:t>TourAPI 4.0 계층 분류</a:t>
            </a:r>
          </a:p>
          <a:p>
            <a:pPr algn="ctr">
              <a:defRPr sz="400" b="0">
                <a:solidFill>
                  <a:srgbClr val="0F172A"/>
                </a:solidFill>
                <a:latin typeface="Malgun Gothic"/>
              </a:defRPr>
            </a:pPr>
          </a:p>
          <a:p>
            <a:pPr algn="ctr">
              <a:defRPr sz="1300" b="0">
                <a:solidFill>
                  <a:srgbClr val="475569"/>
                </a:solidFill>
                <a:latin typeface="Malgun Gothic"/>
              </a:defRPr>
            </a:pPr>
            <a:r>
              <a:t>(관광·숙박·맛집 3단계 트리)</a:t>
            </a:r>
          </a:p>
          <a:p>
            <a:pPr algn="ctr">
              <a:defRPr sz="1200" b="0">
                <a:solidFill>
                  <a:srgbClr val="047857"/>
                </a:solidFill>
                <a:latin typeface="Malgun Gothic"/>
              </a:defRPr>
            </a:pPr>
            <a:r>
              <a:t>ContentTypeId 39/12/32 정밀 선별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360000" y="3870000"/>
            <a:ext cx="2200000" cy="1460000"/>
          </a:xfrm>
          <a:prstGeom prst="roundRect">
            <a:avLst/>
          </a:prstGeom>
          <a:solidFill>
            <a:srgbClr val="A2ECDC"/>
          </a:solidFill>
          <a:ln w="19050">
            <a:solidFill>
              <a:srgbClr val="2DD4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ctr">
              <a:defRPr sz="1600" b="1">
                <a:solidFill>
                  <a:srgbClr val="115E59"/>
                </a:solidFill>
                <a:latin typeface="Malgun Gothic"/>
              </a:defRPr>
            </a:pPr>
            <a:r>
              <a:t>Gemini 2.5 Flash 취향 매핑</a:t>
            </a:r>
          </a:p>
          <a:p>
            <a:pPr algn="ctr">
              <a:defRPr sz="400" b="0">
                <a:solidFill>
                  <a:srgbClr val="0F172A"/>
                </a:solidFill>
                <a:latin typeface="Malgun Gothic"/>
              </a:defRPr>
            </a:pPr>
          </a:p>
          <a:p>
            <a:pPr algn="ctr">
              <a:defRPr sz="1300" b="0">
                <a:solidFill>
                  <a:srgbClr val="475569"/>
                </a:solidFill>
                <a:latin typeface="Malgun Gothic"/>
              </a:defRPr>
            </a:pPr>
            <a:r>
              <a:t>(LLM 지능형 테마 큐레이션)</a:t>
            </a:r>
          </a:p>
          <a:p>
            <a:pPr algn="ctr">
              <a:defRPr sz="1200" b="0">
                <a:solidFill>
                  <a:srgbClr val="0D9488"/>
                </a:solidFill>
                <a:latin typeface="Malgun Gothic"/>
              </a:defRPr>
            </a:pPr>
            <a:r>
              <a:t>여행자 스타일 분석 &amp; 맞춤 선별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7570000" y="3755000"/>
            <a:ext cx="390000" cy="0"/>
          </a:xfrm>
          <a:prstGeom prst="line">
            <a:avLst/>
          </a:prstGeom>
          <a:ln w="31750">
            <a:solidFill>
              <a:srgbClr val="0D948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7980000" y="2180000"/>
            <a:ext cx="2250000" cy="3150000"/>
          </a:xfrm>
          <a:prstGeom prst="roundRect">
            <a:avLst/>
          </a:prstGeom>
          <a:solidFill>
            <a:srgbClr val="DDF8F2"/>
          </a:solidFill>
          <a:ln w="19050">
            <a:solidFill>
              <a:srgbClr val="5EEA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ctr">
              <a:defRPr sz="1700" b="1">
                <a:solidFill>
                  <a:srgbClr val="064E3B"/>
                </a:solidFill>
                <a:latin typeface="Malgun Gothic"/>
              </a:defRPr>
            </a:pPr>
            <a:r>
              <a:t>동선 기반 시간표 조율</a:t>
            </a:r>
          </a:p>
          <a:p>
            <a:pPr algn="ctr">
              <a:defRPr sz="1700" b="1">
                <a:solidFill>
                  <a:srgbClr val="064E3B"/>
                </a:solidFill>
                <a:latin typeface="Malgun Gothic"/>
              </a:defRPr>
            </a:pPr>
            <a:r>
              <a:t>&amp; 1일 6곳 최적화</a:t>
            </a:r>
          </a:p>
          <a:p>
            <a:pPr algn="ctr">
              <a:defRPr sz="400" b="0">
                <a:solidFill>
                  <a:srgbClr val="0F172A"/>
                </a:solidFill>
                <a:latin typeface="Malgun Gothic"/>
              </a:defRPr>
            </a:pPr>
          </a:p>
          <a:p>
            <a:pPr algn="ctr">
              <a:defRPr sz="1300" b="0">
                <a:solidFill>
                  <a:srgbClr val="0F172A"/>
                </a:solidFill>
                <a:latin typeface="Malgun Gothic"/>
              </a:defRPr>
            </a:pPr>
            <a:r>
              <a:t>출발·도착 시간 기준 역산</a:t>
            </a:r>
          </a:p>
          <a:p>
            <a:pPr algn="ctr">
              <a:defRPr sz="400" b="0">
                <a:solidFill>
                  <a:srgbClr val="0F172A"/>
                </a:solidFill>
                <a:latin typeface="Malgun Gothic"/>
              </a:defRPr>
            </a:pPr>
          </a:p>
          <a:p>
            <a:pPr algn="ctr">
              <a:defRPr sz="1300" b="0">
                <a:solidFill>
                  <a:srgbClr val="0F172A"/>
                </a:solidFill>
                <a:latin typeface="Malgun Gothic"/>
              </a:defRPr>
            </a:pPr>
            <a:r>
              <a:t>점심/저녁 09:00~20:00 배치</a:t>
            </a:r>
          </a:p>
          <a:p>
            <a:pPr algn="ctr">
              <a:defRPr sz="400" b="0">
                <a:solidFill>
                  <a:srgbClr val="0F172A"/>
                </a:solidFill>
                <a:latin typeface="Malgun Gothic"/>
              </a:defRPr>
            </a:pPr>
          </a:p>
          <a:p>
            <a:pPr algn="ctr">
              <a:defRPr sz="1300" b="0">
                <a:solidFill>
                  <a:srgbClr val="0F172A"/>
                </a:solidFill>
                <a:latin typeface="Malgun Gothic"/>
              </a:defRPr>
            </a:pPr>
            <a:r>
              <a:t>체류시간 30~180분 정밀 할당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10240000" y="3755000"/>
            <a:ext cx="390000" cy="0"/>
          </a:xfrm>
          <a:prstGeom prst="line">
            <a:avLst/>
          </a:prstGeom>
          <a:ln w="31750">
            <a:solidFill>
              <a:srgbClr val="0D948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10650000" y="2180000"/>
            <a:ext cx="950000" cy="3150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ctr">
              <a:defRPr sz="1600" b="1">
                <a:solidFill>
                  <a:srgbClr val="0F172A"/>
                </a:solidFill>
                <a:latin typeface="Malgun Gothic"/>
              </a:defRPr>
            </a:pPr>
            <a:r>
              <a:t>최종</a:t>
            </a:r>
          </a:p>
          <a:p>
            <a:pPr algn="ctr">
              <a:defRPr sz="1600" b="1">
                <a:solidFill>
                  <a:srgbClr val="0F172A"/>
                </a:solidFill>
                <a:latin typeface="Malgun Gothic"/>
              </a:defRPr>
            </a:pPr>
            <a:r>
              <a:t>여행</a:t>
            </a:r>
          </a:p>
          <a:p>
            <a:pPr algn="ctr">
              <a:defRPr sz="1600" b="1">
                <a:solidFill>
                  <a:srgbClr val="0F172A"/>
                </a:solidFill>
                <a:latin typeface="Malgun Gothic"/>
              </a:defRPr>
            </a:pPr>
            <a:r>
              <a:t>일정</a:t>
            </a:r>
          </a:p>
          <a:p>
            <a:pPr algn="ctr">
              <a:defRPr sz="1600" b="1">
                <a:solidFill>
                  <a:srgbClr val="0F172A"/>
                </a:solidFill>
                <a:latin typeface="Malgun Gothic"/>
              </a:defRPr>
            </a:pPr>
            <a:r>
              <a:t>완성</a:t>
            </a:r>
          </a:p>
          <a:p>
            <a:pPr algn="ctr">
              <a:defRPr sz="400" b="0">
                <a:solidFill>
                  <a:srgbClr val="0F172A"/>
                </a:solidFill>
                <a:latin typeface="Malgun Gothic"/>
              </a:defRPr>
            </a:pPr>
          </a:p>
          <a:p>
            <a:pPr algn="ctr">
              <a:defRPr sz="1250" b="0">
                <a:solidFill>
                  <a:srgbClr val="475569"/>
                </a:solidFill>
                <a:latin typeface="Malgun Gothic"/>
              </a:defRPr>
            </a:pPr>
            <a:r>
              <a:t>(타임라인)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000000" y="5450000"/>
            <a:ext cx="4000000" cy="88229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700" b="1">
                <a:solidFill>
                  <a:srgbClr val="0F172A"/>
                </a:solidFill>
                <a:latin typeface="Malgun Gothic"/>
              </a:defRPr>
            </a:pPr>
            <a:r>
              <a:t>Stage 2</a:t>
            </a:r>
          </a:p>
          <a:p>
            <a:pPr algn="ctr">
              <a:defRPr sz="1400" b="0">
                <a:solidFill>
                  <a:srgbClr val="475569"/>
                </a:solidFill>
                <a:latin typeface="Malgun Gothic"/>
              </a:defRPr>
            </a:pPr>
            <a:r>
              <a:t>TourAPI 계층 필터링 및 Gemini AI 맞춤 일정 큐레이션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36811" y="182562"/>
            <a:ext cx="2743200" cy="36512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2400" b="0">
                <a:solidFill>
                  <a:srgbClr val="475569"/>
                </a:solidFill>
                <a:latin typeface="Malgun Gothic"/>
              </a:defRPr>
            </a:pPr>
            <a:r>
              <a:t>10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0" y="1136073"/>
            <a:ext cx="12192000" cy="0"/>
          </a:xfrm>
          <a:prstGeom prst="line">
            <a:avLst/>
          </a:prstGeom>
          <a:ln w="19050">
            <a:solidFill>
              <a:srgbClr val="223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321231" y="208112"/>
            <a:ext cx="6500000" cy="70788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800" b="1">
                <a:solidFill>
                  <a:srgbClr val="223B6B"/>
                </a:solidFill>
                <a:latin typeface="Malgun Gothic"/>
              </a:defRPr>
            </a:pPr>
            <a:r>
              <a:t>BackEnd – 여행지 추천 로직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64358" y="1197015"/>
            <a:ext cx="6500000" cy="49449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800" b="1">
                <a:solidFill>
                  <a:srgbClr val="475569"/>
                </a:solidFill>
                <a:latin typeface="Malgun Gothic"/>
              </a:defRPr>
            </a:pPr>
            <a:r>
              <a:t>공간 점-선분 최단거리 최적화 및 Gemini 2.5 Flash 프롬프트 제약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64358" y="1850000"/>
            <a:ext cx="4200000" cy="2150000"/>
          </a:xfrm>
          <a:prstGeom prst="roundRect">
            <a:avLst/>
          </a:prstGeom>
          <a:solidFill>
            <a:srgbClr val="DDF8F2"/>
          </a:solidFill>
          <a:ln w="19050">
            <a:solidFill>
              <a:srgbClr val="5EEA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l">
              <a:defRPr sz="1600" b="1">
                <a:solidFill>
                  <a:srgbClr val="064E3B"/>
                </a:solidFill>
                <a:latin typeface="Malgun Gothic"/>
              </a:defRPr>
            </a:pPr>
            <a:r>
              <a:t>1. RouteProximity 점-선분 수직거리 최적화</a:t>
            </a:r>
          </a:p>
          <a:p>
            <a:pPr algn="ctr">
              <a:defRPr sz="400" b="0">
                <a:solidFill>
                  <a:srgbClr val="0F172A"/>
                </a:solidFill>
                <a:latin typeface="Malgun Gothic"/>
              </a:defRPr>
            </a:pPr>
          </a:p>
          <a:p>
            <a:pPr algn="l">
              <a:defRPr sz="1300" b="0">
                <a:solidFill>
                  <a:srgbClr val="0F172A"/>
                </a:solidFill>
                <a:latin typeface="Malgun Gothic"/>
              </a:defRPr>
            </a:pPr>
            <a:r>
              <a:t>• Equirectangular 평면 투영으로 구면 왜곡 보정</a:t>
            </a:r>
          </a:p>
          <a:p>
            <a:pPr algn="l">
              <a:defRPr sz="1300" b="0">
                <a:solidFill>
                  <a:srgbClr val="0F172A"/>
                </a:solidFill>
                <a:latin typeface="Malgun Gothic"/>
              </a:defRPr>
            </a:pPr>
            <a:r>
              <a:t>• 선분 투영 매개변수 t를 [0, 1] 클램핑하여 수직 발 좌표 계산</a:t>
            </a:r>
          </a:p>
          <a:p>
            <a:pPr algn="l">
              <a:defRPr sz="1300" b="0">
                <a:solidFill>
                  <a:srgbClr val="0F172A"/>
                </a:solidFill>
                <a:latin typeface="Malgun Gothic"/>
              </a:defRPr>
            </a:pPr>
            <a:r>
              <a:t>• 도로변 인접 그리드 해시 룩업으로 O(1) 공간 탐색</a:t>
            </a:r>
          </a:p>
          <a:p>
            <a:pPr algn="l">
              <a:defRPr sz="1200" b="0">
                <a:solidFill>
                  <a:srgbClr val="047857"/>
                </a:solidFill>
                <a:latin typeface="Malgun Gothic"/>
              </a:defRPr>
            </a:pPr>
            <a:r>
              <a:t>• 50만 회 연산 상한 안전 가드로 서버 무한 루프 원천 차단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64358" y="4200000"/>
            <a:ext cx="4200000" cy="2150000"/>
          </a:xfrm>
          <a:prstGeom prst="roundRect">
            <a:avLst/>
          </a:prstGeom>
          <a:solidFill>
            <a:srgbClr val="A2ECDC"/>
          </a:solidFill>
          <a:ln w="19050">
            <a:solidFill>
              <a:srgbClr val="2DD4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l">
              <a:defRPr sz="1600" b="1">
                <a:solidFill>
                  <a:srgbClr val="115E59"/>
                </a:solidFill>
                <a:latin typeface="Malgun Gothic"/>
              </a:defRPr>
            </a:pPr>
            <a:r>
              <a:t>2. Gemini 2.5 Flash 엄격 프롬프트 &amp; 스키마</a:t>
            </a:r>
          </a:p>
          <a:p>
            <a:pPr algn="ctr">
              <a:defRPr sz="400" b="0">
                <a:solidFill>
                  <a:srgbClr val="0F172A"/>
                </a:solidFill>
                <a:latin typeface="Malgun Gothic"/>
              </a:defRPr>
            </a:pPr>
          </a:p>
          <a:p>
            <a:pPr algn="l">
              <a:defRPr sz="1300" b="0">
                <a:solidFill>
                  <a:srgbClr val="0F172A"/>
                </a:solidFill>
                <a:latin typeface="Malgun Gothic"/>
              </a:defRPr>
            </a:pPr>
            <a:r>
              <a:t>• '제공된 places의 ID만 사용하고 새로운 장소 날조 금지'</a:t>
            </a:r>
          </a:p>
          <a:p>
            <a:pPr algn="l">
              <a:defRPr sz="1300" b="0">
                <a:solidFill>
                  <a:srgbClr val="0F172A"/>
                </a:solidFill>
                <a:latin typeface="Malgun Gothic"/>
              </a:defRPr>
            </a:pPr>
            <a:r>
              <a:t>• 존재하지 않는 유령 식당/장소 생성(Hallucination) 0% 차단</a:t>
            </a:r>
          </a:p>
          <a:p>
            <a:pPr algn="l">
              <a:defRPr sz="1300" b="0">
                <a:solidFill>
                  <a:srgbClr val="0F172A"/>
                </a:solidFill>
                <a:latin typeface="Malgun Gothic"/>
              </a:defRPr>
            </a:pPr>
            <a:r>
              <a:t>• 1일 최대 6곳, 09:00~20:00 동선 체류시간 엄격 제한</a:t>
            </a:r>
          </a:p>
          <a:p>
            <a:pPr algn="l">
              <a:defRPr sz="1200" b="0">
                <a:solidFill>
                  <a:srgbClr val="0D9488"/>
                </a:solidFill>
                <a:latin typeface="Malgun Gothic"/>
              </a:defRPr>
            </a:pPr>
            <a:r>
              <a:t>• responseMimeType: 'application/json'으로 파싱 무결성 보장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100000" y="1850000"/>
            <a:ext cx="6427642" cy="450000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l">
              <a:defRPr sz="1300" b="1">
                <a:solidFill>
                  <a:srgbClr val="0D9488"/>
                </a:solidFill>
                <a:latin typeface="Malgun Gothic"/>
              </a:defRPr>
            </a:pPr>
            <a:r>
              <a:t>/* route-proximity.ts — 점과 도로 선분 간 최단거리 계산 */</a:t>
            </a:r>
          </a:p>
          <a:p>
            <a:pPr algn="l">
              <a:defRPr sz="1250" b="0">
                <a:solidFill>
                  <a:srgbClr val="0F172A"/>
                </a:solidFill>
                <a:latin typeface="Malgun Gothic"/>
              </a:defRPr>
            </a:pPr>
            <a:r>
              <a:t>const t = s.squared === 0 ? 0 : Math.max(0, Math.min(1,</a:t>
            </a:r>
          </a:p>
          <a:p>
            <a:pPr algn="l">
              <a:defRPr sz="1300" b="1">
                <a:solidFill>
                  <a:srgbClr val="B45309"/>
                </a:solidFill>
                <a:latin typeface="Malgun Gothic"/>
              </a:defRPr>
            </a:pPr>
            <a:r>
              <a:t>((point[0] - s.start[0]) * s.dx + (point[1] - s.start[1]) * s.dy) / s.squared</a:t>
            </a:r>
          </a:p>
          <a:p>
            <a:pPr algn="l">
              <a:defRPr sz="1250" b="0">
                <a:solidFill>
                  <a:srgbClr val="0F172A"/>
                </a:solidFill>
                <a:latin typeface="Malgun Gothic"/>
              </a:defRPr>
            </a:pPr>
            <a:r>
              <a:t>));</a:t>
            </a:r>
          </a:p>
          <a:p>
            <a:pPr algn="l">
              <a:defRPr sz="1250" b="0">
                <a:solidFill>
                  <a:srgbClr val="0F172A"/>
                </a:solidFill>
                <a:latin typeface="Malgun Gothic"/>
              </a:defRPr>
            </a:pPr>
            <a:r>
              <a:t>const dx = point[0] - s.start[0] - t * s.dx;</a:t>
            </a:r>
          </a:p>
          <a:p>
            <a:pPr algn="l">
              <a:defRPr sz="1250" b="0">
                <a:solidFill>
                  <a:srgbClr val="0F172A"/>
                </a:solidFill>
                <a:latin typeface="Malgun Gothic"/>
              </a:defRPr>
            </a:pPr>
            <a:r>
              <a:t>const dy = point[1] - s.start[1] - t * s.dy;</a:t>
            </a:r>
          </a:p>
          <a:p>
            <a:pPr algn="l">
              <a:defRPr sz="1300" b="1">
                <a:solidFill>
                  <a:srgbClr val="047857"/>
                </a:solidFill>
                <a:latin typeface="Malgun Gothic"/>
              </a:defRPr>
            </a:pPr>
            <a:r>
              <a:t>return Math.sqrt(dx * dx + dy * dy); // 도로와의 수직거리(m)</a:t>
            </a:r>
          </a:p>
          <a:p>
            <a:pPr algn="ctr">
              <a:defRPr sz="400" b="0">
                <a:solidFill>
                  <a:srgbClr val="0F172A"/>
                </a:solidFill>
                <a:latin typeface="Malgun Gothic"/>
              </a:defRPr>
            </a:pPr>
          </a:p>
          <a:p>
            <a:pPr algn="l">
              <a:defRPr sz="1300" b="1">
                <a:solidFill>
                  <a:srgbClr val="0D9488"/>
                </a:solidFill>
                <a:latin typeface="Malgun Gothic"/>
              </a:defRPr>
            </a:pPr>
            <a:r>
              <a:t>/* destination-curator.ts — Gemini 2.5 Flash 제약 프롬프트 */</a:t>
            </a:r>
          </a:p>
          <a:p>
            <a:pPr algn="l">
              <a:defRPr sz="1250" b="0">
                <a:solidFill>
                  <a:srgbClr val="0F172A"/>
                </a:solidFill>
                <a:latin typeface="Malgun Gothic"/>
              </a:defRPr>
            </a:pPr>
            <a:r>
              <a:t>const response = await gemini.ai.models.generateContent({</a:t>
            </a:r>
          </a:p>
          <a:p>
            <a:pPr algn="l">
              <a:defRPr sz="1250" b="0">
                <a:solidFill>
                  <a:srgbClr val="0F172A"/>
                </a:solidFill>
                <a:latin typeface="Malgun Gothic"/>
              </a:defRPr>
            </a:pPr>
            <a:r>
              <a:t>model: gemini.modelName,</a:t>
            </a:r>
          </a:p>
          <a:p>
            <a:pPr algn="l">
              <a:defRPr sz="1250" b="0">
                <a:solidFill>
                  <a:srgbClr val="0F172A"/>
                </a:solidFill>
                <a:latin typeface="Malgun Gothic"/>
              </a:defRPr>
            </a:pPr>
            <a:r>
              <a:t>contents: JSON.stringify({ travelStyle, places, arrivalTime }),</a:t>
            </a:r>
          </a:p>
          <a:p>
            <a:pPr algn="l">
              <a:defRPr sz="1250" b="0">
                <a:solidFill>
                  <a:srgbClr val="0F172A"/>
                </a:solidFill>
                <a:latin typeface="Malgun Gothic"/>
              </a:defRPr>
            </a:pPr>
            <a:r>
              <a:t>config: {</a:t>
            </a:r>
          </a:p>
          <a:p>
            <a:pPr algn="l">
              <a:defRPr sz="1300" b="1">
                <a:solidFill>
                  <a:srgbClr val="223B6B"/>
                </a:solidFill>
                <a:latin typeface="Malgun Gothic"/>
              </a:defRPr>
            </a:pPr>
            <a:r>
              <a:t>systemInstruction:</a:t>
            </a:r>
          </a:p>
          <a:p>
            <a:pPr algn="l">
              <a:defRPr sz="1200" b="0">
                <a:solidFill>
                  <a:srgbClr val="064E3B"/>
                </a:solidFill>
                <a:latin typeface="Malgun Gothic"/>
              </a:defRPr>
            </a:pPr>
            <a:r>
              <a:t>'당신은 국내 여행 일정 큐레이터입니다. 제공된 places의 ID만 사용하고',</a:t>
            </a:r>
          </a:p>
          <a:p>
            <a:pPr algn="l">
              <a:defRPr sz="1200" b="0">
                <a:solidFill>
                  <a:srgbClr val="064E3B"/>
                </a:solidFill>
                <a:latin typeface="Malgun Gothic"/>
              </a:defRPr>
            </a:pPr>
            <a:r>
              <a:t>'새로운 장소를 절대 만들지 마세요. 하루 최대 6곳, 09:00~20:00에 배치하세요.',</a:t>
            </a:r>
          </a:p>
          <a:p>
            <a:pPr algn="l">
              <a:defRPr sz="1300" b="1">
                <a:solidFill>
                  <a:srgbClr val="B45309"/>
                </a:solidFill>
                <a:latin typeface="Malgun Gothic"/>
              </a:defRPr>
            </a:pPr>
            <a:r>
              <a:t>responseMimeType: 'application/json'</a:t>
            </a:r>
          </a:p>
          <a:p>
            <a:pPr algn="l">
              <a:defRPr sz="1250" b="0">
                <a:solidFill>
                  <a:srgbClr val="0F172A"/>
                </a:solidFill>
                <a:latin typeface="Malgun Gothic"/>
              </a:defRPr>
            </a:pPr>
            <a:r>
              <a:t>}</a:t>
            </a:r>
          </a:p>
          <a:p>
            <a:pPr algn="l">
              <a:defRPr sz="1250" b="0">
                <a:solidFill>
                  <a:srgbClr val="0F172A"/>
                </a:solidFill>
                <a:latin typeface="Malgun Gothic"/>
              </a:defRPr>
            </a:pPr>
            <a:r>
              <a:t>});</a:t>
            </a:r>
          </a:p>
        </p:txBody>
      </p:sp>
    </p:spTree>
  </p:cSld>
  <p:clrMapOvr>
    <a:masterClrMapping/>
  </p:clrMapOvr>
</p:sld>
</file>

<file path=ppt/theme/theme1.xml><?xml version="1.0" encoding="utf-8"?>
<a:theme xmlns:r="http://schemas.openxmlformats.org/officeDocument/2006/relationships" xmlns:c="http://schemas.openxmlformats.org/drawingml/2006/chart" xmlns:dgm="http://schemas.openxmlformats.org/drawingml/2006/diagram" xmlns:dsp="http://schemas.microsoft.com/office/drawing/2008/diagram" xmlns:a="http://schemas.openxmlformats.org/drawingml/2006/main" xmlns:pic="http://schemas.openxmlformats.org/drawingml/2006/picture" xmlns:wp="http://schemas.openxmlformats.org/drawingml/2006/wordprocessingDrawing" xmlns:xdr="http://schemas.openxmlformats.org/drawingml/2006/spreadsheetDrawing" xmlns:p="http://schemas.openxmlformats.org/presentation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2147483647"/>
        <a:ea typeface=""/>
        <a:cs typeface=""/>
        <a:font script="Jpan" typeface="Yu Gothic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2147483647"/>
        <a:ea typeface=""/>
        <a:cs typeface=""/>
        <a:font script="Jpan" typeface="Yu Gothic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/>
        </a:ln>
        <a:ln w="19050" cap="flat" cmpd="sng" algn="ctr">
          <a:solidFill>
            <a:schemeClr val="phClr"/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/>
      <a:bodyPr/>
      <a:lstStyle/>
      <a:style>
        <a:lnRef idx="2">
          <a:schemeClr val="accent1">
            <a:shade val="2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  <a:txDef>
      <a:spPr/>
      <a:bodyPr/>
      <a:lstStyle/>
    </a:txDef>
  </a:objectDefaults>
</a:theme>
</file>

<file path=ppt/theme/theme2.xml><?xml version="1.0" encoding="utf-8"?>
<a:theme xmlns:r="http://schemas.openxmlformats.org/officeDocument/2006/relationships" xmlns:c="http://schemas.openxmlformats.org/drawingml/2006/chart" xmlns:dgm="http://schemas.openxmlformats.org/drawingml/2006/diagram" xmlns:dsp="http://schemas.microsoft.com/office/drawing/2008/diagram" xmlns:a="http://schemas.openxmlformats.org/drawingml/2006/main" xmlns:pic="http://schemas.openxmlformats.org/drawingml/2006/picture" xmlns:wp="http://schemas.openxmlformats.org/drawingml/2006/wordprocessingDrawing" xmlns:xdr="http://schemas.openxmlformats.org/drawingml/2006/spreadsheetDrawing" xmlns:p="http://schemas.openxmlformats.org/presentation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2147483647"/>
        <a:ea typeface=""/>
        <a:cs typeface=""/>
        <a:font script="Jpan" typeface="Yu Gothic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2147483647"/>
        <a:ea typeface=""/>
        <a:cs typeface=""/>
        <a:font script="Jpan" typeface="Yu Gothic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/>
        </a:ln>
        <a:ln w="19050" cap="flat" cmpd="sng" algn="ctr">
          <a:solidFill>
            <a:schemeClr val="phClr"/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/>
      <a:bodyPr/>
      <a:lstStyle/>
      <a:style>
        <a:lnRef idx="2">
          <a:schemeClr val="accent1">
            <a:shade val="2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  <a:txDef>
      <a:spPr/>
      <a:bodyPr/>
      <a:lstStyle/>
    </a:txDef>
  </a:objectDefaults>
</a:theme>
</file>

<file path=docProps/app.xml><?xml version="1.0" encoding="utf-8"?>
<ep:Properties xmlns:r="http://schemas.openxmlformats.org/officeDocument/2006/relationships" xmlns:ep="http://schemas.openxmlformats.org/officeDocument/2006/extended-properties" xmlns:vt="http://schemas.openxmlformats.org/officeDocument/2006/docPropsVTypes">
  <ep:Manager/>
  <ep:Company/>
  <ep:Words>608</ep:Words>
  <ep:PresentationFormat>와이드스크린</ep:PresentationFormat>
  <ep:Paragraphs>200</ep:Paragraphs>
  <ep:Slides>26</ep:Slides>
  <ep:Notes>1</ep:Notes>
  <ep:TotalTime>0</ep:TotalTime>
  <ep:HiddenSlides>0</ep:HiddenSlides>
  <ep:MMClips>0</ep:MMClips>
  <ep:HeadingPairs>
    <vt:vector size="4" baseType="variant">
      <vt:variant>
        <vt:lpstr>테마</vt:lpstr>
      </vt:variant>
      <vt:variant>
        <vt:i4>1</vt:i4>
      </vt:variant>
      <vt:variant>
        <vt:lpstr>슬라이드 제목</vt:lpstr>
      </vt:variant>
      <vt:variant>
        <vt:i4>26</vt:i4>
      </vt:variant>
    </vt:vector>
  </ep:HeadingPairs>
  <ep:TitlesOfParts>
    <vt:vector size="27" baseType="lpstr"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슬라이드 9</vt:lpstr>
      <vt:lpstr>슬라이드 10</vt:lpstr>
      <vt:lpstr>슬라이드 11</vt:lpstr>
      <vt:lpstr>슬라이드 12</vt:lpstr>
      <vt:lpstr>슬라이드 13</vt:lpstr>
      <vt:lpstr>슬라이드 14</vt:lpstr>
      <vt:lpstr>슬라이드 15</vt:lpstr>
      <vt:lpstr>슬라이드 16</vt:lpstr>
      <vt:lpstr>슬라이드 17</vt:lpstr>
      <vt:lpstr>슬라이드 18</vt:lpstr>
      <vt:lpstr>슬라이드 19</vt:lpstr>
      <vt:lpstr>슬라이드 20</vt:lpstr>
      <vt:lpstr>슬라이드 21</vt:lpstr>
      <vt:lpstr>슬라이드 22</vt:lpstr>
      <vt:lpstr>슬라이드 23</vt:lpstr>
      <vt:lpstr>슬라이드 24</vt:lpstr>
      <vt:lpstr>슬라이드 25</vt:lpstr>
      <vt:lpstr>슬라이드 26</vt:lpstr>
    </vt:vector>
  </ep:TitlesOfParts>
  <ep:HyperlinkBase/>
  <ep:Application>Show</ep:Application>
  <ep:AppVersion>12.0000</ep:AppVersion>
</ep:Properties>
</file>

<file path=docProps/core.xml><?xml version="1.0" encoding="utf-8"?>
<cp:coreProperties xmlns:r="http://schemas.openxmlformats.org/officeDocument/2006/relationships"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2026-10-12T14:15:51.000</dcterms:created>
  <dc:creator>jiseok Lee</dc:creator>
  <cp:lastModifiedBy>admin</cp:lastModifiedBy>
  <dcterms:modified xsi:type="dcterms:W3CDTF">2026-10-28T11:02:03.650</dcterms:modified>
  <cp:revision>15</cp:revision>
  <cp:version>1000.0000.01</cp:version>
</cp:coreProperties>
</file>